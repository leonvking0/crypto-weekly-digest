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Weekly crypto market report for March 9-15, 2026. This was a volatile week dominated by a US-Iran geopolitical flash crash and subsequent recovery, alongside landmark regulatory developments including the SEC-CFTC joint regulatory MOU.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Volatile week: US-Iran military escalation on 3/9-10 triggered a broad risk-off selloff. BTC flash-crashed to $62,400 intraday before rapidly recovering to $68,366. By week end, BTC settled at $71,434 (+6.3%). HYPE was the standout performer at +21.7%, driven by HyperEVM ecosystem momentum. Despite the strong recovery, Fear &amp; Greed Index remains at 15 (Extreme Fear), highlighting a stark divergence between institutional behavior (continued ETF inflows of $53.8M over 3 days) and retail sentiment. AHR999 indicator at 0.33-0.36 suggests we’re in a “bottom accumulation” zone. All portfolio positions (PENDLE, ENA, HYPE) posted solid weekly gains.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SEC-CFTC joint MOU is arguably the most significant US regulatory development in crypto history. It formally ends the “is it a security or commodity?” jurisdictional turf war that has plagued the industry. This creates a framework for joint review of new digital asset products and information sharing.
Ripple’s $750M buyback at a $50B valuation demonstrates the maturity of large-cap private crypto companies. This is Fortune 500-level corporate finance.
Solana’s Alpenglow upgrade is a generational leap — reducing finality from 12.8 seconds to 100-150 milliseconds. The 98.27% staker approval shows overwhelming network consensus. This positions SOL competitively against even the fastest new L1s like Monad.
Hyperliquid entering the global Top 10 exchanges (including CEXes) by open interest at $6.48B is a watershed moment for on-chain derivatives. The commodity perp breakout — crude oil perps surpassing ETH volume during the geopolitical crisis — signals DEXes expanding beyond crypto-native assets.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Regulation: The SEC-CFTC MOU is the single most important regulatory development. Combined with the SEC removing crypto from its 2026 examination priorities and dropping the BitClout case, we’re seeing a clear pivot from adversarial enforcement to constructive rulemaking under Atkins’ leadership.
The stablecoin yield ban debate in the Senate is a key risk to watch — particularly relevant for our Ethena (ENA) position. If retail yield-bearing stablecoins are banned, USDe’s distribution model would need significant restructuring.
Fundraising: Ripple’s $750M buyback at $50B valuation is the headline. The shift toward larger but fewer deals (avg $34M, up 272%) signals institutional-grade capital entering the space. The $37B M&amp;A forecast for 2026 would represent a paradigm shift in industry consolidation.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 Aave dominated security incidents this week with ~$78M in losses across two events. The oracle misconfiguration ($27.78M) was a config error in the wstETH oracle cap — DAO has committed to full reimbursement. The $50M slippage/MEV event highlights systemic risks in DeFi during high-volatility periods. The Solv Protocol exploit ($2.73M from unaudited contracts) reinforces the importance of audit coverage.
AI x Crypto: Messari’s “Crypto Theses 2026” positioning this as the year of “systemic integration” between AI and blockchain is a major institutional signal. TRON joining the Agentic AI Foundation is the first major L1 to formally commit to autonomous AI agent infrastructure.
Prediction Markets: Both Polymarket and Kalshi targeting $20B valuations shows the sector’s explosive growth trajectory. However, regulatory headwinds are mounting — insider trading legislation, state-level gambling reclassification (Utah), and the “death contract” class action against Kalshi all represent risks.
Stablecoins: The yield stablecoin boom ($22.7B MCap, 15x market growth rate) is directly relevant to our ENA position. Senate debate on banning retail yield stablecoins is a critical risk factor.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Near-term catalyst focus:
1. FOMC Rate Decision (3/18) — The single most important macro event. Markets are pricing in a hold, but any hawkish surprise could trigger another selloff given the fragile Extreme Fear sentiment. Dovish hints would likely catalyze a breakout above $72K.
2. ASTER ($56M, 3/17) and ZRO ($45M, 3/20) unlocks add ~$100M of combined supply pressure. While not directly portfolio-relevant, they contribute to overall market selling pressure.
3. Digital Asset Summit (3/24-26, NYC) could produce institutional announcements. The crypto ETP deadline on 3/27 is a binary event — approvals would unlock significant new institutional capital flows.
Portfolio assessment: All positions posted strong weekly gains (PENDLE +7.4%, ENA +9.2%, HYPE +21.7%). The AHR999 indicator at 0.33-0.36 suggests we remain in a “bottom accumulation” zone despite the recovery. The institutional-retail sentiment divergence (ETF inflows vs Extreme Fear) typically resolves with a sharp move — positioning suggests upward resolution but FOMC risk is real.
Risk flag: Senate stablecoin yield ban debate is a medium-term threat to ENA thesis. Monitor closely.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A2E"/>
        </a:solidFill>
      </p:bgPr>
    </p:bg>
    <p:spTree>
      <p:nvGrpSpPr>
        <p:cNvPr id="1" name=""/>
        <p:cNvGrpSpPr/>
        <p:nvPr/>
      </p:nvGrpSpPr>
      <p:grpSpPr>
        <a:xfrm>
          <a:off x="0" y="0"/>
          <a:ext cx="0" cy="0"/>
          <a:chOff x="0" y="0"/>
          <a:chExt cx="0" cy="0"/>
        </a:xfrm>
      </p:grpSpPr>
      <p:sp>
        <p:nvSpPr>
          <p:cNvPr id="2" name="Shape 0"/>
          <p:cNvSpPr/>
          <p:nvPr/>
        </p:nvSpPr>
        <p:spPr>
          <a:xfrm>
            <a:off x="731520" y="1463040"/>
            <a:ext cx="1097280" cy="36576"/>
          </a:xfrm>
          <a:prstGeom prst="rect">
            <a:avLst/>
          </a:prstGeom>
          <a:solidFill>
            <a:srgbClr val="C9A96E"/>
          </a:solidFill>
          <a:ln/>
        </p:spPr>
      </p:sp>
      <p:sp>
        <p:nvSpPr>
          <p:cNvPr id="3" name="Text 1"/>
          <p:cNvSpPr/>
          <p:nvPr/>
        </p:nvSpPr>
        <p:spPr>
          <a:xfrm>
            <a:off x="731520" y="1645920"/>
            <a:ext cx="7315200" cy="914400"/>
          </a:xfrm>
          <a:prstGeom prst="rect">
            <a:avLst/>
          </a:prstGeom>
          <a:noFill/>
          <a:ln/>
        </p:spPr>
        <p:txBody>
          <a:bodyPr wrap="square" lIns="0" tIns="0" rIns="0" bIns="0" rtlCol="0" anchor="ctr"/>
          <a:lstStyle/>
          <a:p>
            <a:pPr indent="0" marL="0">
              <a:buNone/>
            </a:pPr>
            <a:r>
              <a:rPr lang="en-US" sz="4200" b="1" dirty="0">
                <a:solidFill>
                  <a:srgbClr val="FFFFFF"/>
                </a:solidFill>
                <a:latin typeface="Arial" pitchFamily="34" charset="0"/>
                <a:ea typeface="Arial" pitchFamily="34" charset="-122"/>
                <a:cs typeface="Arial" pitchFamily="34" charset="-120"/>
              </a:rPr>
              <a:t>Crypto Market Weekly</a:t>
            </a:r>
            <a:endParaRPr lang="en-US" sz="4200" dirty="0"/>
          </a:p>
        </p:txBody>
      </p:sp>
      <p:sp>
        <p:nvSpPr>
          <p:cNvPr id="4" name="Text 2"/>
          <p:cNvSpPr/>
          <p:nvPr/>
        </p:nvSpPr>
        <p:spPr>
          <a:xfrm>
            <a:off x="731520" y="2468880"/>
            <a:ext cx="7315200" cy="457200"/>
          </a:xfrm>
          <a:prstGeom prst="rect">
            <a:avLst/>
          </a:prstGeom>
          <a:noFill/>
          <a:ln/>
        </p:spPr>
        <p:txBody>
          <a:bodyPr wrap="square" lIns="0" tIns="0" rIns="0" bIns="0" rtlCol="0" anchor="ctr"/>
          <a:lstStyle/>
          <a:p>
            <a:pPr indent="0" marL="0">
              <a:buNone/>
            </a:pPr>
            <a:r>
              <a:rPr lang="en-US" sz="2000" dirty="0">
                <a:solidFill>
                  <a:srgbClr val="C9A96E"/>
                </a:solidFill>
                <a:latin typeface="Arial" pitchFamily="34" charset="0"/>
                <a:ea typeface="Arial" pitchFamily="34" charset="-122"/>
                <a:cs typeface="Arial" pitchFamily="34" charset="-120"/>
              </a:rPr>
              <a:t>March 9 – 15, 2026</a:t>
            </a:r>
            <a:endParaRPr lang="en-US" sz="2000" dirty="0"/>
          </a:p>
        </p:txBody>
      </p:sp>
      <p:sp>
        <p:nvSpPr>
          <p:cNvPr id="5" name="Text 3"/>
          <p:cNvSpPr/>
          <p:nvPr/>
        </p:nvSpPr>
        <p:spPr>
          <a:xfrm>
            <a:off x="731520" y="3108960"/>
            <a:ext cx="7315200" cy="365760"/>
          </a:xfrm>
          <a:prstGeom prst="rect">
            <a:avLst/>
          </a:prstGeom>
          <a:noFill/>
          <a:ln/>
        </p:spPr>
        <p:txBody>
          <a:bodyPr wrap="square" lIns="0" tIns="0" rIns="0" bIns="0" rtlCol="0" anchor="ctr"/>
          <a:lstStyle/>
          <a:p>
            <a:pPr indent="0" marL="0">
              <a:buNone/>
            </a:pPr>
            <a:r>
              <a:rPr lang="en-US" sz="1100" dirty="0">
                <a:solidFill>
                  <a:srgbClr val="8C95A6"/>
                </a:solidFill>
                <a:latin typeface="Arial" pitchFamily="34" charset="0"/>
                <a:ea typeface="Arial" pitchFamily="34" charset="-122"/>
                <a:cs typeface="Arial" pitchFamily="34" charset="-120"/>
              </a:rPr>
              <a:t>Sources: Messari · The Block · CoinGecko · CoinGlass · DefiLlama</a:t>
            </a:r>
            <a:endParaRPr lang="en-US" sz="1100" dirty="0"/>
          </a:p>
        </p:txBody>
      </p:sp>
      <p:sp>
        <p:nvSpPr>
          <p:cNvPr id="6" name="Shape 4"/>
          <p:cNvSpPr/>
          <p:nvPr/>
        </p:nvSpPr>
        <p:spPr>
          <a:xfrm>
            <a:off x="0" y="4800600"/>
            <a:ext cx="9144000" cy="342900"/>
          </a:xfrm>
          <a:prstGeom prst="rect">
            <a:avLst/>
          </a:prstGeom>
          <a:solidFill>
            <a:srgbClr val="C9A96E"/>
          </a:solidFill>
          <a:ln/>
        </p:spPr>
      </p:sp>
      <p:sp>
        <p:nvSpPr>
          <p:cNvPr id="7" name="Text 5"/>
          <p:cNvSpPr/>
          <p:nvPr/>
        </p:nvSpPr>
        <p:spPr>
          <a:xfrm>
            <a:off x="0" y="4800600"/>
            <a:ext cx="9144000" cy="342900"/>
          </a:xfrm>
          <a:prstGeom prst="rect">
            <a:avLst/>
          </a:prstGeom>
          <a:noFill/>
          <a:ln/>
        </p:spPr>
        <p:txBody>
          <a:bodyPr wrap="square" rtlCol="0" anchor="ctr"/>
          <a:lstStyle/>
          <a:p>
            <a:pPr algn="ctr" indent="0" marL="0">
              <a:buNone/>
            </a:pPr>
            <a:r>
              <a:rPr lang="en-US" sz="900" b="1" dirty="0">
                <a:solidFill>
                  <a:srgbClr val="0F1A2E"/>
                </a:solidFill>
                <a:latin typeface="Arial" pitchFamily="34" charset="0"/>
                <a:ea typeface="Arial" pitchFamily="34" charset="-122"/>
                <a:cs typeface="Arial" pitchFamily="34" charset="-120"/>
              </a:rPr>
              <a:t>CONFIDENTIAL — FOR LP DISTRIBUTION ONLY</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6F8"/>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A2744"/>
          </a:solidFill>
          <a:ln/>
        </p:spPr>
      </p:sp>
      <p:sp>
        <p:nvSpPr>
          <p:cNvPr id="3" name="Text 1"/>
          <p:cNvSpPr/>
          <p:nvPr/>
        </p:nvSpPr>
        <p:spPr>
          <a:xfrm>
            <a:off x="548640" y="0"/>
            <a:ext cx="8229600" cy="6400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  Market Overview</a:t>
            </a:r>
            <a:endParaRPr lang="en-US" sz="2000" dirty="0"/>
          </a:p>
        </p:txBody>
      </p:sp>
      <p:sp>
        <p:nvSpPr>
          <p:cNvPr id="4" name="Shape 2"/>
          <p:cNvSpPr/>
          <p:nvPr/>
        </p:nvSpPr>
        <p:spPr>
          <a:xfrm>
            <a:off x="548640" y="868680"/>
            <a:ext cx="2560320" cy="960120"/>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5" name="Shape 3"/>
          <p:cNvSpPr/>
          <p:nvPr/>
        </p:nvSpPr>
        <p:spPr>
          <a:xfrm>
            <a:off x="548640" y="868680"/>
            <a:ext cx="54864" cy="960120"/>
          </a:xfrm>
          <a:prstGeom prst="rect">
            <a:avLst/>
          </a:prstGeom>
          <a:solidFill>
            <a:srgbClr val="C9A96E"/>
          </a:solidFill>
          <a:ln/>
        </p:spPr>
      </p:sp>
      <p:sp>
        <p:nvSpPr>
          <p:cNvPr id="6" name="Text 4"/>
          <p:cNvSpPr/>
          <p:nvPr/>
        </p:nvSpPr>
        <p:spPr>
          <a:xfrm>
            <a:off x="777240" y="960120"/>
            <a:ext cx="1828800" cy="274320"/>
          </a:xfrm>
          <a:prstGeom prst="rect">
            <a:avLst/>
          </a:prstGeom>
          <a:noFill/>
          <a:ln/>
        </p:spPr>
        <p:txBody>
          <a:bodyPr wrap="square" lIns="0" tIns="0" rIns="0" bIns="0" rtlCol="0" anchor="ctr"/>
          <a:lstStyle/>
          <a:p>
            <a:pPr indent="0" marL="0">
              <a:buNone/>
            </a:pPr>
            <a:r>
              <a:rPr lang="en-US" sz="1200" b="1" dirty="0">
                <a:solidFill>
                  <a:srgbClr val="8C95A6"/>
                </a:solidFill>
                <a:latin typeface="Arial" pitchFamily="34" charset="0"/>
                <a:ea typeface="Arial" pitchFamily="34" charset="-122"/>
                <a:cs typeface="Arial" pitchFamily="34" charset="-120"/>
              </a:rPr>
              <a:t>BTC</a:t>
            </a:r>
            <a:endParaRPr lang="en-US" sz="1200" dirty="0"/>
          </a:p>
        </p:txBody>
      </p:sp>
      <p:sp>
        <p:nvSpPr>
          <p:cNvPr id="7" name="Text 5"/>
          <p:cNvSpPr/>
          <p:nvPr/>
        </p:nvSpPr>
        <p:spPr>
          <a:xfrm>
            <a:off x="777240" y="1188720"/>
            <a:ext cx="1828800" cy="365760"/>
          </a:xfrm>
          <a:prstGeom prst="rect">
            <a:avLst/>
          </a:prstGeom>
          <a:noFill/>
          <a:ln/>
        </p:spPr>
        <p:txBody>
          <a:bodyPr wrap="square" lIns="0" tIns="0" rIns="0" bIns="0" rtlCol="0" anchor="ctr"/>
          <a:lstStyle/>
          <a:p>
            <a:pPr indent="0" marL="0">
              <a:buNone/>
            </a:pPr>
            <a:r>
              <a:rPr lang="en-US" sz="2800" b="1" dirty="0">
                <a:solidFill>
                  <a:srgbClr val="2D3748"/>
                </a:solidFill>
                <a:latin typeface="Arial" pitchFamily="34" charset="0"/>
                <a:ea typeface="Arial" pitchFamily="34" charset="-122"/>
                <a:cs typeface="Arial" pitchFamily="34" charset="-120"/>
              </a:rPr>
              <a:t>$71,434</a:t>
            </a:r>
            <a:endParaRPr lang="en-US" sz="2800" dirty="0"/>
          </a:p>
        </p:txBody>
      </p:sp>
      <p:sp>
        <p:nvSpPr>
          <p:cNvPr id="8" name="Text 6"/>
          <p:cNvSpPr/>
          <p:nvPr/>
        </p:nvSpPr>
        <p:spPr>
          <a:xfrm>
            <a:off x="777240" y="1527048"/>
            <a:ext cx="1828800" cy="228600"/>
          </a:xfrm>
          <a:prstGeom prst="rect">
            <a:avLst/>
          </a:prstGeom>
          <a:noFill/>
          <a:ln/>
        </p:spPr>
        <p:txBody>
          <a:bodyPr wrap="square" lIns="0" tIns="0" rIns="0" bIns="0" rtlCol="0" anchor="ctr"/>
          <a:lstStyle/>
          <a:p>
            <a:pPr indent="0" marL="0">
              <a:buNone/>
            </a:pPr>
            <a:r>
              <a:rPr lang="en-US" sz="1400" b="1" dirty="0">
                <a:solidFill>
                  <a:srgbClr val="2F855A"/>
                </a:solidFill>
                <a:latin typeface="Arial" pitchFamily="34" charset="0"/>
                <a:ea typeface="Arial" pitchFamily="34" charset="-122"/>
                <a:cs typeface="Arial" pitchFamily="34" charset="-120"/>
              </a:rPr>
              <a:t>+6.3%</a:t>
            </a:r>
            <a:endParaRPr lang="en-US" sz="1400" dirty="0"/>
          </a:p>
        </p:txBody>
      </p:sp>
      <p:sp>
        <p:nvSpPr>
          <p:cNvPr id="9" name="Shape 7"/>
          <p:cNvSpPr/>
          <p:nvPr/>
        </p:nvSpPr>
        <p:spPr>
          <a:xfrm>
            <a:off x="3383280" y="868680"/>
            <a:ext cx="2560320" cy="960120"/>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10" name="Shape 8"/>
          <p:cNvSpPr/>
          <p:nvPr/>
        </p:nvSpPr>
        <p:spPr>
          <a:xfrm>
            <a:off x="3383280" y="868680"/>
            <a:ext cx="54864" cy="960120"/>
          </a:xfrm>
          <a:prstGeom prst="rect">
            <a:avLst/>
          </a:prstGeom>
          <a:solidFill>
            <a:srgbClr val="C9A96E"/>
          </a:solidFill>
          <a:ln/>
        </p:spPr>
      </p:sp>
      <p:sp>
        <p:nvSpPr>
          <p:cNvPr id="11" name="Text 9"/>
          <p:cNvSpPr/>
          <p:nvPr/>
        </p:nvSpPr>
        <p:spPr>
          <a:xfrm>
            <a:off x="3611880" y="960120"/>
            <a:ext cx="1828800" cy="274320"/>
          </a:xfrm>
          <a:prstGeom prst="rect">
            <a:avLst/>
          </a:prstGeom>
          <a:noFill/>
          <a:ln/>
        </p:spPr>
        <p:txBody>
          <a:bodyPr wrap="square" lIns="0" tIns="0" rIns="0" bIns="0" rtlCol="0" anchor="ctr"/>
          <a:lstStyle/>
          <a:p>
            <a:pPr indent="0" marL="0">
              <a:buNone/>
            </a:pPr>
            <a:r>
              <a:rPr lang="en-US" sz="1200" b="1" dirty="0">
                <a:solidFill>
                  <a:srgbClr val="8C95A6"/>
                </a:solidFill>
                <a:latin typeface="Arial" pitchFamily="34" charset="0"/>
                <a:ea typeface="Arial" pitchFamily="34" charset="-122"/>
                <a:cs typeface="Arial" pitchFamily="34" charset="-120"/>
              </a:rPr>
              <a:t>ETH</a:t>
            </a:r>
            <a:endParaRPr lang="en-US" sz="1200" dirty="0"/>
          </a:p>
        </p:txBody>
      </p:sp>
      <p:sp>
        <p:nvSpPr>
          <p:cNvPr id="12" name="Text 10"/>
          <p:cNvSpPr/>
          <p:nvPr/>
        </p:nvSpPr>
        <p:spPr>
          <a:xfrm>
            <a:off x="3611880" y="1188720"/>
            <a:ext cx="1828800" cy="365760"/>
          </a:xfrm>
          <a:prstGeom prst="rect">
            <a:avLst/>
          </a:prstGeom>
          <a:noFill/>
          <a:ln/>
        </p:spPr>
        <p:txBody>
          <a:bodyPr wrap="square" lIns="0" tIns="0" rIns="0" bIns="0" rtlCol="0" anchor="ctr"/>
          <a:lstStyle/>
          <a:p>
            <a:pPr indent="0" marL="0">
              <a:buNone/>
            </a:pPr>
            <a:r>
              <a:rPr lang="en-US" sz="2800" b="1" dirty="0">
                <a:solidFill>
                  <a:srgbClr val="2D3748"/>
                </a:solidFill>
                <a:latin typeface="Arial" pitchFamily="34" charset="0"/>
                <a:ea typeface="Arial" pitchFamily="34" charset="-122"/>
                <a:cs typeface="Arial" pitchFamily="34" charset="-120"/>
              </a:rPr>
              <a:t>$2,092</a:t>
            </a:r>
            <a:endParaRPr lang="en-US" sz="2800" dirty="0"/>
          </a:p>
        </p:txBody>
      </p:sp>
      <p:sp>
        <p:nvSpPr>
          <p:cNvPr id="13" name="Text 11"/>
          <p:cNvSpPr/>
          <p:nvPr/>
        </p:nvSpPr>
        <p:spPr>
          <a:xfrm>
            <a:off x="3611880" y="1527048"/>
            <a:ext cx="1828800" cy="228600"/>
          </a:xfrm>
          <a:prstGeom prst="rect">
            <a:avLst/>
          </a:prstGeom>
          <a:noFill/>
          <a:ln/>
        </p:spPr>
        <p:txBody>
          <a:bodyPr wrap="square" lIns="0" tIns="0" rIns="0" bIns="0" rtlCol="0" anchor="ctr"/>
          <a:lstStyle/>
          <a:p>
            <a:pPr indent="0" marL="0">
              <a:buNone/>
            </a:pPr>
            <a:r>
              <a:rPr lang="en-US" sz="1400" b="1" dirty="0">
                <a:solidFill>
                  <a:srgbClr val="2F855A"/>
                </a:solidFill>
                <a:latin typeface="Arial" pitchFamily="34" charset="0"/>
                <a:ea typeface="Arial" pitchFamily="34" charset="-122"/>
                <a:cs typeface="Arial" pitchFamily="34" charset="-120"/>
              </a:rPr>
              <a:t>+7.5%</a:t>
            </a:r>
            <a:endParaRPr lang="en-US" sz="1400" dirty="0"/>
          </a:p>
        </p:txBody>
      </p:sp>
      <p:sp>
        <p:nvSpPr>
          <p:cNvPr id="14" name="Shape 12"/>
          <p:cNvSpPr/>
          <p:nvPr/>
        </p:nvSpPr>
        <p:spPr>
          <a:xfrm>
            <a:off x="6217920" y="868680"/>
            <a:ext cx="2560320" cy="960120"/>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15" name="Shape 13"/>
          <p:cNvSpPr/>
          <p:nvPr/>
        </p:nvSpPr>
        <p:spPr>
          <a:xfrm>
            <a:off x="6217920" y="868680"/>
            <a:ext cx="54864" cy="960120"/>
          </a:xfrm>
          <a:prstGeom prst="rect">
            <a:avLst/>
          </a:prstGeom>
          <a:solidFill>
            <a:srgbClr val="C53030"/>
          </a:solidFill>
          <a:ln/>
        </p:spPr>
      </p:sp>
      <p:sp>
        <p:nvSpPr>
          <p:cNvPr id="16" name="Text 14"/>
          <p:cNvSpPr/>
          <p:nvPr/>
        </p:nvSpPr>
        <p:spPr>
          <a:xfrm>
            <a:off x="6446520" y="960120"/>
            <a:ext cx="2194560" cy="274320"/>
          </a:xfrm>
          <a:prstGeom prst="rect">
            <a:avLst/>
          </a:prstGeom>
          <a:noFill/>
          <a:ln/>
        </p:spPr>
        <p:txBody>
          <a:bodyPr wrap="square" lIns="0" tIns="0" rIns="0" bIns="0" rtlCol="0" anchor="ctr"/>
          <a:lstStyle/>
          <a:p>
            <a:pPr indent="0" marL="0">
              <a:buNone/>
            </a:pPr>
            <a:r>
              <a:rPr lang="en-US" sz="1200" b="1" dirty="0">
                <a:solidFill>
                  <a:srgbClr val="8C95A6"/>
                </a:solidFill>
                <a:latin typeface="Arial" pitchFamily="34" charset="0"/>
                <a:ea typeface="Arial" pitchFamily="34" charset="-122"/>
                <a:cs typeface="Arial" pitchFamily="34" charset="-120"/>
              </a:rPr>
              <a:t>Fear &amp; Greed Index</a:t>
            </a:r>
            <a:endParaRPr lang="en-US" sz="1200" dirty="0"/>
          </a:p>
        </p:txBody>
      </p:sp>
      <p:sp>
        <p:nvSpPr>
          <p:cNvPr id="17" name="Text 15"/>
          <p:cNvSpPr/>
          <p:nvPr/>
        </p:nvSpPr>
        <p:spPr>
          <a:xfrm>
            <a:off x="6446520" y="1188720"/>
            <a:ext cx="914400" cy="365760"/>
          </a:xfrm>
          <a:prstGeom prst="rect">
            <a:avLst/>
          </a:prstGeom>
          <a:noFill/>
          <a:ln/>
        </p:spPr>
        <p:txBody>
          <a:bodyPr wrap="square" lIns="0" tIns="0" rIns="0" bIns="0" rtlCol="0" anchor="ctr"/>
          <a:lstStyle/>
          <a:p>
            <a:pPr indent="0" marL="0">
              <a:buNone/>
            </a:pPr>
            <a:r>
              <a:rPr lang="en-US" sz="2800" b="1" dirty="0">
                <a:solidFill>
                  <a:srgbClr val="C53030"/>
                </a:solidFill>
                <a:latin typeface="Arial" pitchFamily="34" charset="0"/>
                <a:ea typeface="Arial" pitchFamily="34" charset="-122"/>
                <a:cs typeface="Arial" pitchFamily="34" charset="-120"/>
              </a:rPr>
              <a:t>15</a:t>
            </a:r>
            <a:endParaRPr lang="en-US" sz="2800" dirty="0"/>
          </a:p>
        </p:txBody>
      </p:sp>
      <p:sp>
        <p:nvSpPr>
          <p:cNvPr id="18" name="Text 16"/>
          <p:cNvSpPr/>
          <p:nvPr/>
        </p:nvSpPr>
        <p:spPr>
          <a:xfrm>
            <a:off x="7223760" y="1252728"/>
            <a:ext cx="1371600" cy="274320"/>
          </a:xfrm>
          <a:prstGeom prst="rect">
            <a:avLst/>
          </a:prstGeom>
          <a:noFill/>
          <a:ln/>
        </p:spPr>
        <p:txBody>
          <a:bodyPr wrap="square" lIns="0" tIns="0" rIns="0" bIns="0" rtlCol="0" anchor="ctr"/>
          <a:lstStyle/>
          <a:p>
            <a:pPr indent="0" marL="0">
              <a:buNone/>
            </a:pPr>
            <a:r>
              <a:rPr lang="en-US" sz="1300" dirty="0">
                <a:solidFill>
                  <a:srgbClr val="C53030"/>
                </a:solidFill>
                <a:latin typeface="Arial" pitchFamily="34" charset="0"/>
                <a:ea typeface="Arial" pitchFamily="34" charset="-122"/>
                <a:cs typeface="Arial" pitchFamily="34" charset="-120"/>
              </a:rPr>
              <a:t>Extreme Fear</a:t>
            </a:r>
            <a:endParaRPr lang="en-US" sz="13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548640" y="2057400"/>
          <a:ext cx="8046720" cy="914400"/>
        </p:xfrm>
        <a:graphic>
          <a:graphicData uri="http://schemas.openxmlformats.org/drawingml/2006/table">
            <a:tbl>
              <a:tblPr/>
              <a:tblGrid>
                <a:gridCol w="1188720"/>
                <a:gridCol w="1645920"/>
                <a:gridCol w="1371600"/>
                <a:gridCol w="3840480"/>
              </a:tblGrid>
              <a:tr h="320040">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Asset</a:t>
                      </a:r>
                      <a:endParaRPr lang="en-US" sz="11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solidFill>
                      <a:srgbClr val="1A2744"/>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Price</a:t>
                      </a:r>
                      <a:endParaRPr lang="en-US" sz="11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solidFill>
                      <a:srgbClr val="1A2744"/>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7d Change</a:t>
                      </a:r>
                      <a:endParaRPr lang="en-US" sz="11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solidFill>
                      <a:srgbClr val="1A2744"/>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Notes</a:t>
                      </a:r>
                      <a:endParaRPr lang="en-US" sz="11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solidFill>
                      <a:srgbClr val="1A2744"/>
                    </a:solidFill>
                  </a:tcPr>
                </a:tc>
              </a:tr>
              <a:tr h="301752">
                <a:tc>
                  <a:txBody>
                    <a:bodyPr/>
                    <a:lstStyle/>
                    <a:p>
                      <a:pPr algn="ctr" indent="0" marL="0">
                        <a:buNone/>
                      </a:pPr>
                      <a:r>
                        <a:rPr lang="en-US" sz="1100" b="1" dirty="0">
                          <a:solidFill>
                            <a:srgbClr val="2D3748"/>
                          </a:solidFill>
                          <a:latin typeface="Arial" pitchFamily="34" charset="0"/>
                          <a:ea typeface="Arial" pitchFamily="34" charset="-122"/>
                          <a:cs typeface="Arial" pitchFamily="34" charset="-120"/>
                        </a:rPr>
                        <a:t>SOL</a:t>
                      </a:r>
                      <a:endParaRPr lang="en-US" sz="11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r" indent="0" marL="0">
                        <a:buNone/>
                      </a:pPr>
                      <a:r>
                        <a:rPr lang="en-US" sz="1100" dirty="0">
                          <a:solidFill>
                            <a:srgbClr val="2D3748"/>
                          </a:solidFill>
                          <a:latin typeface="Arial" pitchFamily="34" charset="0"/>
                          <a:ea typeface="Arial" pitchFamily="34" charset="-122"/>
                          <a:cs typeface="Arial" pitchFamily="34" charset="-120"/>
                        </a:rPr>
                        <a:t>$87.61</a:t>
                      </a:r>
                      <a:endParaRPr lang="en-US" sz="11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ctr" indent="0" marL="0">
                        <a:buNone/>
                      </a:pPr>
                      <a:r>
                        <a:rPr lang="en-US" sz="1100" b="1" dirty="0">
                          <a:solidFill>
                            <a:srgbClr val="2F855A"/>
                          </a:solidFill>
                          <a:latin typeface="Arial" pitchFamily="34" charset="0"/>
                          <a:ea typeface="Arial" pitchFamily="34" charset="-122"/>
                          <a:cs typeface="Arial" pitchFamily="34" charset="-120"/>
                        </a:rPr>
                        <a:t>+6.8%</a:t>
                      </a:r>
                      <a:endParaRPr lang="en-US" sz="11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1000" dirty="0">
                          <a:solidFill>
                            <a:srgbClr val="8C95A6"/>
                          </a:solidFill>
                          <a:latin typeface="Arial" pitchFamily="34" charset="0"/>
                          <a:ea typeface="Arial" pitchFamily="34" charset="-122"/>
                          <a:cs typeface="Arial" pitchFamily="34" charset="-120"/>
                        </a:rPr>
                        <a:t>Alpenglow upgrade approved</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r>
              <a:tr h="301752">
                <a:tc>
                  <a:txBody>
                    <a:bodyPr/>
                    <a:lstStyle/>
                    <a:p>
                      <a:pPr algn="ctr" indent="0" marL="0">
                        <a:buNone/>
                      </a:pPr>
                      <a:r>
                        <a:rPr lang="en-US" sz="1100" b="1" dirty="0">
                          <a:solidFill>
                            <a:srgbClr val="2D3748"/>
                          </a:solidFill>
                          <a:latin typeface="Arial" pitchFamily="34" charset="0"/>
                          <a:ea typeface="Arial" pitchFamily="34" charset="-122"/>
                          <a:cs typeface="Arial" pitchFamily="34" charset="-120"/>
                        </a:rPr>
                        <a:t>HYPE</a:t>
                      </a:r>
                      <a:endParaRPr lang="en-US" sz="11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r" indent="0" marL="0">
                        <a:buNone/>
                      </a:pPr>
                      <a:r>
                        <a:rPr lang="en-US" sz="1100" dirty="0">
                          <a:solidFill>
                            <a:srgbClr val="2D3748"/>
                          </a:solidFill>
                          <a:latin typeface="Arial" pitchFamily="34" charset="0"/>
                          <a:ea typeface="Arial" pitchFamily="34" charset="-122"/>
                          <a:cs typeface="Arial" pitchFamily="34" charset="-120"/>
                        </a:rPr>
                        <a:t>$37.13</a:t>
                      </a:r>
                      <a:endParaRPr lang="en-US" sz="11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ctr" indent="0" marL="0">
                        <a:buNone/>
                      </a:pPr>
                      <a:r>
                        <a:rPr lang="en-US" sz="1100" b="1" dirty="0">
                          <a:solidFill>
                            <a:srgbClr val="2F855A"/>
                          </a:solidFill>
                          <a:latin typeface="Arial" pitchFamily="34" charset="0"/>
                          <a:ea typeface="Arial" pitchFamily="34" charset="-122"/>
                          <a:cs typeface="Arial" pitchFamily="34" charset="-120"/>
                        </a:rPr>
                        <a:t>+21.7%</a:t>
                      </a:r>
                      <a:endParaRPr lang="en-US" sz="11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1000" dirty="0">
                          <a:solidFill>
                            <a:srgbClr val="8C95A6"/>
                          </a:solidFill>
                          <a:latin typeface="Arial" pitchFamily="34" charset="0"/>
                          <a:ea typeface="Arial" pitchFamily="34" charset="-122"/>
                          <a:cs typeface="Arial" pitchFamily="34" charset="-120"/>
                        </a:rPr>
                        <a:t>Best performer; HyperEVM ecosystem</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r>
              <a:tr h="301752">
                <a:tc>
                  <a:txBody>
                    <a:bodyPr/>
                    <a:lstStyle/>
                    <a:p>
                      <a:pPr algn="ctr" indent="0" marL="0">
                        <a:buNone/>
                      </a:pPr>
                      <a:r>
                        <a:rPr lang="en-US" sz="1100" b="1" dirty="0">
                          <a:solidFill>
                            <a:srgbClr val="2D3748"/>
                          </a:solidFill>
                          <a:latin typeface="Arial" pitchFamily="34" charset="0"/>
                          <a:ea typeface="Arial" pitchFamily="34" charset="-122"/>
                          <a:cs typeface="Arial" pitchFamily="34" charset="-120"/>
                        </a:rPr>
                        <a:t>PENDLE</a:t>
                      </a:r>
                      <a:endParaRPr lang="en-US" sz="11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r" indent="0" marL="0">
                        <a:buNone/>
                      </a:pPr>
                      <a:r>
                        <a:rPr lang="en-US" sz="1100" dirty="0">
                          <a:solidFill>
                            <a:srgbClr val="2D3748"/>
                          </a:solidFill>
                          <a:latin typeface="Arial" pitchFamily="34" charset="0"/>
                          <a:ea typeface="Arial" pitchFamily="34" charset="-122"/>
                          <a:cs typeface="Arial" pitchFamily="34" charset="-120"/>
                        </a:rPr>
                        <a:t>$1.27</a:t>
                      </a:r>
                      <a:endParaRPr lang="en-US" sz="11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ctr" indent="0" marL="0">
                        <a:buNone/>
                      </a:pPr>
                      <a:r>
                        <a:rPr lang="en-US" sz="1100" b="1" dirty="0">
                          <a:solidFill>
                            <a:srgbClr val="2F855A"/>
                          </a:solidFill>
                          <a:latin typeface="Arial" pitchFamily="34" charset="0"/>
                          <a:ea typeface="Arial" pitchFamily="34" charset="-122"/>
                          <a:cs typeface="Arial" pitchFamily="34" charset="-120"/>
                        </a:rPr>
                        <a:t>+7.4%</a:t>
                      </a:r>
                      <a:endParaRPr lang="en-US" sz="11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1000" dirty="0">
                          <a:solidFill>
                            <a:srgbClr val="8C95A6"/>
                          </a:solidFill>
                          <a:latin typeface="Arial" pitchFamily="34" charset="0"/>
                          <a:ea typeface="Arial" pitchFamily="34" charset="-122"/>
                          <a:cs typeface="Arial" pitchFamily="34" charset="-120"/>
                        </a:rPr>
                        <a:t>Recovery with broader market</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r>
              <a:tr h="301752">
                <a:tc>
                  <a:txBody>
                    <a:bodyPr/>
                    <a:lstStyle/>
                    <a:p>
                      <a:pPr algn="ctr" indent="0" marL="0">
                        <a:buNone/>
                      </a:pPr>
                      <a:r>
                        <a:rPr lang="en-US" sz="1100" b="1" dirty="0">
                          <a:solidFill>
                            <a:srgbClr val="2D3748"/>
                          </a:solidFill>
                          <a:latin typeface="Arial" pitchFamily="34" charset="0"/>
                          <a:ea typeface="Arial" pitchFamily="34" charset="-122"/>
                          <a:cs typeface="Arial" pitchFamily="34" charset="-120"/>
                        </a:rPr>
                        <a:t>ENA</a:t>
                      </a:r>
                      <a:endParaRPr lang="en-US" sz="11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r" indent="0" marL="0">
                        <a:buNone/>
                      </a:pPr>
                      <a:r>
                        <a:rPr lang="en-US" sz="1100" dirty="0">
                          <a:solidFill>
                            <a:srgbClr val="2D3748"/>
                          </a:solidFill>
                          <a:latin typeface="Arial" pitchFamily="34" charset="0"/>
                          <a:ea typeface="Arial" pitchFamily="34" charset="-122"/>
                          <a:cs typeface="Arial" pitchFamily="34" charset="-120"/>
                        </a:rPr>
                        <a:t>$0.11</a:t>
                      </a:r>
                      <a:endParaRPr lang="en-US" sz="11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ctr" indent="0" marL="0">
                        <a:buNone/>
                      </a:pPr>
                      <a:r>
                        <a:rPr lang="en-US" sz="1100" b="1" dirty="0">
                          <a:solidFill>
                            <a:srgbClr val="2F855A"/>
                          </a:solidFill>
                          <a:latin typeface="Arial" pitchFamily="34" charset="0"/>
                          <a:ea typeface="Arial" pitchFamily="34" charset="-122"/>
                          <a:cs typeface="Arial" pitchFamily="34" charset="-120"/>
                        </a:rPr>
                        <a:t>+9.2%</a:t>
                      </a:r>
                      <a:endParaRPr lang="en-US" sz="11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r>
              <a:tr h="301752">
                <a:tc>
                  <a:txBody>
                    <a:bodyPr/>
                    <a:lstStyle/>
                    <a:p>
                      <a:pPr algn="ctr" indent="0" marL="0">
                        <a:buNone/>
                      </a:pPr>
                      <a:r>
                        <a:rPr lang="en-US" sz="1100" b="1" dirty="0">
                          <a:solidFill>
                            <a:srgbClr val="2D3748"/>
                          </a:solidFill>
                          <a:latin typeface="Arial" pitchFamily="34" charset="0"/>
                          <a:ea typeface="Arial" pitchFamily="34" charset="-122"/>
                          <a:cs typeface="Arial" pitchFamily="34" charset="-120"/>
                        </a:rPr>
                        <a:t>DYDX</a:t>
                      </a:r>
                      <a:endParaRPr lang="en-US" sz="11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r" indent="0" marL="0">
                        <a:buNone/>
                      </a:pPr>
                      <a:r>
                        <a:rPr lang="en-US" sz="1100" dirty="0">
                          <a:solidFill>
                            <a:srgbClr val="2D3748"/>
                          </a:solidFill>
                          <a:latin typeface="Arial" pitchFamily="34" charset="0"/>
                          <a:ea typeface="Arial" pitchFamily="34" charset="-122"/>
                          <a:cs typeface="Arial" pitchFamily="34" charset="-120"/>
                        </a:rPr>
                        <a:t>$0.09</a:t>
                      </a:r>
                      <a:endParaRPr lang="en-US" sz="11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ctr" indent="0" marL="0">
                        <a:buNone/>
                      </a:pPr>
                      <a:r>
                        <a:rPr lang="en-US" sz="1100" b="1" dirty="0">
                          <a:solidFill>
                            <a:srgbClr val="2F855A"/>
                          </a:solidFill>
                          <a:latin typeface="Arial" pitchFamily="34" charset="0"/>
                          <a:ea typeface="Arial" pitchFamily="34" charset="-122"/>
                          <a:cs typeface="Arial" pitchFamily="34" charset="-120"/>
                        </a:rPr>
                        <a:t>+13.4%</a:t>
                      </a:r>
                      <a:endParaRPr lang="en-US" sz="11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1000" dirty="0">
                          <a:solidFill>
                            <a:srgbClr val="8C95A6"/>
                          </a:solidFill>
                          <a:latin typeface="Arial" pitchFamily="34" charset="0"/>
                          <a:ea typeface="Arial" pitchFamily="34" charset="-122"/>
                          <a:cs typeface="Arial" pitchFamily="34" charset="-120"/>
                        </a:rPr>
                        <a:t>Oversold bounce</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r>
            </a:tbl>
          </a:graphicData>
        </a:graphic>
      </p:graphicFrame>
      <p:sp>
        <p:nvSpPr>
          <p:cNvPr id="20" name="Text 17"/>
          <p:cNvSpPr/>
          <p:nvPr/>
        </p:nvSpPr>
        <p:spPr>
          <a:xfrm>
            <a:off x="548640" y="4160520"/>
            <a:ext cx="8046720" cy="365760"/>
          </a:xfrm>
          <a:prstGeom prst="rect">
            <a:avLst/>
          </a:prstGeom>
          <a:noFill/>
          <a:ln/>
        </p:spPr>
        <p:txBody>
          <a:bodyPr wrap="square" lIns="0" tIns="0" rIns="0" bIns="0" rtlCol="0" anchor="ctr"/>
          <a:lstStyle/>
          <a:p>
            <a:pPr indent="0" marL="0">
              <a:buNone/>
            </a:pPr>
            <a:r>
              <a:rPr lang="en-US" sz="1000" i="1" dirty="0">
                <a:solidFill>
                  <a:srgbClr val="8C95A6"/>
                </a:solidFill>
                <a:latin typeface="Arial" pitchFamily="34" charset="0"/>
                <a:ea typeface="Arial" pitchFamily="34" charset="-122"/>
                <a:cs typeface="Arial" pitchFamily="34" charset="-120"/>
              </a:rPr>
              <a:t>Macro: US-Iran geopolitical escalation triggered flash crash (BTC hit $62,400) → recovered on institutional inflows ($53.8M BTC ETF) + regulatory tailwinds | Total MCap $2.51T | BTC Dom 57.0%</a:t>
            </a:r>
            <a:endParaRPr lang="en-US" sz="1000" dirty="0"/>
          </a:p>
        </p:txBody>
      </p:sp>
      <p:sp>
        <p:nvSpPr>
          <p:cNvPr id="21" name="Shape 18"/>
          <p:cNvSpPr/>
          <p:nvPr/>
        </p:nvSpPr>
        <p:spPr>
          <a:xfrm>
            <a:off x="0" y="4800600"/>
            <a:ext cx="9144000" cy="342900"/>
          </a:xfrm>
          <a:prstGeom prst="rect">
            <a:avLst/>
          </a:prstGeom>
          <a:solidFill>
            <a:srgbClr val="1A2744"/>
          </a:solidFill>
          <a:ln/>
        </p:spPr>
      </p:sp>
      <p:sp>
        <p:nvSpPr>
          <p:cNvPr id="22" name="Text 19"/>
          <p:cNvSpPr/>
          <p:nvPr/>
        </p:nvSpPr>
        <p:spPr>
          <a:xfrm>
            <a:off x="457200" y="4800600"/>
            <a:ext cx="8229600" cy="342900"/>
          </a:xfrm>
          <a:prstGeom prst="rect">
            <a:avLst/>
          </a:prstGeom>
          <a:noFill/>
          <a:ln/>
        </p:spPr>
        <p:txBody>
          <a:bodyPr wrap="square" lIns="0" tIns="0" rIns="0" bIns="0" rtlCol="0" anchor="ctr"/>
          <a:lstStyle/>
          <a:p>
            <a:pPr indent="0" marL="0">
              <a:buNone/>
            </a:pPr>
            <a:r>
              <a:rPr lang="en-US" sz="800" dirty="0">
                <a:solidFill>
                  <a:srgbClr val="8C95A6"/>
                </a:solidFill>
                <a:latin typeface="Arial" pitchFamily="34" charset="0"/>
                <a:ea typeface="Arial" pitchFamily="34" charset="-122"/>
                <a:cs typeface="Arial" pitchFamily="34" charset="-120"/>
              </a:rPr>
              <a:t>Crypto Market Weekly | 2026.03.09–03.15</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6F8"/>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A2744"/>
          </a:solidFill>
          <a:ln/>
        </p:spPr>
      </p:sp>
      <p:sp>
        <p:nvSpPr>
          <p:cNvPr id="3" name="Text 1"/>
          <p:cNvSpPr/>
          <p:nvPr/>
        </p:nvSpPr>
        <p:spPr>
          <a:xfrm>
            <a:off x="548640" y="0"/>
            <a:ext cx="8229600" cy="6400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  Top Stories &amp; Industry Developments</a:t>
            </a:r>
            <a:endParaRPr lang="en-US" sz="2000" dirty="0"/>
          </a:p>
        </p:txBody>
      </p:sp>
      <p:sp>
        <p:nvSpPr>
          <p:cNvPr id="4" name="Shape 2"/>
          <p:cNvSpPr/>
          <p:nvPr/>
        </p:nvSpPr>
        <p:spPr>
          <a:xfrm>
            <a:off x="365760" y="822960"/>
            <a:ext cx="4114800" cy="3749040"/>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5" name="Text 3"/>
          <p:cNvSpPr/>
          <p:nvPr/>
        </p:nvSpPr>
        <p:spPr>
          <a:xfrm>
            <a:off x="548640" y="868680"/>
            <a:ext cx="3657600" cy="320040"/>
          </a:xfrm>
          <a:prstGeom prst="rect">
            <a:avLst/>
          </a:prstGeom>
          <a:noFill/>
          <a:ln/>
        </p:spPr>
        <p:txBody>
          <a:bodyPr wrap="square" lIns="0" tIns="0" rIns="0" bIns="0" rtlCol="0" anchor="ctr"/>
          <a:lstStyle/>
          <a:p>
            <a:pPr indent="0" marL="0">
              <a:buNone/>
            </a:pPr>
            <a:r>
              <a:rPr lang="en-US" sz="1300" b="1" dirty="0">
                <a:solidFill>
                  <a:srgbClr val="1A2744"/>
                </a:solidFill>
                <a:latin typeface="Arial" pitchFamily="34" charset="0"/>
                <a:ea typeface="Arial" pitchFamily="34" charset="-122"/>
                <a:cs typeface="Arial" pitchFamily="34" charset="-120"/>
              </a:rPr>
              <a:t>TOP 5 STORIES</a:t>
            </a:r>
            <a:endParaRPr lang="en-US" sz="1300" dirty="0"/>
          </a:p>
        </p:txBody>
      </p:sp>
      <p:sp>
        <p:nvSpPr>
          <p:cNvPr id="6" name="Shape 4"/>
          <p:cNvSpPr/>
          <p:nvPr/>
        </p:nvSpPr>
        <p:spPr>
          <a:xfrm>
            <a:off x="594360" y="1261872"/>
            <a:ext cx="274320" cy="274320"/>
          </a:xfrm>
          <a:prstGeom prst="ellipse">
            <a:avLst/>
          </a:prstGeom>
          <a:solidFill>
            <a:srgbClr val="C9A96E"/>
          </a:solidFill>
          <a:ln/>
        </p:spPr>
      </p:sp>
      <p:sp>
        <p:nvSpPr>
          <p:cNvPr id="7" name="Text 5"/>
          <p:cNvSpPr/>
          <p:nvPr/>
        </p:nvSpPr>
        <p:spPr>
          <a:xfrm>
            <a:off x="594360" y="1261872"/>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1</a:t>
            </a:r>
            <a:endParaRPr lang="en-US" sz="1100" dirty="0"/>
          </a:p>
        </p:txBody>
      </p:sp>
      <p:sp>
        <p:nvSpPr>
          <p:cNvPr id="8" name="Text 6"/>
          <p:cNvSpPr/>
          <p:nvPr/>
        </p:nvSpPr>
        <p:spPr>
          <a:xfrm>
            <a:off x="1005840" y="1243584"/>
            <a:ext cx="3291840" cy="228600"/>
          </a:xfrm>
          <a:prstGeom prst="rect">
            <a:avLst/>
          </a:prstGeom>
          <a:noFill/>
          <a:ln/>
        </p:spPr>
        <p:txBody>
          <a:bodyPr wrap="square" lIns="0" tIns="0" rIns="0" bIns="0" rtlCol="0" anchor="ctr"/>
          <a:lstStyle/>
          <a:p>
            <a:pPr indent="0" marL="0">
              <a:buNone/>
            </a:pPr>
            <a:r>
              <a:rPr lang="en-US" sz="1100" b="1" dirty="0">
                <a:solidFill>
                  <a:srgbClr val="2D3748"/>
                </a:solidFill>
                <a:latin typeface="Arial" pitchFamily="34" charset="0"/>
                <a:ea typeface="Arial" pitchFamily="34" charset="-122"/>
                <a:cs typeface="Arial" pitchFamily="34" charset="-120"/>
              </a:rPr>
              <a:t>SEC-CFTC Joint Regulatory MOU (3/11)</a:t>
            </a:r>
            <a:endParaRPr lang="en-US" sz="1100" dirty="0"/>
          </a:p>
        </p:txBody>
      </p:sp>
      <p:sp>
        <p:nvSpPr>
          <p:cNvPr id="9" name="Text 7"/>
          <p:cNvSpPr/>
          <p:nvPr/>
        </p:nvSpPr>
        <p:spPr>
          <a:xfrm>
            <a:off x="1005840" y="1463040"/>
            <a:ext cx="3291840" cy="228600"/>
          </a:xfrm>
          <a:prstGeom prst="rect">
            <a:avLst/>
          </a:prstGeom>
          <a:noFill/>
          <a:ln/>
        </p:spPr>
        <p:txBody>
          <a:bodyPr wrap="square" lIns="0" tIns="0" rIns="0" bIns="0" rtlCol="0" anchor="ctr"/>
          <a:lstStyle/>
          <a:p>
            <a:pPr indent="0" marL="0">
              <a:buNone/>
            </a:pPr>
            <a:r>
              <a:rPr lang="en-US" sz="900" dirty="0">
                <a:solidFill>
                  <a:srgbClr val="8C95A6"/>
                </a:solidFill>
                <a:latin typeface="Arial" pitchFamily="34" charset="0"/>
                <a:ea typeface="Arial" pitchFamily="34" charset="-122"/>
                <a:cs typeface="Arial" pitchFamily="34" charset="-120"/>
              </a:rPr>
              <a:t>Ends years of jurisdictional disputes; unified oversight era begins</a:t>
            </a:r>
            <a:endParaRPr lang="en-US" sz="900" dirty="0"/>
          </a:p>
        </p:txBody>
      </p:sp>
      <p:sp>
        <p:nvSpPr>
          <p:cNvPr id="10" name="Shape 8"/>
          <p:cNvSpPr/>
          <p:nvPr/>
        </p:nvSpPr>
        <p:spPr>
          <a:xfrm>
            <a:off x="594360" y="1920240"/>
            <a:ext cx="274320" cy="274320"/>
          </a:xfrm>
          <a:prstGeom prst="ellipse">
            <a:avLst/>
          </a:prstGeom>
          <a:solidFill>
            <a:srgbClr val="C9A96E"/>
          </a:solidFill>
          <a:ln/>
        </p:spPr>
      </p:sp>
      <p:sp>
        <p:nvSpPr>
          <p:cNvPr id="11" name="Text 9"/>
          <p:cNvSpPr/>
          <p:nvPr/>
        </p:nvSpPr>
        <p:spPr>
          <a:xfrm>
            <a:off x="594360" y="192024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2</a:t>
            </a:r>
            <a:endParaRPr lang="en-US" sz="1100" dirty="0"/>
          </a:p>
        </p:txBody>
      </p:sp>
      <p:sp>
        <p:nvSpPr>
          <p:cNvPr id="12" name="Text 10"/>
          <p:cNvSpPr/>
          <p:nvPr/>
        </p:nvSpPr>
        <p:spPr>
          <a:xfrm>
            <a:off x="1005840" y="1901952"/>
            <a:ext cx="3291840" cy="228600"/>
          </a:xfrm>
          <a:prstGeom prst="rect">
            <a:avLst/>
          </a:prstGeom>
          <a:noFill/>
          <a:ln/>
        </p:spPr>
        <p:txBody>
          <a:bodyPr wrap="square" lIns="0" tIns="0" rIns="0" bIns="0" rtlCol="0" anchor="ctr"/>
          <a:lstStyle/>
          <a:p>
            <a:pPr indent="0" marL="0">
              <a:buNone/>
            </a:pPr>
            <a:r>
              <a:rPr lang="en-US" sz="1100" b="1" dirty="0">
                <a:solidFill>
                  <a:srgbClr val="2D3748"/>
                </a:solidFill>
                <a:latin typeface="Arial" pitchFamily="34" charset="0"/>
                <a:ea typeface="Arial" pitchFamily="34" charset="-122"/>
                <a:cs typeface="Arial" pitchFamily="34" charset="-120"/>
              </a:rPr>
              <a:t>Ripple $750M buyback at $50B val</a:t>
            </a:r>
            <a:endParaRPr lang="en-US" sz="1100" dirty="0"/>
          </a:p>
        </p:txBody>
      </p:sp>
      <p:sp>
        <p:nvSpPr>
          <p:cNvPr id="13" name="Text 11"/>
          <p:cNvSpPr/>
          <p:nvPr/>
        </p:nvSpPr>
        <p:spPr>
          <a:xfrm>
            <a:off x="1005840" y="2121408"/>
            <a:ext cx="3291840" cy="228600"/>
          </a:xfrm>
          <a:prstGeom prst="rect">
            <a:avLst/>
          </a:prstGeom>
          <a:noFill/>
          <a:ln/>
        </p:spPr>
        <p:txBody>
          <a:bodyPr wrap="square" lIns="0" tIns="0" rIns="0" bIns="0" rtlCol="0" anchor="ctr"/>
          <a:lstStyle/>
          <a:p>
            <a:pPr indent="0" marL="0">
              <a:buNone/>
            </a:pPr>
            <a:r>
              <a:rPr lang="en-US" sz="900" dirty="0">
                <a:solidFill>
                  <a:srgbClr val="8C95A6"/>
                </a:solidFill>
                <a:latin typeface="Arial" pitchFamily="34" charset="0"/>
                <a:ea typeface="Arial" pitchFamily="34" charset="-122"/>
                <a:cs typeface="Arial" pitchFamily="34" charset="-120"/>
              </a:rPr>
              <a:t>Fortune 500-level capital ops from a private crypto company</a:t>
            </a:r>
            <a:endParaRPr lang="en-US" sz="900" dirty="0"/>
          </a:p>
        </p:txBody>
      </p:sp>
      <p:sp>
        <p:nvSpPr>
          <p:cNvPr id="14" name="Shape 12"/>
          <p:cNvSpPr/>
          <p:nvPr/>
        </p:nvSpPr>
        <p:spPr>
          <a:xfrm>
            <a:off x="594360" y="2578608"/>
            <a:ext cx="274320" cy="274320"/>
          </a:xfrm>
          <a:prstGeom prst="ellipse">
            <a:avLst/>
          </a:prstGeom>
          <a:solidFill>
            <a:srgbClr val="C9A96E"/>
          </a:solidFill>
          <a:ln/>
        </p:spPr>
      </p:sp>
      <p:sp>
        <p:nvSpPr>
          <p:cNvPr id="15" name="Text 13"/>
          <p:cNvSpPr/>
          <p:nvPr/>
        </p:nvSpPr>
        <p:spPr>
          <a:xfrm>
            <a:off x="594360" y="2578608"/>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3</a:t>
            </a:r>
            <a:endParaRPr lang="en-US" sz="1100" dirty="0"/>
          </a:p>
        </p:txBody>
      </p:sp>
      <p:sp>
        <p:nvSpPr>
          <p:cNvPr id="16" name="Text 14"/>
          <p:cNvSpPr/>
          <p:nvPr/>
        </p:nvSpPr>
        <p:spPr>
          <a:xfrm>
            <a:off x="1005840" y="2560320"/>
            <a:ext cx="3291840" cy="228600"/>
          </a:xfrm>
          <a:prstGeom prst="rect">
            <a:avLst/>
          </a:prstGeom>
          <a:noFill/>
          <a:ln/>
        </p:spPr>
        <p:txBody>
          <a:bodyPr wrap="square" lIns="0" tIns="0" rIns="0" bIns="0" rtlCol="0" anchor="ctr"/>
          <a:lstStyle/>
          <a:p>
            <a:pPr indent="0" marL="0">
              <a:buNone/>
            </a:pPr>
            <a:r>
              <a:rPr lang="en-US" sz="1100" b="1" dirty="0">
                <a:solidFill>
                  <a:srgbClr val="2D3748"/>
                </a:solidFill>
                <a:latin typeface="Arial" pitchFamily="34" charset="0"/>
                <a:ea typeface="Arial" pitchFamily="34" charset="-122"/>
                <a:cs typeface="Arial" pitchFamily="34" charset="-120"/>
              </a:rPr>
              <a:t>Geopolitical flash crash &amp; recovery</a:t>
            </a:r>
            <a:endParaRPr lang="en-US" sz="1100" dirty="0"/>
          </a:p>
        </p:txBody>
      </p:sp>
      <p:sp>
        <p:nvSpPr>
          <p:cNvPr id="17" name="Text 15"/>
          <p:cNvSpPr/>
          <p:nvPr/>
        </p:nvSpPr>
        <p:spPr>
          <a:xfrm>
            <a:off x="1005840" y="2779776"/>
            <a:ext cx="3291840" cy="228600"/>
          </a:xfrm>
          <a:prstGeom prst="rect">
            <a:avLst/>
          </a:prstGeom>
          <a:noFill/>
          <a:ln/>
        </p:spPr>
        <p:txBody>
          <a:bodyPr wrap="square" lIns="0" tIns="0" rIns="0" bIns="0" rtlCol="0" anchor="ctr"/>
          <a:lstStyle/>
          <a:p>
            <a:pPr indent="0" marL="0">
              <a:buNone/>
            </a:pPr>
            <a:r>
              <a:rPr lang="en-US" sz="900" dirty="0">
                <a:solidFill>
                  <a:srgbClr val="8C95A6"/>
                </a:solidFill>
                <a:latin typeface="Arial" pitchFamily="34" charset="0"/>
                <a:ea typeface="Arial" pitchFamily="34" charset="-122"/>
                <a:cs typeface="Arial" pitchFamily="34" charset="-120"/>
              </a:rPr>
              <a:t>US-Iran escalation sent BTC to $62,400; rapid rebound to $68K+</a:t>
            </a:r>
            <a:endParaRPr lang="en-US" sz="900" dirty="0"/>
          </a:p>
        </p:txBody>
      </p:sp>
      <p:sp>
        <p:nvSpPr>
          <p:cNvPr id="18" name="Shape 16"/>
          <p:cNvSpPr/>
          <p:nvPr/>
        </p:nvSpPr>
        <p:spPr>
          <a:xfrm>
            <a:off x="594360" y="3236976"/>
            <a:ext cx="274320" cy="274320"/>
          </a:xfrm>
          <a:prstGeom prst="ellipse">
            <a:avLst/>
          </a:prstGeom>
          <a:solidFill>
            <a:srgbClr val="C9A96E"/>
          </a:solidFill>
          <a:ln/>
        </p:spPr>
      </p:sp>
      <p:sp>
        <p:nvSpPr>
          <p:cNvPr id="19" name="Text 17"/>
          <p:cNvSpPr/>
          <p:nvPr/>
        </p:nvSpPr>
        <p:spPr>
          <a:xfrm>
            <a:off x="594360" y="323697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4</a:t>
            </a:r>
            <a:endParaRPr lang="en-US" sz="1100" dirty="0"/>
          </a:p>
        </p:txBody>
      </p:sp>
      <p:sp>
        <p:nvSpPr>
          <p:cNvPr id="20" name="Text 18"/>
          <p:cNvSpPr/>
          <p:nvPr/>
        </p:nvSpPr>
        <p:spPr>
          <a:xfrm>
            <a:off x="1005840" y="3218688"/>
            <a:ext cx="3291840" cy="228600"/>
          </a:xfrm>
          <a:prstGeom prst="rect">
            <a:avLst/>
          </a:prstGeom>
          <a:noFill/>
          <a:ln/>
        </p:spPr>
        <p:txBody>
          <a:bodyPr wrap="square" lIns="0" tIns="0" rIns="0" bIns="0" rtlCol="0" anchor="ctr"/>
          <a:lstStyle/>
          <a:p>
            <a:pPr indent="0" marL="0">
              <a:buNone/>
            </a:pPr>
            <a:r>
              <a:rPr lang="en-US" sz="1100" b="1" dirty="0">
                <a:solidFill>
                  <a:srgbClr val="2D3748"/>
                </a:solidFill>
                <a:latin typeface="Arial" pitchFamily="34" charset="0"/>
                <a:ea typeface="Arial" pitchFamily="34" charset="-122"/>
                <a:cs typeface="Arial" pitchFamily="34" charset="-120"/>
              </a:rPr>
              <a:t>Solana Alpenglow approved (98.27%)</a:t>
            </a:r>
            <a:endParaRPr lang="en-US" sz="1100" dirty="0"/>
          </a:p>
        </p:txBody>
      </p:sp>
      <p:sp>
        <p:nvSpPr>
          <p:cNvPr id="21" name="Text 19"/>
          <p:cNvSpPr/>
          <p:nvPr/>
        </p:nvSpPr>
        <p:spPr>
          <a:xfrm>
            <a:off x="1005840" y="3438144"/>
            <a:ext cx="3291840" cy="228600"/>
          </a:xfrm>
          <a:prstGeom prst="rect">
            <a:avLst/>
          </a:prstGeom>
          <a:noFill/>
          <a:ln/>
        </p:spPr>
        <p:txBody>
          <a:bodyPr wrap="square" lIns="0" tIns="0" rIns="0" bIns="0" rtlCol="0" anchor="ctr"/>
          <a:lstStyle/>
          <a:p>
            <a:pPr indent="0" marL="0">
              <a:buNone/>
            </a:pPr>
            <a:r>
              <a:rPr lang="en-US" sz="900" dirty="0">
                <a:solidFill>
                  <a:srgbClr val="8C95A6"/>
                </a:solidFill>
                <a:latin typeface="Arial" pitchFamily="34" charset="0"/>
                <a:ea typeface="Arial" pitchFamily="34" charset="-122"/>
                <a:cs typeface="Arial" pitchFamily="34" charset="-120"/>
              </a:rPr>
              <a:t>Finality from 12.8s to 100-150ms — generational upgrade</a:t>
            </a:r>
            <a:endParaRPr lang="en-US" sz="900" dirty="0"/>
          </a:p>
        </p:txBody>
      </p:sp>
      <p:sp>
        <p:nvSpPr>
          <p:cNvPr id="22" name="Shape 20"/>
          <p:cNvSpPr/>
          <p:nvPr/>
        </p:nvSpPr>
        <p:spPr>
          <a:xfrm>
            <a:off x="594360" y="3895344"/>
            <a:ext cx="274320" cy="274320"/>
          </a:xfrm>
          <a:prstGeom prst="ellipse">
            <a:avLst/>
          </a:prstGeom>
          <a:solidFill>
            <a:srgbClr val="C9A96E"/>
          </a:solidFill>
          <a:ln/>
        </p:spPr>
      </p:sp>
      <p:sp>
        <p:nvSpPr>
          <p:cNvPr id="23" name="Text 21"/>
          <p:cNvSpPr/>
          <p:nvPr/>
        </p:nvSpPr>
        <p:spPr>
          <a:xfrm>
            <a:off x="594360" y="3895344"/>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5</a:t>
            </a:r>
            <a:endParaRPr lang="en-US" sz="1100" dirty="0"/>
          </a:p>
        </p:txBody>
      </p:sp>
      <p:sp>
        <p:nvSpPr>
          <p:cNvPr id="24" name="Text 22"/>
          <p:cNvSpPr/>
          <p:nvPr/>
        </p:nvSpPr>
        <p:spPr>
          <a:xfrm>
            <a:off x="1005840" y="3877056"/>
            <a:ext cx="3291840" cy="228600"/>
          </a:xfrm>
          <a:prstGeom prst="rect">
            <a:avLst/>
          </a:prstGeom>
          <a:noFill/>
          <a:ln/>
        </p:spPr>
        <p:txBody>
          <a:bodyPr wrap="square" lIns="0" tIns="0" rIns="0" bIns="0" rtlCol="0" anchor="ctr"/>
          <a:lstStyle/>
          <a:p>
            <a:pPr indent="0" marL="0">
              <a:buNone/>
            </a:pPr>
            <a:r>
              <a:rPr lang="en-US" sz="1100" b="1" dirty="0">
                <a:solidFill>
                  <a:srgbClr val="2D3748"/>
                </a:solidFill>
                <a:latin typeface="Arial" pitchFamily="34" charset="0"/>
                <a:ea typeface="Arial" pitchFamily="34" charset="-122"/>
                <a:cs typeface="Arial" pitchFamily="34" charset="-120"/>
              </a:rPr>
              <a:t>SEC drops BitClout/DeSo case (3/14)</a:t>
            </a:r>
            <a:endParaRPr lang="en-US" sz="1100" dirty="0"/>
          </a:p>
        </p:txBody>
      </p:sp>
      <p:sp>
        <p:nvSpPr>
          <p:cNvPr id="25" name="Text 23"/>
          <p:cNvSpPr/>
          <p:nvPr/>
        </p:nvSpPr>
        <p:spPr>
          <a:xfrm>
            <a:off x="1005840" y="4096512"/>
            <a:ext cx="3291840" cy="228600"/>
          </a:xfrm>
          <a:prstGeom prst="rect">
            <a:avLst/>
          </a:prstGeom>
          <a:noFill/>
          <a:ln/>
        </p:spPr>
        <p:txBody>
          <a:bodyPr wrap="square" lIns="0" tIns="0" rIns="0" bIns="0" rtlCol="0" anchor="ctr"/>
          <a:lstStyle/>
          <a:p>
            <a:pPr indent="0" marL="0">
              <a:buNone/>
            </a:pPr>
            <a:r>
              <a:rPr lang="en-US" sz="900" dirty="0">
                <a:solidFill>
                  <a:srgbClr val="8C95A6"/>
                </a:solidFill>
                <a:latin typeface="Arial" pitchFamily="34" charset="0"/>
                <a:ea typeface="Arial" pitchFamily="34" charset="-122"/>
                <a:cs typeface="Arial" pitchFamily="34" charset="-120"/>
              </a:rPr>
              <a:t>Signals shift from litigation enforcement to compliance guidance</a:t>
            </a:r>
            <a:endParaRPr lang="en-US" sz="900" dirty="0"/>
          </a:p>
        </p:txBody>
      </p:sp>
      <p:sp>
        <p:nvSpPr>
          <p:cNvPr id="26" name="Shape 24"/>
          <p:cNvSpPr/>
          <p:nvPr/>
        </p:nvSpPr>
        <p:spPr>
          <a:xfrm>
            <a:off x="4663440" y="822960"/>
            <a:ext cx="4114800" cy="1783080"/>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27" name="Shape 25"/>
          <p:cNvSpPr/>
          <p:nvPr/>
        </p:nvSpPr>
        <p:spPr>
          <a:xfrm>
            <a:off x="4663440" y="822960"/>
            <a:ext cx="4114800" cy="320040"/>
          </a:xfrm>
          <a:prstGeom prst="rect">
            <a:avLst/>
          </a:prstGeom>
          <a:solidFill>
            <a:srgbClr val="1A2744"/>
          </a:solidFill>
          <a:ln/>
        </p:spPr>
      </p:sp>
      <p:sp>
        <p:nvSpPr>
          <p:cNvPr id="28" name="Text 26"/>
          <p:cNvSpPr/>
          <p:nvPr/>
        </p:nvSpPr>
        <p:spPr>
          <a:xfrm>
            <a:off x="4846320" y="822960"/>
            <a:ext cx="3657600" cy="32004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Layer 1 &amp; Layer 2</a:t>
            </a:r>
            <a:endParaRPr lang="en-US" sz="1100" dirty="0"/>
          </a:p>
        </p:txBody>
      </p:sp>
      <p:sp>
        <p:nvSpPr>
          <p:cNvPr id="29" name="Text 27"/>
          <p:cNvSpPr/>
          <p:nvPr/>
        </p:nvSpPr>
        <p:spPr>
          <a:xfrm>
            <a:off x="4846320" y="1207008"/>
            <a:ext cx="3749040" cy="1325880"/>
          </a:xfrm>
          <a:prstGeom prst="rect">
            <a:avLst/>
          </a:prstGeom>
          <a:noFill/>
          <a:ln/>
        </p:spPr>
        <p:txBody>
          <a:bodyPr wrap="square" lIns="0" tIns="0" rIns="0" bIns="0" rtlCol="0" anchor="ctr"/>
          <a:lstStyle/>
          <a:p>
            <a:pPr marL="342900" indent="-342900">
              <a:spcAft>
                <a:spcPts val="400"/>
              </a:spcAft>
              <a:buSzPct val="100000"/>
              <a:buChar char="•"/>
            </a:pPr>
            <a:r>
              <a:rPr lang="en-US" sz="1000" dirty="0">
                <a:solidFill>
                  <a:srgbClr val="2D3748"/>
                </a:solidFill>
                <a:latin typeface="Arial" pitchFamily="34" charset="0"/>
                <a:ea typeface="Arial" pitchFamily="34" charset="-122"/>
                <a:cs typeface="Arial" pitchFamily="34" charset="-120"/>
              </a:rPr>
              <a:t>Solana Alpenglow: 98.27% staker approval; finality → 100ms</a:t>
            </a:r>
            <a:endParaRPr lang="en-US" sz="1000" dirty="0"/>
          </a:p>
          <a:p>
            <a:pPr marL="342900" indent="-342900">
              <a:spcAft>
                <a:spcPts val="400"/>
              </a:spcAft>
              <a:buSzPct val="100000"/>
              <a:buChar char="•"/>
            </a:pPr>
            <a:r>
              <a:rPr lang="en-US" sz="1000" dirty="0">
                <a:solidFill>
                  <a:srgbClr val="2D3748"/>
                </a:solidFill>
                <a:latin typeface="Arial" pitchFamily="34" charset="0"/>
                <a:ea typeface="Arial" pitchFamily="34" charset="-122"/>
                <a:cs typeface="Arial" pitchFamily="34" charset="-120"/>
              </a:rPr>
              <a:t>Avalanche TVL breaks $2.1B; Q1 doubled (Octane upgrade)</a:t>
            </a:r>
            <a:endParaRPr lang="en-US" sz="1000" dirty="0"/>
          </a:p>
          <a:p>
            <a:pPr marL="342900" indent="-342900">
              <a:spcAft>
                <a:spcPts val="400"/>
              </a:spcAft>
              <a:buSzPct val="100000"/>
              <a:buChar char="•"/>
            </a:pPr>
            <a:r>
              <a:rPr lang="en-US" sz="1000" dirty="0">
                <a:solidFill>
                  <a:srgbClr val="2D3748"/>
                </a:solidFill>
                <a:latin typeface="Arial" pitchFamily="34" charset="0"/>
                <a:ea typeface="Arial" pitchFamily="34" charset="-122"/>
                <a:cs typeface="Arial" pitchFamily="34" charset="-120"/>
              </a:rPr>
              <a:t>Monad mainnet: sustained 10,000 TPS + sub-second finality</a:t>
            </a:r>
            <a:endParaRPr lang="en-US" sz="1000" dirty="0"/>
          </a:p>
          <a:p>
            <a:pPr marL="342900" indent="-342900">
              <a:spcAft>
                <a:spcPts val="400"/>
              </a:spcAft>
              <a:buSzPct val="100000"/>
              <a:buChar char="•"/>
            </a:pPr>
            <a:r>
              <a:rPr lang="en-US" sz="1000" dirty="0">
                <a:solidFill>
                  <a:srgbClr val="2D3748"/>
                </a:solidFill>
                <a:latin typeface="Arial" pitchFamily="34" charset="0"/>
                <a:ea typeface="Arial" pitchFamily="34" charset="-122"/>
                <a:cs typeface="Arial" pitchFamily="34" charset="-120"/>
              </a:rPr>
              <a:t>Base accelerates custom arch, leaving OP Stack</a:t>
            </a:r>
            <a:endParaRPr lang="en-US" sz="1000" dirty="0"/>
          </a:p>
        </p:txBody>
      </p:sp>
      <p:sp>
        <p:nvSpPr>
          <p:cNvPr id="30" name="Shape 28"/>
          <p:cNvSpPr/>
          <p:nvPr/>
        </p:nvSpPr>
        <p:spPr>
          <a:xfrm>
            <a:off x="4663440" y="2788920"/>
            <a:ext cx="4114800" cy="1783080"/>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31" name="Shape 29"/>
          <p:cNvSpPr/>
          <p:nvPr/>
        </p:nvSpPr>
        <p:spPr>
          <a:xfrm>
            <a:off x="4663440" y="2788920"/>
            <a:ext cx="4114800" cy="320040"/>
          </a:xfrm>
          <a:prstGeom prst="rect">
            <a:avLst/>
          </a:prstGeom>
          <a:solidFill>
            <a:srgbClr val="1A2744"/>
          </a:solidFill>
          <a:ln/>
        </p:spPr>
      </p:sp>
      <p:sp>
        <p:nvSpPr>
          <p:cNvPr id="32" name="Text 30"/>
          <p:cNvSpPr/>
          <p:nvPr/>
        </p:nvSpPr>
        <p:spPr>
          <a:xfrm>
            <a:off x="4846320" y="2788920"/>
            <a:ext cx="3657600" cy="32004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DeFi &amp; Perp DEXes</a:t>
            </a:r>
            <a:endParaRPr lang="en-US" sz="1100" dirty="0"/>
          </a:p>
        </p:txBody>
      </p:sp>
      <p:sp>
        <p:nvSpPr>
          <p:cNvPr id="33" name="Text 31"/>
          <p:cNvSpPr/>
          <p:nvPr/>
        </p:nvSpPr>
        <p:spPr>
          <a:xfrm>
            <a:off x="4846320" y="3172968"/>
            <a:ext cx="3749040" cy="1325880"/>
          </a:xfrm>
          <a:prstGeom prst="rect">
            <a:avLst/>
          </a:prstGeom>
          <a:noFill/>
          <a:ln/>
        </p:spPr>
        <p:txBody>
          <a:bodyPr wrap="square" lIns="0" tIns="0" rIns="0" bIns="0" rtlCol="0" anchor="ctr"/>
          <a:lstStyle/>
          <a:p>
            <a:pPr marL="342900" indent="-342900">
              <a:spcAft>
                <a:spcPts val="400"/>
              </a:spcAft>
              <a:buSzPct val="100000"/>
              <a:buChar char="•"/>
            </a:pPr>
            <a:r>
              <a:rPr lang="en-US" sz="1000" dirty="0">
                <a:solidFill>
                  <a:srgbClr val="2D3748"/>
                </a:solidFill>
                <a:latin typeface="Arial" pitchFamily="34" charset="0"/>
                <a:ea typeface="Arial" pitchFamily="34" charset="-122"/>
                <a:cs typeface="Arial" pitchFamily="34" charset="-120"/>
              </a:rPr>
              <a:t>Aave V4 “Hub and Spoke” cross-chain unified liquidity</a:t>
            </a:r>
            <a:endParaRPr lang="en-US" sz="1000" dirty="0"/>
          </a:p>
          <a:p>
            <a:pPr marL="342900" indent="-342900">
              <a:spcAft>
                <a:spcPts val="400"/>
              </a:spcAft>
              <a:buSzPct val="100000"/>
              <a:buChar char="•"/>
            </a:pPr>
            <a:r>
              <a:rPr lang="en-US" sz="1000" dirty="0">
                <a:solidFill>
                  <a:srgbClr val="2D3748"/>
                </a:solidFill>
                <a:latin typeface="Arial" pitchFamily="34" charset="0"/>
                <a:ea typeface="Arial" pitchFamily="34" charset="-122"/>
                <a:cs typeface="Arial" pitchFamily="34" charset="-120"/>
              </a:rPr>
              <a:t>BlackRock staking ETH ETF (ETHB) launched on Nasdaq</a:t>
            </a:r>
            <a:endParaRPr lang="en-US" sz="1000" dirty="0"/>
          </a:p>
          <a:p>
            <a:pPr marL="342900" indent="-342900">
              <a:spcAft>
                <a:spcPts val="400"/>
              </a:spcAft>
              <a:buSzPct val="100000"/>
              <a:buChar char="•"/>
            </a:pPr>
            <a:r>
              <a:rPr lang="en-US" sz="1000" dirty="0">
                <a:solidFill>
                  <a:srgbClr val="2D3748"/>
                </a:solidFill>
                <a:latin typeface="Arial" pitchFamily="34" charset="0"/>
                <a:ea typeface="Arial" pitchFamily="34" charset="-122"/>
                <a:cs typeface="Arial" pitchFamily="34" charset="-120"/>
              </a:rPr>
              <a:t>Hyperliquid OI peak $6.48B; enters global Top 10</a:t>
            </a:r>
            <a:endParaRPr lang="en-US" sz="1000" dirty="0"/>
          </a:p>
          <a:p>
            <a:pPr marL="342900" indent="-342900">
              <a:spcAft>
                <a:spcPts val="400"/>
              </a:spcAft>
              <a:buSzPct val="100000"/>
              <a:buChar char="•"/>
            </a:pPr>
            <a:r>
              <a:rPr lang="en-US" sz="1000" dirty="0">
                <a:solidFill>
                  <a:srgbClr val="2D3748"/>
                </a:solidFill>
                <a:latin typeface="Arial" pitchFamily="34" charset="0"/>
                <a:ea typeface="Arial" pitchFamily="34" charset="-122"/>
                <a:cs typeface="Arial" pitchFamily="34" charset="-120"/>
              </a:rPr>
              <a:t>Perp DEX market share at 10.2%; structural shift confirmed</a:t>
            </a:r>
            <a:endParaRPr lang="en-US" sz="1000" dirty="0"/>
          </a:p>
        </p:txBody>
      </p:sp>
      <p:sp>
        <p:nvSpPr>
          <p:cNvPr id="34" name="Shape 32"/>
          <p:cNvSpPr/>
          <p:nvPr/>
        </p:nvSpPr>
        <p:spPr>
          <a:xfrm>
            <a:off x="0" y="4800600"/>
            <a:ext cx="9144000" cy="342900"/>
          </a:xfrm>
          <a:prstGeom prst="rect">
            <a:avLst/>
          </a:prstGeom>
          <a:solidFill>
            <a:srgbClr val="1A2744"/>
          </a:solidFill>
          <a:ln/>
        </p:spPr>
      </p:sp>
      <p:sp>
        <p:nvSpPr>
          <p:cNvPr id="35" name="Text 33"/>
          <p:cNvSpPr/>
          <p:nvPr/>
        </p:nvSpPr>
        <p:spPr>
          <a:xfrm>
            <a:off x="457200" y="4800600"/>
            <a:ext cx="8229600" cy="342900"/>
          </a:xfrm>
          <a:prstGeom prst="rect">
            <a:avLst/>
          </a:prstGeom>
          <a:noFill/>
          <a:ln/>
        </p:spPr>
        <p:txBody>
          <a:bodyPr wrap="square" lIns="0" tIns="0" rIns="0" bIns="0" rtlCol="0" anchor="ctr"/>
          <a:lstStyle/>
          <a:p>
            <a:pPr indent="0" marL="0">
              <a:buNone/>
            </a:pPr>
            <a:r>
              <a:rPr lang="en-US" sz="800" dirty="0">
                <a:solidFill>
                  <a:srgbClr val="8C95A6"/>
                </a:solidFill>
                <a:latin typeface="Arial" pitchFamily="34" charset="0"/>
                <a:ea typeface="Arial" pitchFamily="34" charset="-122"/>
                <a:cs typeface="Arial" pitchFamily="34" charset="-120"/>
              </a:rPr>
              <a:t>Crypto Market Weekly | 2026.03.09–03.15</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6F8"/>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A2744"/>
          </a:solidFill>
          <a:ln/>
        </p:spPr>
      </p:sp>
      <p:sp>
        <p:nvSpPr>
          <p:cNvPr id="3" name="Text 1"/>
          <p:cNvSpPr/>
          <p:nvPr/>
        </p:nvSpPr>
        <p:spPr>
          <a:xfrm>
            <a:off x="548640" y="0"/>
            <a:ext cx="8229600" cy="6400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  Regulation &amp; Fundraising</a:t>
            </a:r>
            <a:endParaRPr lang="en-US" sz="2000" dirty="0"/>
          </a:p>
        </p:txBody>
      </p:sp>
      <p:sp>
        <p:nvSpPr>
          <p:cNvPr id="4" name="Shape 2"/>
          <p:cNvSpPr/>
          <p:nvPr/>
        </p:nvSpPr>
        <p:spPr>
          <a:xfrm>
            <a:off x="365760" y="822960"/>
            <a:ext cx="4114800" cy="3749040"/>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5" name="Shape 3"/>
          <p:cNvSpPr/>
          <p:nvPr/>
        </p:nvSpPr>
        <p:spPr>
          <a:xfrm>
            <a:off x="365760" y="822960"/>
            <a:ext cx="54864" cy="3749040"/>
          </a:xfrm>
          <a:prstGeom prst="rect">
            <a:avLst/>
          </a:prstGeom>
          <a:solidFill>
            <a:srgbClr val="C9A96E"/>
          </a:solidFill>
          <a:ln/>
        </p:spPr>
      </p:sp>
      <p:sp>
        <p:nvSpPr>
          <p:cNvPr id="6" name="Text 4"/>
          <p:cNvSpPr/>
          <p:nvPr/>
        </p:nvSpPr>
        <p:spPr>
          <a:xfrm>
            <a:off x="640080" y="868680"/>
            <a:ext cx="3657600" cy="320040"/>
          </a:xfrm>
          <a:prstGeom prst="rect">
            <a:avLst/>
          </a:prstGeom>
          <a:noFill/>
          <a:ln/>
        </p:spPr>
        <p:txBody>
          <a:bodyPr wrap="square" lIns="0" tIns="0" rIns="0" bIns="0" rtlCol="0" anchor="ctr"/>
          <a:lstStyle/>
          <a:p>
            <a:pPr indent="0" marL="0">
              <a:buNone/>
            </a:pPr>
            <a:r>
              <a:rPr lang="en-US" sz="1400" b="1" dirty="0">
                <a:solidFill>
                  <a:srgbClr val="1A2744"/>
                </a:solidFill>
                <a:latin typeface="Arial" pitchFamily="34" charset="0"/>
                <a:ea typeface="Arial" pitchFamily="34" charset="-122"/>
                <a:cs typeface="Arial" pitchFamily="34" charset="-120"/>
              </a:rPr>
              <a:t>Regulation &amp; Policy</a:t>
            </a:r>
            <a:endParaRPr lang="en-US" sz="1400" dirty="0"/>
          </a:p>
        </p:txBody>
      </p:sp>
      <p:sp>
        <p:nvSpPr>
          <p:cNvPr id="7" name="Text 5"/>
          <p:cNvSpPr/>
          <p:nvPr/>
        </p:nvSpPr>
        <p:spPr>
          <a:xfrm>
            <a:off x="640080" y="1325880"/>
            <a:ext cx="3657600" cy="228600"/>
          </a:xfrm>
          <a:prstGeom prst="rect">
            <a:avLst/>
          </a:prstGeom>
          <a:noFill/>
          <a:ln/>
        </p:spPr>
        <p:txBody>
          <a:bodyPr wrap="square" lIns="0" tIns="0" rIns="0" bIns="0" rtlCol="0" anchor="ctr"/>
          <a:lstStyle/>
          <a:p>
            <a:pPr indent="0" marL="0">
              <a:buNone/>
            </a:pPr>
            <a:r>
              <a:rPr lang="en-US" sz="1100" b="1" dirty="0">
                <a:solidFill>
                  <a:srgbClr val="2D3748"/>
                </a:solidFill>
                <a:latin typeface="Arial" pitchFamily="34" charset="0"/>
                <a:ea typeface="Arial" pitchFamily="34" charset="-122"/>
                <a:cs typeface="Arial" pitchFamily="34" charset="-120"/>
              </a:rPr>
              <a:t>SEC-CFTC Joint MOU (3/11)</a:t>
            </a:r>
            <a:endParaRPr lang="en-US" sz="1100" dirty="0"/>
          </a:p>
        </p:txBody>
      </p:sp>
      <p:sp>
        <p:nvSpPr>
          <p:cNvPr id="8" name="Text 6"/>
          <p:cNvSpPr/>
          <p:nvPr/>
        </p:nvSpPr>
        <p:spPr>
          <a:xfrm>
            <a:off x="640080" y="1536192"/>
            <a:ext cx="3657600" cy="228600"/>
          </a:xfrm>
          <a:prstGeom prst="rect">
            <a:avLst/>
          </a:prstGeom>
          <a:noFill/>
          <a:ln/>
        </p:spPr>
        <p:txBody>
          <a:bodyPr wrap="square" lIns="0" tIns="0" rIns="0" bIns="0" rtlCol="0" anchor="ctr"/>
          <a:lstStyle/>
          <a:p>
            <a:pPr indent="0" marL="0">
              <a:buNone/>
            </a:pPr>
            <a:r>
              <a:rPr lang="en-US" sz="1000" dirty="0">
                <a:solidFill>
                  <a:srgbClr val="8C95A6"/>
                </a:solidFill>
                <a:latin typeface="Arial" pitchFamily="34" charset="0"/>
                <a:ea typeface="Arial" pitchFamily="34" charset="-122"/>
                <a:cs typeface="Arial" pitchFamily="34" charset="-120"/>
              </a:rPr>
              <a:t>Info sharing, joint review, unified definitions framework</a:t>
            </a:r>
            <a:endParaRPr lang="en-US" sz="1000" dirty="0"/>
          </a:p>
        </p:txBody>
      </p:sp>
      <p:sp>
        <p:nvSpPr>
          <p:cNvPr id="9" name="Text 7"/>
          <p:cNvSpPr/>
          <p:nvPr/>
        </p:nvSpPr>
        <p:spPr>
          <a:xfrm>
            <a:off x="640080" y="1920240"/>
            <a:ext cx="3657600" cy="228600"/>
          </a:xfrm>
          <a:prstGeom prst="rect">
            <a:avLst/>
          </a:prstGeom>
          <a:noFill/>
          <a:ln/>
        </p:spPr>
        <p:txBody>
          <a:bodyPr wrap="square" lIns="0" tIns="0" rIns="0" bIns="0" rtlCol="0" anchor="ctr"/>
          <a:lstStyle/>
          <a:p>
            <a:pPr indent="0" marL="0">
              <a:buNone/>
            </a:pPr>
            <a:r>
              <a:rPr lang="en-US" sz="1100" b="1" dirty="0">
                <a:solidFill>
                  <a:srgbClr val="2D3748"/>
                </a:solidFill>
                <a:latin typeface="Arial" pitchFamily="34" charset="0"/>
                <a:ea typeface="Arial" pitchFamily="34" charset="-122"/>
                <a:cs typeface="Arial" pitchFamily="34" charset="-120"/>
              </a:rPr>
              <a:t>SEC Token Classification</a:t>
            </a:r>
            <a:endParaRPr lang="en-US" sz="1100" dirty="0"/>
          </a:p>
        </p:txBody>
      </p:sp>
      <p:sp>
        <p:nvSpPr>
          <p:cNvPr id="10" name="Text 8"/>
          <p:cNvSpPr/>
          <p:nvPr/>
        </p:nvSpPr>
        <p:spPr>
          <a:xfrm>
            <a:off x="640080" y="2130552"/>
            <a:ext cx="3657600" cy="228600"/>
          </a:xfrm>
          <a:prstGeom prst="rect">
            <a:avLst/>
          </a:prstGeom>
          <a:noFill/>
          <a:ln/>
        </p:spPr>
        <p:txBody>
          <a:bodyPr wrap="square" lIns="0" tIns="0" rIns="0" bIns="0" rtlCol="0" anchor="ctr"/>
          <a:lstStyle/>
          <a:p>
            <a:pPr indent="0" marL="0">
              <a:buNone/>
            </a:pPr>
            <a:r>
              <a:rPr lang="en-US" sz="1000" dirty="0">
                <a:solidFill>
                  <a:srgbClr val="8C95A6"/>
                </a:solidFill>
                <a:latin typeface="Arial" pitchFamily="34" charset="0"/>
                <a:ea typeface="Arial" pitchFamily="34" charset="-122"/>
                <a:cs typeface="Arial" pitchFamily="34" charset="-120"/>
              </a:rPr>
              <a:t>Submitted to White House; shift from litigation to rulemaking</a:t>
            </a:r>
            <a:endParaRPr lang="en-US" sz="1000" dirty="0"/>
          </a:p>
        </p:txBody>
      </p:sp>
      <p:sp>
        <p:nvSpPr>
          <p:cNvPr id="11" name="Text 9"/>
          <p:cNvSpPr/>
          <p:nvPr/>
        </p:nvSpPr>
        <p:spPr>
          <a:xfrm>
            <a:off x="640080" y="2514600"/>
            <a:ext cx="3657600" cy="228600"/>
          </a:xfrm>
          <a:prstGeom prst="rect">
            <a:avLst/>
          </a:prstGeom>
          <a:noFill/>
          <a:ln/>
        </p:spPr>
        <p:txBody>
          <a:bodyPr wrap="square" lIns="0" tIns="0" rIns="0" bIns="0" rtlCol="0" anchor="ctr"/>
          <a:lstStyle/>
          <a:p>
            <a:pPr indent="0" marL="0">
              <a:buNone/>
            </a:pPr>
            <a:r>
              <a:rPr lang="en-US" sz="1100" b="1" dirty="0">
                <a:solidFill>
                  <a:srgbClr val="2D3748"/>
                </a:solidFill>
                <a:latin typeface="Arial" pitchFamily="34" charset="0"/>
                <a:ea typeface="Arial" pitchFamily="34" charset="-122"/>
                <a:cs typeface="Arial" pitchFamily="34" charset="-120"/>
              </a:rPr>
              <a:t>CFTC Project Crypto (3/9)</a:t>
            </a:r>
            <a:endParaRPr lang="en-US" sz="1100" dirty="0"/>
          </a:p>
        </p:txBody>
      </p:sp>
      <p:sp>
        <p:nvSpPr>
          <p:cNvPr id="12" name="Text 10"/>
          <p:cNvSpPr/>
          <p:nvPr/>
        </p:nvSpPr>
        <p:spPr>
          <a:xfrm>
            <a:off x="640080" y="2724912"/>
            <a:ext cx="3657600" cy="228600"/>
          </a:xfrm>
          <a:prstGeom prst="rect">
            <a:avLst/>
          </a:prstGeom>
          <a:noFill/>
          <a:ln/>
        </p:spPr>
        <p:txBody>
          <a:bodyPr wrap="square" lIns="0" tIns="0" rIns="0" bIns="0" rtlCol="0" anchor="ctr"/>
          <a:lstStyle/>
          <a:p>
            <a:pPr indent="0" marL="0">
              <a:buNone/>
            </a:pPr>
            <a:r>
              <a:rPr lang="en-US" sz="1000" dirty="0">
                <a:solidFill>
                  <a:srgbClr val="8C95A6"/>
                </a:solidFill>
                <a:latin typeface="Arial" pitchFamily="34" charset="0"/>
                <a:ea typeface="Arial" pitchFamily="34" charset="-122"/>
                <a:cs typeface="Arial" pitchFamily="34" charset="-120"/>
              </a:rPr>
              <a:t>Unified crypto classification system + DeFi registration rules</a:t>
            </a:r>
            <a:endParaRPr lang="en-US" sz="1000" dirty="0"/>
          </a:p>
        </p:txBody>
      </p:sp>
      <p:sp>
        <p:nvSpPr>
          <p:cNvPr id="13" name="Text 11"/>
          <p:cNvSpPr/>
          <p:nvPr/>
        </p:nvSpPr>
        <p:spPr>
          <a:xfrm>
            <a:off x="640080" y="3108960"/>
            <a:ext cx="3657600" cy="228600"/>
          </a:xfrm>
          <a:prstGeom prst="rect">
            <a:avLst/>
          </a:prstGeom>
          <a:noFill/>
          <a:ln/>
        </p:spPr>
        <p:txBody>
          <a:bodyPr wrap="square" lIns="0" tIns="0" rIns="0" bIns="0" rtlCol="0" anchor="ctr"/>
          <a:lstStyle/>
          <a:p>
            <a:pPr indent="0" marL="0">
              <a:buNone/>
            </a:pPr>
            <a:r>
              <a:rPr lang="en-US" sz="1100" b="1" dirty="0">
                <a:solidFill>
                  <a:srgbClr val="2D3748"/>
                </a:solidFill>
                <a:latin typeface="Arial" pitchFamily="34" charset="0"/>
                <a:ea typeface="Arial" pitchFamily="34" charset="-122"/>
                <a:cs typeface="Arial" pitchFamily="34" charset="-120"/>
              </a:rPr>
              <a:t>Treasury DeFi Risk Report</a:t>
            </a:r>
            <a:endParaRPr lang="en-US" sz="1100" dirty="0"/>
          </a:p>
        </p:txBody>
      </p:sp>
      <p:sp>
        <p:nvSpPr>
          <p:cNvPr id="14" name="Text 12"/>
          <p:cNvSpPr/>
          <p:nvPr/>
        </p:nvSpPr>
        <p:spPr>
          <a:xfrm>
            <a:off x="640080" y="3319272"/>
            <a:ext cx="3657600" cy="228600"/>
          </a:xfrm>
          <a:prstGeom prst="rect">
            <a:avLst/>
          </a:prstGeom>
          <a:noFill/>
          <a:ln/>
        </p:spPr>
        <p:txBody>
          <a:bodyPr wrap="square" lIns="0" tIns="0" rIns="0" bIns="0" rtlCol="0" anchor="ctr"/>
          <a:lstStyle/>
          <a:p>
            <a:pPr indent="0" marL="0">
              <a:buNone/>
            </a:pPr>
            <a:r>
              <a:rPr lang="en-US" sz="1000" dirty="0">
                <a:solidFill>
                  <a:srgbClr val="8C95A6"/>
                </a:solidFill>
                <a:latin typeface="Arial" pitchFamily="34" charset="0"/>
                <a:ea typeface="Arial" pitchFamily="34" charset="-122"/>
                <a:cs typeface="Arial" pitchFamily="34" charset="-120"/>
              </a:rPr>
              <a:t>Proposes “withholding law” for AML/CFT compliance</a:t>
            </a:r>
            <a:endParaRPr lang="en-US" sz="1000" dirty="0"/>
          </a:p>
        </p:txBody>
      </p:sp>
      <p:sp>
        <p:nvSpPr>
          <p:cNvPr id="15" name="Text 13"/>
          <p:cNvSpPr/>
          <p:nvPr/>
        </p:nvSpPr>
        <p:spPr>
          <a:xfrm>
            <a:off x="640080" y="3703320"/>
            <a:ext cx="3657600" cy="228600"/>
          </a:xfrm>
          <a:prstGeom prst="rect">
            <a:avLst/>
          </a:prstGeom>
          <a:noFill/>
          <a:ln/>
        </p:spPr>
        <p:txBody>
          <a:bodyPr wrap="square" lIns="0" tIns="0" rIns="0" bIns="0" rtlCol="0" anchor="ctr"/>
          <a:lstStyle/>
          <a:p>
            <a:pPr indent="0" marL="0">
              <a:buNone/>
            </a:pPr>
            <a:r>
              <a:rPr lang="en-US" sz="1100" b="1" dirty="0">
                <a:solidFill>
                  <a:srgbClr val="2D3748"/>
                </a:solidFill>
                <a:latin typeface="Arial" pitchFamily="34" charset="0"/>
                <a:ea typeface="Arial" pitchFamily="34" charset="-122"/>
                <a:cs typeface="Arial" pitchFamily="34" charset="-120"/>
              </a:rPr>
              <a:t>Stablecoin Yield Ban Debate</a:t>
            </a:r>
            <a:endParaRPr lang="en-US" sz="1100" dirty="0"/>
          </a:p>
        </p:txBody>
      </p:sp>
      <p:sp>
        <p:nvSpPr>
          <p:cNvPr id="16" name="Text 14"/>
          <p:cNvSpPr/>
          <p:nvPr/>
        </p:nvSpPr>
        <p:spPr>
          <a:xfrm>
            <a:off x="640080" y="3913632"/>
            <a:ext cx="3657600" cy="228600"/>
          </a:xfrm>
          <a:prstGeom prst="rect">
            <a:avLst/>
          </a:prstGeom>
          <a:noFill/>
          <a:ln/>
        </p:spPr>
        <p:txBody>
          <a:bodyPr wrap="square" lIns="0" tIns="0" rIns="0" bIns="0" rtlCol="0" anchor="ctr"/>
          <a:lstStyle/>
          <a:p>
            <a:pPr indent="0" marL="0">
              <a:buNone/>
            </a:pPr>
            <a:r>
              <a:rPr lang="en-US" sz="1000" dirty="0">
                <a:solidFill>
                  <a:srgbClr val="8C95A6"/>
                </a:solidFill>
                <a:latin typeface="Arial" pitchFamily="34" charset="0"/>
                <a:ea typeface="Arial" pitchFamily="34" charset="-122"/>
                <a:cs typeface="Arial" pitchFamily="34" charset="-120"/>
              </a:rPr>
              <a:t>Senate reviews 130+ amendments; may ban retail yield stables</a:t>
            </a:r>
            <a:endParaRPr lang="en-US" sz="1000" dirty="0"/>
          </a:p>
        </p:txBody>
      </p:sp>
      <p:sp>
        <p:nvSpPr>
          <p:cNvPr id="17" name="Shape 15"/>
          <p:cNvSpPr/>
          <p:nvPr/>
        </p:nvSpPr>
        <p:spPr>
          <a:xfrm>
            <a:off x="4663440" y="822960"/>
            <a:ext cx="4114800" cy="3749040"/>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18" name="Shape 16"/>
          <p:cNvSpPr/>
          <p:nvPr/>
        </p:nvSpPr>
        <p:spPr>
          <a:xfrm>
            <a:off x="4663440" y="822960"/>
            <a:ext cx="54864" cy="3749040"/>
          </a:xfrm>
          <a:prstGeom prst="rect">
            <a:avLst/>
          </a:prstGeom>
          <a:solidFill>
            <a:srgbClr val="C9A96E"/>
          </a:solidFill>
          <a:ln/>
        </p:spPr>
      </p:sp>
      <p:sp>
        <p:nvSpPr>
          <p:cNvPr id="19" name="Text 17"/>
          <p:cNvSpPr/>
          <p:nvPr/>
        </p:nvSpPr>
        <p:spPr>
          <a:xfrm>
            <a:off x="4937760" y="868680"/>
            <a:ext cx="3657600" cy="320040"/>
          </a:xfrm>
          <a:prstGeom prst="rect">
            <a:avLst/>
          </a:prstGeom>
          <a:noFill/>
          <a:ln/>
        </p:spPr>
        <p:txBody>
          <a:bodyPr wrap="square" lIns="0" tIns="0" rIns="0" bIns="0" rtlCol="0" anchor="ctr"/>
          <a:lstStyle/>
          <a:p>
            <a:pPr indent="0" marL="0">
              <a:buNone/>
            </a:pPr>
            <a:r>
              <a:rPr lang="en-US" sz="1400" b="1" dirty="0">
                <a:solidFill>
                  <a:srgbClr val="1A2744"/>
                </a:solidFill>
                <a:latin typeface="Arial" pitchFamily="34" charset="0"/>
                <a:ea typeface="Arial" pitchFamily="34" charset="-122"/>
                <a:cs typeface="Arial" pitchFamily="34" charset="-120"/>
              </a:rPr>
              <a:t>Fundraising &amp; M&amp;A</a:t>
            </a:r>
            <a:endParaRPr lang="en-US" sz="14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846320" y="1325880"/>
          <a:ext cx="3749040" cy="914400"/>
        </p:xfrm>
        <a:graphic>
          <a:graphicData uri="http://schemas.openxmlformats.org/drawingml/2006/table">
            <a:tbl>
              <a:tblPr/>
              <a:tblGrid>
                <a:gridCol w="1188720"/>
                <a:gridCol w="822960"/>
                <a:gridCol w="1737360"/>
              </a:tblGrid>
              <a:tr h="274320">
                <a:tc>
                  <a:txBody>
                    <a:bodyPr/>
                    <a:lstStyle/>
                    <a:p>
                      <a:pPr indent="0" marL="0">
                        <a:buNone/>
                      </a:pPr>
                      <a:r>
                        <a:rPr lang="en-US" sz="1000" b="1" dirty="0">
                          <a:solidFill>
                            <a:srgbClr val="FFFFFF"/>
                          </a:solidFill>
                          <a:latin typeface="Arial" pitchFamily="34" charset="0"/>
                          <a:ea typeface="Arial" pitchFamily="34" charset="-122"/>
                          <a:cs typeface="Arial" pitchFamily="34" charset="-120"/>
                        </a:rPr>
                        <a:t>Project</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solidFill>
                      <a:srgbClr val="1A2744"/>
                    </a:solidFill>
                  </a:tcPr>
                </a:tc>
                <a:tc>
                  <a:txBody>
                    <a:bodyPr/>
                    <a:lstStyle/>
                    <a:p>
                      <a:pPr algn="r" indent="0" marL="0">
                        <a:buNone/>
                      </a:pPr>
                      <a:r>
                        <a:rPr lang="en-US" sz="1000" b="1" dirty="0">
                          <a:solidFill>
                            <a:srgbClr val="FFFFFF"/>
                          </a:solidFill>
                          <a:latin typeface="Arial" pitchFamily="34" charset="0"/>
                          <a:ea typeface="Arial" pitchFamily="34" charset="-122"/>
                          <a:cs typeface="Arial" pitchFamily="34" charset="-120"/>
                        </a:rPr>
                        <a:t>Amount</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solidFill>
                      <a:srgbClr val="1A2744"/>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Notes</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solidFill>
                      <a:srgbClr val="1A2744"/>
                    </a:solidFill>
                  </a:tcPr>
                </a:tc>
              </a:tr>
              <a:tr h="274320">
                <a:tc>
                  <a:txBody>
                    <a:bodyPr/>
                    <a:lstStyle/>
                    <a:p>
                      <a:pPr indent="0" marL="0">
                        <a:buNone/>
                      </a:pPr>
                      <a:r>
                        <a:rPr lang="en-US" sz="1000" b="1" dirty="0">
                          <a:solidFill>
                            <a:srgbClr val="2D3748"/>
                          </a:solidFill>
                          <a:latin typeface="Arial" pitchFamily="34" charset="0"/>
                          <a:ea typeface="Arial" pitchFamily="34" charset="-122"/>
                          <a:cs typeface="Arial" pitchFamily="34" charset="-120"/>
                        </a:rPr>
                        <a:t>Ripple Buyback</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r" indent="0" marL="0">
                        <a:buNone/>
                      </a:pPr>
                      <a:r>
                        <a:rPr lang="en-US" sz="1000" dirty="0">
                          <a:solidFill>
                            <a:srgbClr val="2D3748"/>
                          </a:solidFill>
                          <a:latin typeface="Arial" pitchFamily="34" charset="0"/>
                          <a:ea typeface="Arial" pitchFamily="34" charset="-122"/>
                          <a:cs typeface="Arial" pitchFamily="34" charset="-120"/>
                        </a:rPr>
                        <a:t>$750M</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900" dirty="0">
                          <a:solidFill>
                            <a:srgbClr val="8C95A6"/>
                          </a:solidFill>
                          <a:latin typeface="Arial" pitchFamily="34" charset="0"/>
                          <a:ea typeface="Arial" pitchFamily="34" charset="-122"/>
                          <a:cs typeface="Arial" pitchFamily="34" charset="-120"/>
                        </a:rPr>
                        <a:t>Valuation $50B</a:t>
                      </a:r>
                      <a:endParaRPr lang="en-US" sz="9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r>
              <a:tr h="274320">
                <a:tc>
                  <a:txBody>
                    <a:bodyPr/>
                    <a:lstStyle/>
                    <a:p>
                      <a:pPr indent="0" marL="0">
                        <a:buNone/>
                      </a:pPr>
                      <a:r>
                        <a:rPr lang="en-US" sz="1000" b="1" dirty="0">
                          <a:solidFill>
                            <a:srgbClr val="2D3748"/>
                          </a:solidFill>
                          <a:latin typeface="Arial" pitchFamily="34" charset="0"/>
                          <a:ea typeface="Arial" pitchFamily="34" charset="-122"/>
                          <a:cs typeface="Arial" pitchFamily="34" charset="-120"/>
                        </a:rPr>
                        <a:t>ASTER Unlock</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r" indent="0" marL="0">
                        <a:buNone/>
                      </a:pPr>
                      <a:r>
                        <a:rPr lang="en-US" sz="1000" dirty="0">
                          <a:solidFill>
                            <a:srgbClr val="2D3748"/>
                          </a:solidFill>
                          <a:latin typeface="Arial" pitchFamily="34" charset="0"/>
                          <a:ea typeface="Arial" pitchFamily="34" charset="-122"/>
                          <a:cs typeface="Arial" pitchFamily="34" charset="-120"/>
                        </a:rPr>
                        <a:t>~$56M</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900" dirty="0">
                          <a:solidFill>
                            <a:srgbClr val="8C95A6"/>
                          </a:solidFill>
                          <a:latin typeface="Arial" pitchFamily="34" charset="0"/>
                          <a:ea typeface="Arial" pitchFamily="34" charset="-122"/>
                          <a:cs typeface="Arial" pitchFamily="34" charset="-120"/>
                        </a:rPr>
                        <a:t>3/17: 78.14M tokens</a:t>
                      </a:r>
                      <a:endParaRPr lang="en-US" sz="9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r>
              <a:tr h="274320">
                <a:tc>
                  <a:txBody>
                    <a:bodyPr/>
                    <a:lstStyle/>
                    <a:p>
                      <a:pPr indent="0" marL="0">
                        <a:buNone/>
                      </a:pPr>
                      <a:r>
                        <a:rPr lang="en-US" sz="1000" b="1" dirty="0">
                          <a:solidFill>
                            <a:srgbClr val="2D3748"/>
                          </a:solidFill>
                          <a:latin typeface="Arial" pitchFamily="34" charset="0"/>
                          <a:ea typeface="Arial" pitchFamily="34" charset="-122"/>
                          <a:cs typeface="Arial" pitchFamily="34" charset="-120"/>
                        </a:rPr>
                        <a:t>LayerZero ZRO</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r" indent="0" marL="0">
                        <a:buNone/>
                      </a:pPr>
                      <a:r>
                        <a:rPr lang="en-US" sz="1000" dirty="0">
                          <a:solidFill>
                            <a:srgbClr val="2D3748"/>
                          </a:solidFill>
                          <a:latin typeface="Arial" pitchFamily="34" charset="0"/>
                          <a:ea typeface="Arial" pitchFamily="34" charset="-122"/>
                          <a:cs typeface="Arial" pitchFamily="34" charset="-120"/>
                        </a:rPr>
                        <a:t>~$45M</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900" dirty="0">
                          <a:solidFill>
                            <a:srgbClr val="8C95A6"/>
                          </a:solidFill>
                          <a:latin typeface="Arial" pitchFamily="34" charset="0"/>
                          <a:ea typeface="Arial" pitchFamily="34" charset="-122"/>
                          <a:cs typeface="Arial" pitchFamily="34" charset="-120"/>
                        </a:rPr>
                        <a:t>3/20 unlock; 2.47% of MCap</a:t>
                      </a:r>
                      <a:endParaRPr lang="en-US" sz="9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r>
              <a:tr h="274320">
                <a:tc>
                  <a:txBody>
                    <a:bodyPr/>
                    <a:lstStyle/>
                    <a:p>
                      <a:pPr indent="0" marL="0">
                        <a:buNone/>
                      </a:pPr>
                      <a:r>
                        <a:rPr lang="en-US" sz="1000" b="1" dirty="0">
                          <a:solidFill>
                            <a:srgbClr val="2D3748"/>
                          </a:solidFill>
                          <a:latin typeface="Arial" pitchFamily="34" charset="0"/>
                          <a:ea typeface="Arial" pitchFamily="34" charset="-122"/>
                          <a:cs typeface="Arial" pitchFamily="34" charset="-120"/>
                        </a:rPr>
                        <a:t>ETH Foundation</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r" indent="0" marL="0">
                        <a:buNone/>
                      </a:pPr>
                      <a:r>
                        <a:rPr lang="en-US" sz="1000" dirty="0">
                          <a:solidFill>
                            <a:srgbClr val="2D3748"/>
                          </a:solidFill>
                          <a:latin typeface="Arial" pitchFamily="34" charset="0"/>
                          <a:ea typeface="Arial" pitchFamily="34" charset="-122"/>
                          <a:cs typeface="Arial" pitchFamily="34" charset="-120"/>
                        </a:rPr>
                        <a:t>$10M</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900" dirty="0">
                          <a:solidFill>
                            <a:srgbClr val="8C95A6"/>
                          </a:solidFill>
                          <a:latin typeface="Arial" pitchFamily="34" charset="0"/>
                          <a:ea typeface="Arial" pitchFamily="34" charset="-122"/>
                          <a:cs typeface="Arial" pitchFamily="34" charset="-120"/>
                        </a:rPr>
                        <a:t>OTC sale of 5,000 ETH</a:t>
                      </a:r>
                      <a:endParaRPr lang="en-US" sz="9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r>
            </a:tbl>
          </a:graphicData>
        </a:graphic>
      </p:graphicFrame>
      <p:sp>
        <p:nvSpPr>
          <p:cNvPr id="21" name="Shape 18"/>
          <p:cNvSpPr/>
          <p:nvPr/>
        </p:nvSpPr>
        <p:spPr>
          <a:xfrm>
            <a:off x="4846320" y="2834640"/>
            <a:ext cx="3749040" cy="777240"/>
          </a:xfrm>
          <a:prstGeom prst="rect">
            <a:avLst/>
          </a:prstGeom>
          <a:solidFill>
            <a:srgbClr val="FFF8E7"/>
          </a:solidFill>
          <a:ln/>
          <a:effectLst>
            <a:outerShdw sx="100000" sy="100000" kx="0" ky="0" algn="bl" rotWithShape="0" blurRad="50800" dist="25400" dir="8100000">
              <a:srgbClr val="000000">
                <a:alpha val="12000"/>
              </a:srgbClr>
            </a:outerShdw>
          </a:effectLst>
        </p:spPr>
      </p:sp>
      <p:sp>
        <p:nvSpPr>
          <p:cNvPr id="22" name="Shape 19"/>
          <p:cNvSpPr/>
          <p:nvPr/>
        </p:nvSpPr>
        <p:spPr>
          <a:xfrm>
            <a:off x="4846320" y="2834640"/>
            <a:ext cx="54864" cy="777240"/>
          </a:xfrm>
          <a:prstGeom prst="rect">
            <a:avLst/>
          </a:prstGeom>
          <a:solidFill>
            <a:srgbClr val="C9A96E"/>
          </a:solidFill>
          <a:ln/>
        </p:spPr>
      </p:sp>
      <p:sp>
        <p:nvSpPr>
          <p:cNvPr id="23" name="Text 20"/>
          <p:cNvSpPr/>
          <p:nvPr/>
        </p:nvSpPr>
        <p:spPr>
          <a:xfrm>
            <a:off x="5074920" y="2880360"/>
            <a:ext cx="3383280" cy="685800"/>
          </a:xfrm>
          <a:prstGeom prst="rect">
            <a:avLst/>
          </a:prstGeom>
          <a:noFill/>
          <a:ln/>
        </p:spPr>
        <p:txBody>
          <a:bodyPr wrap="square" lIns="0" tIns="0" rIns="0" bIns="0" rtlCol="0" anchor="ctr"/>
          <a:lstStyle/>
          <a:p>
            <a:pPr indent="0" marL="0">
              <a:buNone/>
            </a:pPr>
            <a:r>
              <a:rPr lang="en-US" sz="1000" b="1" dirty="0">
                <a:solidFill>
                  <a:srgbClr val="1A2744"/>
                </a:solidFill>
                <a:latin typeface="Arial" pitchFamily="34" charset="0"/>
                <a:ea typeface="Arial" pitchFamily="34" charset="-122"/>
                <a:cs typeface="Arial" pitchFamily="34" charset="-120"/>
              </a:rPr>
              <a:t>Trend: </a:t>
            </a:r>
            <a:pPr indent="0" marL="0">
              <a:buNone/>
            </a:pPr>
            <a:r>
              <a:rPr lang="en-US" sz="1000" dirty="0">
                <a:solidFill>
                  <a:srgbClr val="2D3748"/>
                </a:solidFill>
                <a:latin typeface="Arial" pitchFamily="34" charset="0"/>
                <a:ea typeface="Arial" pitchFamily="34" charset="-122"/>
                <a:cs typeface="Arial" pitchFamily="34" charset="-120"/>
              </a:rPr>
              <a:t>Last quarter fundraising volume down 62%, but avg deal size up 272% to $34M. Industry M&amp;A expected to exceed $37B in 2026. Kraken, BitGo, Chainalysis top IPO candidates.</a:t>
            </a:r>
            <a:endParaRPr lang="en-US" sz="1000" dirty="0"/>
          </a:p>
        </p:txBody>
      </p:sp>
      <p:sp>
        <p:nvSpPr>
          <p:cNvPr id="24" name="Shape 21"/>
          <p:cNvSpPr/>
          <p:nvPr/>
        </p:nvSpPr>
        <p:spPr>
          <a:xfrm>
            <a:off x="0" y="4800600"/>
            <a:ext cx="9144000" cy="342900"/>
          </a:xfrm>
          <a:prstGeom prst="rect">
            <a:avLst/>
          </a:prstGeom>
          <a:solidFill>
            <a:srgbClr val="1A2744"/>
          </a:solidFill>
          <a:ln/>
        </p:spPr>
      </p:sp>
      <p:sp>
        <p:nvSpPr>
          <p:cNvPr id="25" name="Text 22"/>
          <p:cNvSpPr/>
          <p:nvPr/>
        </p:nvSpPr>
        <p:spPr>
          <a:xfrm>
            <a:off x="457200" y="4800600"/>
            <a:ext cx="8229600" cy="342900"/>
          </a:xfrm>
          <a:prstGeom prst="rect">
            <a:avLst/>
          </a:prstGeom>
          <a:noFill/>
          <a:ln/>
        </p:spPr>
        <p:txBody>
          <a:bodyPr wrap="square" lIns="0" tIns="0" rIns="0" bIns="0" rtlCol="0" anchor="ctr"/>
          <a:lstStyle/>
          <a:p>
            <a:pPr indent="0" marL="0">
              <a:buNone/>
            </a:pPr>
            <a:r>
              <a:rPr lang="en-US" sz="800" dirty="0">
                <a:solidFill>
                  <a:srgbClr val="8C95A6"/>
                </a:solidFill>
                <a:latin typeface="Arial" pitchFamily="34" charset="0"/>
                <a:ea typeface="Arial" pitchFamily="34" charset="-122"/>
                <a:cs typeface="Arial" pitchFamily="34" charset="-120"/>
              </a:rPr>
              <a:t>Crypto Market Weekly | 2026.03.09–03.15</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6F8"/>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A2744"/>
          </a:solidFill>
          <a:ln/>
        </p:spPr>
      </p:sp>
      <p:sp>
        <p:nvSpPr>
          <p:cNvPr id="3" name="Text 1"/>
          <p:cNvSpPr/>
          <p:nvPr/>
        </p:nvSpPr>
        <p:spPr>
          <a:xfrm>
            <a:off x="548640" y="0"/>
            <a:ext cx="8229600" cy="6400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  Security &amp; Sector Highlights</a:t>
            </a:r>
            <a:endParaRPr lang="en-US" sz="2000" dirty="0"/>
          </a:p>
        </p:txBody>
      </p:sp>
      <p:sp>
        <p:nvSpPr>
          <p:cNvPr id="4" name="Shape 2"/>
          <p:cNvSpPr/>
          <p:nvPr/>
        </p:nvSpPr>
        <p:spPr>
          <a:xfrm>
            <a:off x="365760" y="822960"/>
            <a:ext cx="4114800" cy="2148840"/>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5" name="Shape 3"/>
          <p:cNvSpPr/>
          <p:nvPr/>
        </p:nvSpPr>
        <p:spPr>
          <a:xfrm>
            <a:off x="365760" y="822960"/>
            <a:ext cx="4114800" cy="320040"/>
          </a:xfrm>
          <a:prstGeom prst="rect">
            <a:avLst/>
          </a:prstGeom>
          <a:solidFill>
            <a:srgbClr val="C53030"/>
          </a:solidFill>
          <a:ln/>
        </p:spPr>
      </p:sp>
      <p:sp>
        <p:nvSpPr>
          <p:cNvPr id="6" name="Text 4"/>
          <p:cNvSpPr/>
          <p:nvPr/>
        </p:nvSpPr>
        <p:spPr>
          <a:xfrm>
            <a:off x="548640" y="822960"/>
            <a:ext cx="3840480" cy="32004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Security Incidents  |  Weekly Loss: ~$81M</a:t>
            </a:r>
            <a:endParaRPr lang="en-US" sz="11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02920" y="1234440"/>
          <a:ext cx="3840480" cy="914400"/>
        </p:xfrm>
        <a:graphic>
          <a:graphicData uri="http://schemas.openxmlformats.org/drawingml/2006/table">
            <a:tbl>
              <a:tblPr/>
              <a:tblGrid>
                <a:gridCol w="1280160"/>
                <a:gridCol w="1005840"/>
                <a:gridCol w="1554480"/>
              </a:tblGrid>
              <a:tr h="256032">
                <a:tc>
                  <a:txBody>
                    <a:bodyPr/>
                    <a:lstStyle/>
                    <a:p>
                      <a:pPr indent="0" marL="0">
                        <a:buNone/>
                      </a:pPr>
                      <a:r>
                        <a:rPr lang="en-US" sz="900" b="1" dirty="0">
                          <a:solidFill>
                            <a:srgbClr val="2D3748"/>
                          </a:solidFill>
                          <a:latin typeface="Arial" pitchFamily="34" charset="0"/>
                          <a:ea typeface="Arial" pitchFamily="34" charset="-122"/>
                          <a:cs typeface="Arial" pitchFamily="34" charset="-120"/>
                        </a:rPr>
                        <a:t>Incident</a:t>
                      </a:r>
                      <a:endParaRPr lang="en-US" sz="9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solidFill>
                      <a:srgbClr val="E8EBF0"/>
                    </a:solidFill>
                  </a:tcPr>
                </a:tc>
                <a:tc>
                  <a:txBody>
                    <a:bodyPr/>
                    <a:lstStyle/>
                    <a:p>
                      <a:pPr algn="r" indent="0" marL="0">
                        <a:buNone/>
                      </a:pPr>
                      <a:r>
                        <a:rPr lang="en-US" sz="900" b="1" dirty="0">
                          <a:solidFill>
                            <a:srgbClr val="2D3748"/>
                          </a:solidFill>
                          <a:latin typeface="Arial" pitchFamily="34" charset="0"/>
                          <a:ea typeface="Arial" pitchFamily="34" charset="-122"/>
                          <a:cs typeface="Arial" pitchFamily="34" charset="-120"/>
                        </a:rPr>
                        <a:t>Loss</a:t>
                      </a:r>
                      <a:endParaRPr lang="en-US" sz="9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solidFill>
                      <a:srgbClr val="E8EBF0"/>
                    </a:solidFill>
                  </a:tcPr>
                </a:tc>
                <a:tc>
                  <a:txBody>
                    <a:bodyPr/>
                    <a:lstStyle/>
                    <a:p>
                      <a:pPr indent="0" marL="0">
                        <a:buNone/>
                      </a:pPr>
                      <a:r>
                        <a:rPr lang="en-US" sz="900" b="1" dirty="0">
                          <a:solidFill>
                            <a:srgbClr val="2D3748"/>
                          </a:solidFill>
                          <a:latin typeface="Arial" pitchFamily="34" charset="0"/>
                          <a:ea typeface="Arial" pitchFamily="34" charset="-122"/>
                          <a:cs typeface="Arial" pitchFamily="34" charset="-120"/>
                        </a:rPr>
                        <a:t>Vector</a:t>
                      </a:r>
                      <a:endParaRPr lang="en-US" sz="9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solidFill>
                      <a:srgbClr val="E8EBF0"/>
                    </a:solidFill>
                  </a:tcPr>
                </a:tc>
              </a:tr>
              <a:tr h="256032">
                <a:tc>
                  <a:txBody>
                    <a:bodyPr/>
                    <a:lstStyle/>
                    <a:p>
                      <a:pPr indent="0" marL="0">
                        <a:buNone/>
                      </a:pPr>
                      <a:r>
                        <a:rPr lang="en-US" sz="900" dirty="0">
                          <a:solidFill>
                            <a:srgbClr val="000000"/>
                          </a:solidFill>
                          <a:latin typeface="Arial" pitchFamily="34" charset="0"/>
                          <a:ea typeface="Arial" pitchFamily="34" charset="-122"/>
                          <a:cs typeface="Arial" pitchFamily="34" charset="-120"/>
                        </a:rPr>
                        <a:t>Aave Slippage</a:t>
                      </a:r>
                      <a:endParaRPr lang="en-US" sz="9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r" indent="0" marL="0">
                        <a:buNone/>
                      </a:pPr>
                      <a:r>
                        <a:rPr lang="en-US" sz="900" dirty="0">
                          <a:solidFill>
                            <a:srgbClr val="C53030"/>
                          </a:solidFill>
                          <a:latin typeface="Arial" pitchFamily="34" charset="0"/>
                          <a:ea typeface="Arial" pitchFamily="34" charset="-122"/>
                          <a:cs typeface="Arial" pitchFamily="34" charset="-120"/>
                        </a:rPr>
                        <a:t>~$50M</a:t>
                      </a:r>
                      <a:endParaRPr lang="en-US" sz="9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900" dirty="0">
                          <a:solidFill>
                            <a:srgbClr val="8C95A6"/>
                          </a:solidFill>
                          <a:latin typeface="Arial" pitchFamily="34" charset="0"/>
                          <a:ea typeface="Arial" pitchFamily="34" charset="-122"/>
                          <a:cs typeface="Arial" pitchFamily="34" charset="-120"/>
                        </a:rPr>
                        <a:t>Extreme slippage/MEV</a:t>
                      </a:r>
                      <a:endParaRPr lang="en-US" sz="9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r>
              <a:tr h="256032">
                <a:tc>
                  <a:txBody>
                    <a:bodyPr/>
                    <a:lstStyle/>
                    <a:p>
                      <a:pPr indent="0" marL="0">
                        <a:buNone/>
                      </a:pPr>
                      <a:r>
                        <a:rPr lang="en-US" sz="900" dirty="0">
                          <a:solidFill>
                            <a:srgbClr val="000000"/>
                          </a:solidFill>
                          <a:latin typeface="Arial" pitchFamily="34" charset="0"/>
                          <a:ea typeface="Arial" pitchFamily="34" charset="-122"/>
                          <a:cs typeface="Arial" pitchFamily="34" charset="-120"/>
                        </a:rPr>
                        <a:t>Aave Oracle</a:t>
                      </a:r>
                      <a:endParaRPr lang="en-US" sz="9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r" indent="0" marL="0">
                        <a:buNone/>
                      </a:pPr>
                      <a:r>
                        <a:rPr lang="en-US" sz="900" dirty="0">
                          <a:solidFill>
                            <a:srgbClr val="C53030"/>
                          </a:solidFill>
                          <a:latin typeface="Arial" pitchFamily="34" charset="0"/>
                          <a:ea typeface="Arial" pitchFamily="34" charset="-122"/>
                          <a:cs typeface="Arial" pitchFamily="34" charset="-120"/>
                        </a:rPr>
                        <a:t>$27.78M</a:t>
                      </a:r>
                      <a:endParaRPr lang="en-US" sz="9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900" dirty="0">
                          <a:solidFill>
                            <a:srgbClr val="8C95A6"/>
                          </a:solidFill>
                          <a:latin typeface="Arial" pitchFamily="34" charset="0"/>
                          <a:ea typeface="Arial" pitchFamily="34" charset="-122"/>
                          <a:cs typeface="Arial" pitchFamily="34" charset="-120"/>
                        </a:rPr>
                        <a:t>wstETH config error (refunded)</a:t>
                      </a:r>
                      <a:endParaRPr lang="en-US" sz="9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r>
              <a:tr h="256032">
                <a:tc>
                  <a:txBody>
                    <a:bodyPr/>
                    <a:lstStyle/>
                    <a:p>
                      <a:pPr indent="0" marL="0">
                        <a:buNone/>
                      </a:pPr>
                      <a:r>
                        <a:rPr lang="en-US" sz="900" dirty="0">
                          <a:solidFill>
                            <a:srgbClr val="000000"/>
                          </a:solidFill>
                          <a:latin typeface="Arial" pitchFamily="34" charset="0"/>
                          <a:ea typeface="Arial" pitchFamily="34" charset="-122"/>
                          <a:cs typeface="Arial" pitchFamily="34" charset="-120"/>
                        </a:rPr>
                        <a:t>Solv Protocol</a:t>
                      </a:r>
                      <a:endParaRPr lang="en-US" sz="9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r" indent="0" marL="0">
                        <a:buNone/>
                      </a:pPr>
                      <a:r>
                        <a:rPr lang="en-US" sz="900" dirty="0">
                          <a:solidFill>
                            <a:srgbClr val="C53030"/>
                          </a:solidFill>
                          <a:latin typeface="Arial" pitchFamily="34" charset="0"/>
                          <a:ea typeface="Arial" pitchFamily="34" charset="-122"/>
                          <a:cs typeface="Arial" pitchFamily="34" charset="-120"/>
                        </a:rPr>
                        <a:t>$2.73M</a:t>
                      </a:r>
                      <a:endParaRPr lang="en-US" sz="9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900" dirty="0">
                          <a:solidFill>
                            <a:srgbClr val="8C95A6"/>
                          </a:solidFill>
                          <a:latin typeface="Arial" pitchFamily="34" charset="0"/>
                          <a:ea typeface="Arial" pitchFamily="34" charset="-122"/>
                          <a:cs typeface="Arial" pitchFamily="34" charset="-120"/>
                        </a:rPr>
                        <a:t>Unaudited contract</a:t>
                      </a:r>
                      <a:endParaRPr lang="en-US" sz="9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r>
              <a:tr h="256032">
                <a:tc>
                  <a:txBody>
                    <a:bodyPr/>
                    <a:lstStyle/>
                    <a:p>
                      <a:pPr indent="0" marL="0">
                        <a:buNone/>
                      </a:pPr>
                      <a:r>
                        <a:rPr lang="en-US" sz="900" dirty="0">
                          <a:solidFill>
                            <a:srgbClr val="000000"/>
                          </a:solidFill>
                          <a:latin typeface="Arial" pitchFamily="34" charset="0"/>
                          <a:ea typeface="Arial" pitchFamily="34" charset="-122"/>
                          <a:cs typeface="Arial" pitchFamily="34" charset="-120"/>
                        </a:rPr>
                        <a:t>Bonk.fun DNS</a:t>
                      </a:r>
                      <a:endParaRPr lang="en-US" sz="9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r" indent="0" marL="0">
                        <a:buNone/>
                      </a:pPr>
                      <a:r>
                        <a:rPr lang="en-US" sz="900" dirty="0">
                          <a:solidFill>
                            <a:srgbClr val="C53030"/>
                          </a:solidFill>
                          <a:latin typeface="Arial" pitchFamily="34" charset="0"/>
                          <a:ea typeface="Arial" pitchFamily="34" charset="-122"/>
                          <a:cs typeface="Arial" pitchFamily="34" charset="-120"/>
                        </a:rPr>
                        <a:t>N/A</a:t>
                      </a:r>
                      <a:endParaRPr lang="en-US" sz="9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900" dirty="0">
                          <a:solidFill>
                            <a:srgbClr val="8C95A6"/>
                          </a:solidFill>
                          <a:latin typeface="Arial" pitchFamily="34" charset="0"/>
                          <a:ea typeface="Arial" pitchFamily="34" charset="-122"/>
                          <a:cs typeface="Arial" pitchFamily="34" charset="-120"/>
                        </a:rPr>
                        <a:t>DNS hijack + phishing</a:t>
                      </a:r>
                      <a:endParaRPr lang="en-US" sz="9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r>
            </a:tbl>
          </a:graphicData>
        </a:graphic>
      </p:graphicFrame>
      <p:sp>
        <p:nvSpPr>
          <p:cNvPr id="8" name="Shape 5"/>
          <p:cNvSpPr/>
          <p:nvPr/>
        </p:nvSpPr>
        <p:spPr>
          <a:xfrm>
            <a:off x="4663440" y="822960"/>
            <a:ext cx="4114800" cy="1691640"/>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9" name="Shape 6"/>
          <p:cNvSpPr/>
          <p:nvPr/>
        </p:nvSpPr>
        <p:spPr>
          <a:xfrm>
            <a:off x="4663440" y="822960"/>
            <a:ext cx="4114800" cy="320040"/>
          </a:xfrm>
          <a:prstGeom prst="rect">
            <a:avLst/>
          </a:prstGeom>
          <a:solidFill>
            <a:srgbClr val="1A2744"/>
          </a:solidFill>
          <a:ln/>
        </p:spPr>
      </p:sp>
      <p:sp>
        <p:nvSpPr>
          <p:cNvPr id="10" name="Text 7"/>
          <p:cNvSpPr/>
          <p:nvPr/>
        </p:nvSpPr>
        <p:spPr>
          <a:xfrm>
            <a:off x="4846320" y="822960"/>
            <a:ext cx="3657600" cy="32004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AI × Crypto</a:t>
            </a:r>
            <a:endParaRPr lang="en-US" sz="1100" dirty="0"/>
          </a:p>
        </p:txBody>
      </p:sp>
      <p:sp>
        <p:nvSpPr>
          <p:cNvPr id="11" name="Text 8"/>
          <p:cNvSpPr/>
          <p:nvPr/>
        </p:nvSpPr>
        <p:spPr>
          <a:xfrm>
            <a:off x="4846320" y="1234440"/>
            <a:ext cx="3749040" cy="1188720"/>
          </a:xfrm>
          <a:prstGeom prst="rect">
            <a:avLst/>
          </a:prstGeom>
          <a:noFill/>
          <a:ln/>
        </p:spPr>
        <p:txBody>
          <a:bodyPr wrap="square" lIns="0" tIns="0" rIns="0" bIns="0" rtlCol="0" anchor="ctr"/>
          <a:lstStyle/>
          <a:p>
            <a:pPr marL="342900" indent="-342900">
              <a:spcAft>
                <a:spcPts val="400"/>
              </a:spcAft>
              <a:buSzPct val="100000"/>
              <a:buChar char="•"/>
            </a:pPr>
            <a:r>
              <a:rPr lang="en-US" sz="1000" dirty="0">
                <a:solidFill>
                  <a:srgbClr val="2D3748"/>
                </a:solidFill>
                <a:latin typeface="Arial" pitchFamily="34" charset="0"/>
                <a:ea typeface="Arial" pitchFamily="34" charset="-122"/>
                <a:cs typeface="Arial" pitchFamily="34" charset="-120"/>
              </a:rPr>
              <a:t>Messari: 2026 is AI-blockchain “systemic integration” year</a:t>
            </a:r>
            <a:endParaRPr lang="en-US" sz="1000" dirty="0"/>
          </a:p>
          <a:p>
            <a:pPr marL="342900" indent="-342900">
              <a:spcAft>
                <a:spcPts val="400"/>
              </a:spcAft>
              <a:buSzPct val="100000"/>
              <a:buChar char="•"/>
            </a:pPr>
            <a:r>
              <a:rPr lang="en-US" sz="1000" dirty="0">
                <a:solidFill>
                  <a:srgbClr val="2D3748"/>
                </a:solidFill>
                <a:latin typeface="Arial" pitchFamily="34" charset="0"/>
                <a:ea typeface="Arial" pitchFamily="34" charset="-122"/>
                <a:cs typeface="Arial" pitchFamily="34" charset="-120"/>
              </a:rPr>
              <a:t>TRON joins Agentic AI Foundation (first major L1)</a:t>
            </a:r>
            <a:endParaRPr lang="en-US" sz="1000" dirty="0"/>
          </a:p>
          <a:p>
            <a:pPr marL="342900" indent="-342900">
              <a:spcAft>
                <a:spcPts val="400"/>
              </a:spcAft>
              <a:buSzPct val="100000"/>
              <a:buChar char="•"/>
            </a:pPr>
            <a:r>
              <a:rPr lang="en-US" sz="1000" dirty="0">
                <a:solidFill>
                  <a:srgbClr val="2D3748"/>
                </a:solidFill>
                <a:latin typeface="Arial" pitchFamily="34" charset="0"/>
                <a:ea typeface="Arial" pitchFamily="34" charset="-122"/>
                <a:cs typeface="Arial" pitchFamily="34" charset="-120"/>
              </a:rPr>
              <a:t>ElizaOS becomes standard AI Agent personality framework</a:t>
            </a:r>
            <a:endParaRPr lang="en-US" sz="1000" dirty="0"/>
          </a:p>
        </p:txBody>
      </p:sp>
      <p:sp>
        <p:nvSpPr>
          <p:cNvPr id="12" name="Shape 9"/>
          <p:cNvSpPr/>
          <p:nvPr/>
        </p:nvSpPr>
        <p:spPr>
          <a:xfrm>
            <a:off x="4663440" y="2697480"/>
            <a:ext cx="4114800" cy="1691640"/>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13" name="Shape 10"/>
          <p:cNvSpPr/>
          <p:nvPr/>
        </p:nvSpPr>
        <p:spPr>
          <a:xfrm>
            <a:off x="4663440" y="2697480"/>
            <a:ext cx="4114800" cy="320040"/>
          </a:xfrm>
          <a:prstGeom prst="rect">
            <a:avLst/>
          </a:prstGeom>
          <a:solidFill>
            <a:srgbClr val="1A2744"/>
          </a:solidFill>
          <a:ln/>
        </p:spPr>
      </p:sp>
      <p:sp>
        <p:nvSpPr>
          <p:cNvPr id="14" name="Text 11"/>
          <p:cNvSpPr/>
          <p:nvPr/>
        </p:nvSpPr>
        <p:spPr>
          <a:xfrm>
            <a:off x="4846320" y="2697480"/>
            <a:ext cx="3657600" cy="32004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Prediction Markets</a:t>
            </a:r>
            <a:endParaRPr lang="en-US" sz="1100" dirty="0"/>
          </a:p>
        </p:txBody>
      </p:sp>
      <p:sp>
        <p:nvSpPr>
          <p:cNvPr id="15" name="Text 12"/>
          <p:cNvSpPr/>
          <p:nvPr/>
        </p:nvSpPr>
        <p:spPr>
          <a:xfrm>
            <a:off x="4846320" y="3108960"/>
            <a:ext cx="3749040" cy="1188720"/>
          </a:xfrm>
          <a:prstGeom prst="rect">
            <a:avLst/>
          </a:prstGeom>
          <a:noFill/>
          <a:ln/>
        </p:spPr>
        <p:txBody>
          <a:bodyPr wrap="square" lIns="0" tIns="0" rIns="0" bIns="0" rtlCol="0" anchor="ctr"/>
          <a:lstStyle/>
          <a:p>
            <a:pPr marL="342900" indent="-342900">
              <a:spcAft>
                <a:spcPts val="400"/>
              </a:spcAft>
              <a:buSzPct val="100000"/>
              <a:buChar char="•"/>
            </a:pPr>
            <a:r>
              <a:rPr lang="en-US" sz="1000" dirty="0">
                <a:solidFill>
                  <a:srgbClr val="2D3748"/>
                </a:solidFill>
                <a:latin typeface="Arial" pitchFamily="34" charset="0"/>
                <a:ea typeface="Arial" pitchFamily="34" charset="-122"/>
                <a:cs typeface="Arial" pitchFamily="34" charset="-120"/>
              </a:rPr>
              <a:t>Polymarket &amp; Kalshi eyeing $20B valuations</a:t>
            </a:r>
            <a:endParaRPr lang="en-US" sz="1000" dirty="0"/>
          </a:p>
          <a:p>
            <a:pPr marL="342900" indent="-342900">
              <a:spcAft>
                <a:spcPts val="400"/>
              </a:spcAft>
              <a:buSzPct val="100000"/>
              <a:buChar char="•"/>
            </a:pPr>
            <a:r>
              <a:rPr lang="en-US" sz="1000" dirty="0">
                <a:solidFill>
                  <a:srgbClr val="2D3748"/>
                </a:solidFill>
                <a:latin typeface="Arial" pitchFamily="34" charset="0"/>
                <a:ea typeface="Arial" pitchFamily="34" charset="-122"/>
                <a:cs typeface="Arial" pitchFamily="34" charset="-120"/>
              </a:rPr>
              <a:t>Ultra-short contracts hit $70M daily; Vitalik criticizes</a:t>
            </a:r>
            <a:endParaRPr lang="en-US" sz="1000" dirty="0"/>
          </a:p>
          <a:p>
            <a:pPr marL="342900" indent="-342900">
              <a:spcAft>
                <a:spcPts val="400"/>
              </a:spcAft>
              <a:buSzPct val="100000"/>
              <a:buChar char="•"/>
            </a:pPr>
            <a:r>
              <a:rPr lang="en-US" sz="1000" dirty="0">
                <a:solidFill>
                  <a:srgbClr val="2D3748"/>
                </a:solidFill>
                <a:latin typeface="Arial" pitchFamily="34" charset="0"/>
                <a:ea typeface="Arial" pitchFamily="34" charset="-122"/>
                <a:cs typeface="Arial" pitchFamily="34" charset="-120"/>
              </a:rPr>
              <a:t>Regulatory pushback: insider trading bill + Utah gambling ban</a:t>
            </a:r>
            <a:endParaRPr lang="en-US" sz="1000" dirty="0"/>
          </a:p>
        </p:txBody>
      </p:sp>
      <p:sp>
        <p:nvSpPr>
          <p:cNvPr id="16" name="Shape 13"/>
          <p:cNvSpPr/>
          <p:nvPr/>
        </p:nvSpPr>
        <p:spPr>
          <a:xfrm>
            <a:off x="365760" y="3200400"/>
            <a:ext cx="4114800" cy="1371600"/>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17" name="Shape 14"/>
          <p:cNvSpPr/>
          <p:nvPr/>
        </p:nvSpPr>
        <p:spPr>
          <a:xfrm>
            <a:off x="365760" y="3200400"/>
            <a:ext cx="4114800" cy="320040"/>
          </a:xfrm>
          <a:prstGeom prst="rect">
            <a:avLst/>
          </a:prstGeom>
          <a:solidFill>
            <a:srgbClr val="1A2744"/>
          </a:solidFill>
          <a:ln/>
        </p:spPr>
      </p:sp>
      <p:sp>
        <p:nvSpPr>
          <p:cNvPr id="18" name="Text 15"/>
          <p:cNvSpPr/>
          <p:nvPr/>
        </p:nvSpPr>
        <p:spPr>
          <a:xfrm>
            <a:off x="548640" y="3200400"/>
            <a:ext cx="3657600" cy="32004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Stablecoins</a:t>
            </a:r>
            <a:endParaRPr lang="en-US" sz="1100" dirty="0"/>
          </a:p>
        </p:txBody>
      </p:sp>
      <p:sp>
        <p:nvSpPr>
          <p:cNvPr id="19" name="Text 16"/>
          <p:cNvSpPr/>
          <p:nvPr/>
        </p:nvSpPr>
        <p:spPr>
          <a:xfrm>
            <a:off x="548640" y="3611880"/>
            <a:ext cx="3749040" cy="822960"/>
          </a:xfrm>
          <a:prstGeom prst="rect">
            <a:avLst/>
          </a:prstGeom>
          <a:noFill/>
          <a:ln/>
        </p:spPr>
        <p:txBody>
          <a:bodyPr wrap="square" lIns="0" tIns="0" rIns="0" bIns="0" rtlCol="0" anchor="ctr"/>
          <a:lstStyle/>
          <a:p>
            <a:pPr marL="342900" indent="-342900">
              <a:spcAft>
                <a:spcPts val="400"/>
              </a:spcAft>
              <a:buSzPct val="100000"/>
              <a:buChar char="•"/>
            </a:pPr>
            <a:r>
              <a:rPr lang="en-US" sz="1000" dirty="0">
                <a:solidFill>
                  <a:srgbClr val="2D3748"/>
                </a:solidFill>
                <a:latin typeface="Arial" pitchFamily="34" charset="0"/>
                <a:ea typeface="Arial" pitchFamily="34" charset="-122"/>
                <a:cs typeface="Arial" pitchFamily="34" charset="-120"/>
              </a:rPr>
              <a:t>Yield stablecoins MCap $22.7B; growing 15x faster than market</a:t>
            </a:r>
            <a:endParaRPr lang="en-US" sz="1000" dirty="0"/>
          </a:p>
          <a:p>
            <a:pPr marL="342900" indent="-342900">
              <a:spcAft>
                <a:spcPts val="400"/>
              </a:spcAft>
              <a:buSzPct val="100000"/>
              <a:buChar char="•"/>
            </a:pPr>
            <a:r>
              <a:rPr lang="en-US" sz="1000" dirty="0">
                <a:solidFill>
                  <a:srgbClr val="2D3748"/>
                </a:solidFill>
                <a:latin typeface="Arial" pitchFamily="34" charset="0"/>
                <a:ea typeface="Arial" pitchFamily="34" charset="-122"/>
                <a:cs typeface="Arial" pitchFamily="34" charset="-120"/>
              </a:rPr>
              <a:t>Visa expands USDC settlement; Hashdex forecasts $600B by EOY</a:t>
            </a:r>
            <a:endParaRPr lang="en-US" sz="1000" dirty="0"/>
          </a:p>
        </p:txBody>
      </p:sp>
      <p:sp>
        <p:nvSpPr>
          <p:cNvPr id="20" name="Shape 17"/>
          <p:cNvSpPr/>
          <p:nvPr/>
        </p:nvSpPr>
        <p:spPr>
          <a:xfrm>
            <a:off x="0" y="4800600"/>
            <a:ext cx="9144000" cy="342900"/>
          </a:xfrm>
          <a:prstGeom prst="rect">
            <a:avLst/>
          </a:prstGeom>
          <a:solidFill>
            <a:srgbClr val="1A2744"/>
          </a:solidFill>
          <a:ln/>
        </p:spPr>
      </p:sp>
      <p:sp>
        <p:nvSpPr>
          <p:cNvPr id="21" name="Text 18"/>
          <p:cNvSpPr/>
          <p:nvPr/>
        </p:nvSpPr>
        <p:spPr>
          <a:xfrm>
            <a:off x="457200" y="4800600"/>
            <a:ext cx="8229600" cy="342900"/>
          </a:xfrm>
          <a:prstGeom prst="rect">
            <a:avLst/>
          </a:prstGeom>
          <a:noFill/>
          <a:ln/>
        </p:spPr>
        <p:txBody>
          <a:bodyPr wrap="square" lIns="0" tIns="0" rIns="0" bIns="0" rtlCol="0" anchor="ctr"/>
          <a:lstStyle/>
          <a:p>
            <a:pPr indent="0" marL="0">
              <a:buNone/>
            </a:pPr>
            <a:r>
              <a:rPr lang="en-US" sz="800" dirty="0">
                <a:solidFill>
                  <a:srgbClr val="8C95A6"/>
                </a:solidFill>
                <a:latin typeface="Arial" pitchFamily="34" charset="0"/>
                <a:ea typeface="Arial" pitchFamily="34" charset="-122"/>
                <a:cs typeface="Arial" pitchFamily="34" charset="-120"/>
              </a:rPr>
              <a:t>Crypto Market Weekly | 2026.03.09–03.15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6F8"/>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A2744"/>
          </a:solidFill>
          <a:ln/>
        </p:spPr>
      </p:sp>
      <p:sp>
        <p:nvSpPr>
          <p:cNvPr id="3" name="Text 1"/>
          <p:cNvSpPr/>
          <p:nvPr/>
        </p:nvSpPr>
        <p:spPr>
          <a:xfrm>
            <a:off x="548640" y="0"/>
            <a:ext cx="8229600" cy="6400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  Upcoming Catalysts &amp; Outlook</a:t>
            </a:r>
            <a:endParaRPr lang="en-US" sz="2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822960"/>
          <a:ext cx="8229600" cy="914400"/>
        </p:xfrm>
        <a:graphic>
          <a:graphicData uri="http://schemas.openxmlformats.org/drawingml/2006/table">
            <a:tbl>
              <a:tblPr/>
              <a:tblGrid>
                <a:gridCol w="822960"/>
                <a:gridCol w="2926080"/>
                <a:gridCol w="1097280"/>
                <a:gridCol w="3383280"/>
              </a:tblGrid>
              <a:tr h="292608">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Date</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solidFill>
                      <a:srgbClr val="1A2744"/>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Event</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solidFill>
                      <a:srgbClr val="1A2744"/>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Asset</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solidFill>
                      <a:srgbClr val="1A2744"/>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Expected Impact</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solidFill>
                      <a:srgbClr val="1A2744"/>
                    </a:solidFill>
                  </a:tcPr>
                </a:tc>
              </a:tr>
              <a:tr h="292608">
                <a:tc>
                  <a:txBody>
                    <a:bodyPr/>
                    <a:lstStyle/>
                    <a:p>
                      <a:pPr algn="ctr" indent="0" marL="0">
                        <a:buNone/>
                      </a:pPr>
                      <a:r>
                        <a:rPr lang="en-US" sz="1000" dirty="0">
                          <a:solidFill>
                            <a:srgbClr val="2D3748"/>
                          </a:solidFill>
                          <a:latin typeface="Arial" pitchFamily="34" charset="0"/>
                          <a:ea typeface="Arial" pitchFamily="34" charset="-122"/>
                          <a:cs typeface="Arial" pitchFamily="34" charset="-120"/>
                        </a:rPr>
                        <a:t>3/16</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1000" dirty="0">
                          <a:solidFill>
                            <a:srgbClr val="2D3748"/>
                          </a:solidFill>
                          <a:latin typeface="Arial" pitchFamily="34" charset="0"/>
                          <a:ea typeface="Arial" pitchFamily="34" charset="-122"/>
                          <a:cs typeface="Arial" pitchFamily="34" charset="-120"/>
                        </a:rPr>
                        <a:t>Neutron Upgrade</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ctr" indent="0" marL="0">
                        <a:buNone/>
                      </a:pPr>
                      <a:r>
                        <a:rPr lang="en-US" sz="1000" b="1" dirty="0">
                          <a:solidFill>
                            <a:srgbClr val="1A2744"/>
                          </a:solidFill>
                          <a:latin typeface="Arial" pitchFamily="34" charset="0"/>
                          <a:ea typeface="Arial" pitchFamily="34" charset="-122"/>
                          <a:cs typeface="Arial" pitchFamily="34" charset="-120"/>
                        </a:rPr>
                        <a:t>NTRN</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900" dirty="0">
                          <a:solidFill>
                            <a:srgbClr val="8C95A6"/>
                          </a:solidFill>
                          <a:latin typeface="Arial" pitchFamily="34" charset="0"/>
                          <a:ea typeface="Arial" pitchFamily="34" charset="-122"/>
                          <a:cs typeface="Arial" pitchFamily="34" charset="-120"/>
                        </a:rPr>
                        <a:t>Enhanced cross-chain capabilities</a:t>
                      </a:r>
                      <a:endParaRPr lang="en-US" sz="9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r>
              <a:tr h="292608">
                <a:tc>
                  <a:txBody>
                    <a:bodyPr/>
                    <a:lstStyle/>
                    <a:p>
                      <a:pPr algn="ctr" indent="0" marL="0">
                        <a:buNone/>
                      </a:pPr>
                      <a:r>
                        <a:rPr lang="en-US" sz="1000" dirty="0">
                          <a:solidFill>
                            <a:srgbClr val="2D3748"/>
                          </a:solidFill>
                          <a:latin typeface="Arial" pitchFamily="34" charset="0"/>
                          <a:ea typeface="Arial" pitchFamily="34" charset="-122"/>
                          <a:cs typeface="Arial" pitchFamily="34" charset="-120"/>
                        </a:rPr>
                        <a:t>3/17</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1000" dirty="0">
                          <a:solidFill>
                            <a:srgbClr val="2D3748"/>
                          </a:solidFill>
                          <a:latin typeface="Arial" pitchFamily="34" charset="0"/>
                          <a:ea typeface="Arial" pitchFamily="34" charset="-122"/>
                          <a:cs typeface="Arial" pitchFamily="34" charset="-120"/>
                        </a:rPr>
                        <a:t>ASTER Token Unlock ($56M)</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ctr" indent="0" marL="0">
                        <a:buNone/>
                      </a:pPr>
                      <a:r>
                        <a:rPr lang="en-US" sz="1000" b="1" dirty="0">
                          <a:solidFill>
                            <a:srgbClr val="1A2744"/>
                          </a:solidFill>
                          <a:latin typeface="Arial" pitchFamily="34" charset="0"/>
                          <a:ea typeface="Arial" pitchFamily="34" charset="-122"/>
                          <a:cs typeface="Arial" pitchFamily="34" charset="-120"/>
                        </a:rPr>
                        <a:t>ASTER</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900" dirty="0">
                          <a:solidFill>
                            <a:srgbClr val="8C95A6"/>
                          </a:solidFill>
                          <a:latin typeface="Arial" pitchFamily="34" charset="0"/>
                          <a:ea typeface="Arial" pitchFamily="34" charset="-122"/>
                          <a:cs typeface="Arial" pitchFamily="34" charset="-120"/>
                        </a:rPr>
                        <a:t>Supply pressure</a:t>
                      </a:r>
                      <a:endParaRPr lang="en-US" sz="9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r>
              <a:tr h="292608">
                <a:tc>
                  <a:txBody>
                    <a:bodyPr/>
                    <a:lstStyle/>
                    <a:p>
                      <a:pPr algn="ctr" indent="0" marL="0">
                        <a:buNone/>
                      </a:pPr>
                      <a:r>
                        <a:rPr lang="en-US" sz="1000" dirty="0">
                          <a:solidFill>
                            <a:srgbClr val="2D3748"/>
                          </a:solidFill>
                          <a:latin typeface="Arial" pitchFamily="34" charset="0"/>
                          <a:ea typeface="Arial" pitchFamily="34" charset="-122"/>
                          <a:cs typeface="Arial" pitchFamily="34" charset="-120"/>
                        </a:rPr>
                        <a:t>3/18</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solidFill>
                      <a:srgbClr val="FFF3E0"/>
                    </a:solidFill>
                  </a:tcPr>
                </a:tc>
                <a:tc>
                  <a:txBody>
                    <a:bodyPr/>
                    <a:lstStyle/>
                    <a:p>
                      <a:pPr indent="0" marL="0">
                        <a:buNone/>
                      </a:pPr>
                      <a:r>
                        <a:rPr lang="en-US" sz="1000" b="1" dirty="0">
                          <a:solidFill>
                            <a:srgbClr val="2D3748"/>
                          </a:solidFill>
                          <a:latin typeface="Arial" pitchFamily="34" charset="0"/>
                          <a:ea typeface="Arial" pitchFamily="34" charset="-122"/>
                          <a:cs typeface="Arial" pitchFamily="34" charset="-120"/>
                        </a:rPr>
                        <a:t>FOMC Rate Decision</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solidFill>
                      <a:srgbClr val="FFF3E0"/>
                    </a:solidFill>
                  </a:tcPr>
                </a:tc>
                <a:tc>
                  <a:txBody>
                    <a:bodyPr/>
                    <a:lstStyle/>
                    <a:p>
                      <a:pPr algn="ctr" indent="0" marL="0">
                        <a:buNone/>
                      </a:pPr>
                      <a:r>
                        <a:rPr lang="en-US" sz="1000" b="1" dirty="0">
                          <a:solidFill>
                            <a:srgbClr val="1A2744"/>
                          </a:solidFill>
                          <a:latin typeface="Arial" pitchFamily="34" charset="0"/>
                          <a:ea typeface="Arial" pitchFamily="34" charset="-122"/>
                          <a:cs typeface="Arial" pitchFamily="34" charset="-120"/>
                        </a:rPr>
                        <a:t>ALL</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solidFill>
                      <a:srgbClr val="FFF3E0"/>
                    </a:solidFill>
                  </a:tcPr>
                </a:tc>
                <a:tc>
                  <a:txBody>
                    <a:bodyPr/>
                    <a:lstStyle/>
                    <a:p>
                      <a:pPr indent="0" marL="0">
                        <a:buNone/>
                      </a:pPr>
                      <a:r>
                        <a:rPr lang="en-US" sz="900" dirty="0">
                          <a:solidFill>
                            <a:srgbClr val="8C95A6"/>
                          </a:solidFill>
                          <a:latin typeface="Arial" pitchFamily="34" charset="0"/>
                          <a:ea typeface="Arial" pitchFamily="34" charset="-122"/>
                          <a:cs typeface="Arial" pitchFamily="34" charset="-120"/>
                        </a:rPr>
                        <a:t>Key macro event</a:t>
                      </a:r>
                      <a:endParaRPr lang="en-US" sz="9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solidFill>
                      <a:srgbClr val="FFF3E0"/>
                    </a:solidFill>
                  </a:tcPr>
                </a:tc>
              </a:tr>
              <a:tr h="292608">
                <a:tc>
                  <a:txBody>
                    <a:bodyPr/>
                    <a:lstStyle/>
                    <a:p>
                      <a:pPr algn="ctr" indent="0" marL="0">
                        <a:buNone/>
                      </a:pPr>
                      <a:r>
                        <a:rPr lang="en-US" sz="1000" dirty="0">
                          <a:solidFill>
                            <a:srgbClr val="2D3748"/>
                          </a:solidFill>
                          <a:latin typeface="Arial" pitchFamily="34" charset="0"/>
                          <a:ea typeface="Arial" pitchFamily="34" charset="-122"/>
                          <a:cs typeface="Arial" pitchFamily="34" charset="-120"/>
                        </a:rPr>
                        <a:t>3/20</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1000" dirty="0">
                          <a:solidFill>
                            <a:srgbClr val="2D3748"/>
                          </a:solidFill>
                          <a:latin typeface="Arial" pitchFamily="34" charset="0"/>
                          <a:ea typeface="Arial" pitchFamily="34" charset="-122"/>
                          <a:cs typeface="Arial" pitchFamily="34" charset="-120"/>
                        </a:rPr>
                        <a:t>LayerZero ZRO Unlock ($45M)</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ctr" indent="0" marL="0">
                        <a:buNone/>
                      </a:pPr>
                      <a:r>
                        <a:rPr lang="en-US" sz="1000" b="1" dirty="0">
                          <a:solidFill>
                            <a:srgbClr val="1A2744"/>
                          </a:solidFill>
                          <a:latin typeface="Arial" pitchFamily="34" charset="0"/>
                          <a:ea typeface="Arial" pitchFamily="34" charset="-122"/>
                          <a:cs typeface="Arial" pitchFamily="34" charset="-120"/>
                        </a:rPr>
                        <a:t>ZRO</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900" dirty="0">
                          <a:solidFill>
                            <a:srgbClr val="8C95A6"/>
                          </a:solidFill>
                          <a:latin typeface="Arial" pitchFamily="34" charset="0"/>
                          <a:ea typeface="Arial" pitchFamily="34" charset="-122"/>
                          <a:cs typeface="Arial" pitchFamily="34" charset="-120"/>
                        </a:rPr>
                        <a:t>Supply pressure (2.47% of MCap)</a:t>
                      </a:r>
                      <a:endParaRPr lang="en-US" sz="9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r>
              <a:tr h="292608">
                <a:tc>
                  <a:txBody>
                    <a:bodyPr/>
                    <a:lstStyle/>
                    <a:p>
                      <a:pPr algn="ctr" indent="0" marL="0">
                        <a:buNone/>
                      </a:pPr>
                      <a:r>
                        <a:rPr lang="en-US" sz="1000" dirty="0">
                          <a:solidFill>
                            <a:srgbClr val="2D3748"/>
                          </a:solidFill>
                          <a:latin typeface="Arial" pitchFamily="34" charset="0"/>
                          <a:ea typeface="Arial" pitchFamily="34" charset="-122"/>
                          <a:cs typeface="Arial" pitchFamily="34" charset="-120"/>
                        </a:rPr>
                        <a:t>3/24-26</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1000" dirty="0">
                          <a:solidFill>
                            <a:srgbClr val="2D3748"/>
                          </a:solidFill>
                          <a:latin typeface="Arial" pitchFamily="34" charset="0"/>
                          <a:ea typeface="Arial" pitchFamily="34" charset="-122"/>
                          <a:cs typeface="Arial" pitchFamily="34" charset="-120"/>
                        </a:rPr>
                        <a:t>Digital Asset Summit (NYC)</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ctr" indent="0" marL="0">
                        <a:buNone/>
                      </a:pPr>
                      <a:r>
                        <a:rPr lang="en-US" sz="1000" b="1" dirty="0">
                          <a:solidFill>
                            <a:srgbClr val="1A2744"/>
                          </a:solidFill>
                          <a:latin typeface="Arial" pitchFamily="34" charset="0"/>
                          <a:ea typeface="Arial" pitchFamily="34" charset="-122"/>
                          <a:cs typeface="Arial" pitchFamily="34" charset="-120"/>
                        </a:rPr>
                        <a:t>Institutional</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900" dirty="0">
                          <a:solidFill>
                            <a:srgbClr val="8C95A6"/>
                          </a:solidFill>
                          <a:latin typeface="Arial" pitchFamily="34" charset="0"/>
                          <a:ea typeface="Arial" pitchFamily="34" charset="-122"/>
                          <a:cs typeface="Arial" pitchFamily="34" charset="-120"/>
                        </a:rPr>
                        <a:t>TradFi integration + AI convergence</a:t>
                      </a:r>
                      <a:endParaRPr lang="en-US" sz="9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r>
              <a:tr h="292608">
                <a:tc>
                  <a:txBody>
                    <a:bodyPr/>
                    <a:lstStyle/>
                    <a:p>
                      <a:pPr algn="ctr" indent="0" marL="0">
                        <a:buNone/>
                      </a:pPr>
                      <a:r>
                        <a:rPr lang="en-US" sz="1000" dirty="0">
                          <a:solidFill>
                            <a:srgbClr val="2D3748"/>
                          </a:solidFill>
                          <a:latin typeface="Arial" pitchFamily="34" charset="0"/>
                          <a:ea typeface="Arial" pitchFamily="34" charset="-122"/>
                          <a:cs typeface="Arial" pitchFamily="34" charset="-120"/>
                        </a:rPr>
                        <a:t>3/27</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1000" dirty="0">
                          <a:solidFill>
                            <a:srgbClr val="2D3748"/>
                          </a:solidFill>
                          <a:latin typeface="Arial" pitchFamily="34" charset="0"/>
                          <a:ea typeface="Arial" pitchFamily="34" charset="-122"/>
                          <a:cs typeface="Arial" pitchFamily="34" charset="-120"/>
                        </a:rPr>
                        <a:t>Crypto ETP Final Deadline</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ctr" indent="0" marL="0">
                        <a:buNone/>
                      </a:pPr>
                      <a:r>
                        <a:rPr lang="en-US" sz="1000" b="1" dirty="0">
                          <a:solidFill>
                            <a:srgbClr val="1A2744"/>
                          </a:solidFill>
                          <a:latin typeface="Arial" pitchFamily="34" charset="0"/>
                          <a:ea typeface="Arial" pitchFamily="34" charset="-122"/>
                          <a:cs typeface="Arial" pitchFamily="34" charset="-120"/>
                        </a:rPr>
                        <a:t>Multiple</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900" dirty="0">
                          <a:solidFill>
                            <a:srgbClr val="8C95A6"/>
                          </a:solidFill>
                          <a:latin typeface="Arial" pitchFamily="34" charset="0"/>
                          <a:ea typeface="Arial" pitchFamily="34" charset="-122"/>
                          <a:cs typeface="Arial" pitchFamily="34" charset="-120"/>
                        </a:rPr>
                        <a:t>Approval could unlock institutional wave</a:t>
                      </a:r>
                      <a:endParaRPr lang="en-US" sz="9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r>
              <a:tr h="292608">
                <a:tc>
                  <a:txBody>
                    <a:bodyPr/>
                    <a:lstStyle/>
                    <a:p>
                      <a:pPr algn="ctr" indent="0" marL="0">
                        <a:buNone/>
                      </a:pPr>
                      <a:r>
                        <a:rPr lang="en-US" sz="1000" dirty="0">
                          <a:solidFill>
                            <a:srgbClr val="2D3748"/>
                          </a:solidFill>
                          <a:latin typeface="Arial" pitchFamily="34" charset="0"/>
                          <a:ea typeface="Arial" pitchFamily="34" charset="-122"/>
                          <a:cs typeface="Arial" pitchFamily="34" charset="-120"/>
                        </a:rPr>
                        <a:t>Late Mar</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1000" dirty="0">
                          <a:solidFill>
                            <a:srgbClr val="2D3748"/>
                          </a:solidFill>
                          <a:latin typeface="Arial" pitchFamily="34" charset="0"/>
                          <a:ea typeface="Arial" pitchFamily="34" charset="-122"/>
                          <a:cs typeface="Arial" pitchFamily="34" charset="-120"/>
                        </a:rPr>
                        <a:t>Midnight Mainnet Launch</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ctr" indent="0" marL="0">
                        <a:buNone/>
                      </a:pPr>
                      <a:r>
                        <a:rPr lang="en-US" sz="1000" b="1" dirty="0">
                          <a:solidFill>
                            <a:srgbClr val="1A2744"/>
                          </a:solidFill>
                          <a:latin typeface="Arial" pitchFamily="34" charset="0"/>
                          <a:ea typeface="Arial" pitchFamily="34" charset="-122"/>
                          <a:cs typeface="Arial" pitchFamily="34" charset="-120"/>
                        </a:rPr>
                        <a:t>ADA</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900" dirty="0">
                          <a:solidFill>
                            <a:srgbClr val="8C95A6"/>
                          </a:solidFill>
                          <a:latin typeface="Arial" pitchFamily="34" charset="0"/>
                          <a:ea typeface="Arial" pitchFamily="34" charset="-122"/>
                          <a:cs typeface="Arial" pitchFamily="34" charset="-120"/>
                        </a:rPr>
                        <a:t>Cardano privacy sidechain</a:t>
                      </a:r>
                      <a:endParaRPr lang="en-US" sz="9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r>
            </a:tbl>
          </a:graphicData>
        </a:graphic>
      </p:graphicFrame>
      <p:sp>
        <p:nvSpPr>
          <p:cNvPr id="5" name="Shape 2"/>
          <p:cNvSpPr/>
          <p:nvPr/>
        </p:nvSpPr>
        <p:spPr>
          <a:xfrm>
            <a:off x="457200" y="3337560"/>
            <a:ext cx="8229600" cy="1188720"/>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6" name="Shape 3"/>
          <p:cNvSpPr/>
          <p:nvPr/>
        </p:nvSpPr>
        <p:spPr>
          <a:xfrm>
            <a:off x="457200" y="3337560"/>
            <a:ext cx="54864" cy="1188720"/>
          </a:xfrm>
          <a:prstGeom prst="rect">
            <a:avLst/>
          </a:prstGeom>
          <a:solidFill>
            <a:srgbClr val="C9A96E"/>
          </a:solidFill>
          <a:ln/>
        </p:spPr>
      </p:sp>
      <p:sp>
        <p:nvSpPr>
          <p:cNvPr id="7" name="Text 4"/>
          <p:cNvSpPr/>
          <p:nvPr/>
        </p:nvSpPr>
        <p:spPr>
          <a:xfrm>
            <a:off x="731520" y="3383280"/>
            <a:ext cx="7315200" cy="274320"/>
          </a:xfrm>
          <a:prstGeom prst="rect">
            <a:avLst/>
          </a:prstGeom>
          <a:noFill/>
          <a:ln/>
        </p:spPr>
        <p:txBody>
          <a:bodyPr wrap="square" lIns="0" tIns="0" rIns="0" bIns="0" rtlCol="0" anchor="ctr"/>
          <a:lstStyle/>
          <a:p>
            <a:pPr indent="0" marL="0">
              <a:buNone/>
            </a:pPr>
            <a:r>
              <a:rPr lang="en-US" sz="1300" b="1" dirty="0">
                <a:solidFill>
                  <a:srgbClr val="1A2744"/>
                </a:solidFill>
                <a:latin typeface="Arial" pitchFamily="34" charset="0"/>
                <a:ea typeface="Arial" pitchFamily="34" charset="-122"/>
                <a:cs typeface="Arial" pitchFamily="34" charset="-120"/>
              </a:rPr>
              <a:t>Weekly Summary</a:t>
            </a:r>
            <a:endParaRPr lang="en-US" sz="1300" dirty="0"/>
          </a:p>
        </p:txBody>
      </p:sp>
      <p:sp>
        <p:nvSpPr>
          <p:cNvPr id="8" name="Text 5"/>
          <p:cNvSpPr/>
          <p:nvPr/>
        </p:nvSpPr>
        <p:spPr>
          <a:xfrm>
            <a:off x="731520" y="3657600"/>
            <a:ext cx="7772400" cy="777240"/>
          </a:xfrm>
          <a:prstGeom prst="rect">
            <a:avLst/>
          </a:prstGeom>
          <a:noFill/>
          <a:ln/>
        </p:spPr>
        <p:txBody>
          <a:bodyPr wrap="square" lIns="0" tIns="0" rIns="0" bIns="0" rtlCol="0" anchor="ctr"/>
          <a:lstStyle/>
          <a:p>
            <a:pPr indent="0" marL="0">
              <a:buNone/>
            </a:pPr>
            <a:r>
              <a:rPr lang="en-US" sz="1000" dirty="0">
                <a:solidFill>
                  <a:srgbClr val="2D3748"/>
                </a:solidFill>
                <a:latin typeface="Arial" pitchFamily="34" charset="0"/>
                <a:ea typeface="Arial" pitchFamily="34" charset="-122"/>
                <a:cs typeface="Arial" pitchFamily="34" charset="-120"/>
              </a:rPr>
              <a:t>BTC rebounded +6.3% after geopolitical flash crash; HYPE led at +21.7%. SEC-CFTC joint MOU marks a historic regulatory milestone, but FGI remains at Extreme Fear (15), showing stark retail-institutional divergence.</a:t>
            </a:r>
            <a:endParaRPr lang="en-US" sz="1000" dirty="0"/>
          </a:p>
          <a:p>
            <a:pPr indent="0" marL="0">
              <a:buNone/>
            </a:pPr>
            <a:r>
              <a:rPr lang="en-US" sz="1000" b="1" dirty="0">
                <a:solidFill>
                  <a:srgbClr val="1A2744"/>
                </a:solidFill>
                <a:latin typeface="Arial" pitchFamily="34" charset="0"/>
                <a:ea typeface="Arial" pitchFamily="34" charset="-122"/>
                <a:cs typeface="Arial" pitchFamily="34" charset="-120"/>
              </a:rPr>
              <a:t>Key watches: </a:t>
            </a:r>
            <a:pPr indent="0" marL="0">
              <a:buNone/>
            </a:pPr>
            <a:r>
              <a:rPr lang="en-US" sz="1000" dirty="0">
                <a:solidFill>
                  <a:srgbClr val="2D3748"/>
                </a:solidFill>
                <a:latin typeface="Arial" pitchFamily="34" charset="0"/>
                <a:ea typeface="Arial" pitchFamily="34" charset="-122"/>
                <a:cs typeface="Arial" pitchFamily="34" charset="-120"/>
              </a:rPr>
              <a:t>3/18 FOMC decision (portfolio-wide), ASTER/ZRO unlock pressure, Aave oracle incident’s implications for DeFi safety mechanisms.</a:t>
            </a:r>
            <a:endParaRPr lang="en-US" sz="1000" dirty="0"/>
          </a:p>
        </p:txBody>
      </p:sp>
      <p:sp>
        <p:nvSpPr>
          <p:cNvPr id="9" name="Shape 6"/>
          <p:cNvSpPr/>
          <p:nvPr/>
        </p:nvSpPr>
        <p:spPr>
          <a:xfrm>
            <a:off x="0" y="4800600"/>
            <a:ext cx="9144000" cy="342900"/>
          </a:xfrm>
          <a:prstGeom prst="rect">
            <a:avLst/>
          </a:prstGeom>
          <a:solidFill>
            <a:srgbClr val="1A2744"/>
          </a:solidFill>
          <a:ln/>
        </p:spPr>
      </p:sp>
      <p:sp>
        <p:nvSpPr>
          <p:cNvPr id="10" name="Text 7"/>
          <p:cNvSpPr/>
          <p:nvPr/>
        </p:nvSpPr>
        <p:spPr>
          <a:xfrm>
            <a:off x="457200" y="4800600"/>
            <a:ext cx="8229600" cy="342900"/>
          </a:xfrm>
          <a:prstGeom prst="rect">
            <a:avLst/>
          </a:prstGeom>
          <a:noFill/>
          <a:ln/>
        </p:spPr>
        <p:txBody>
          <a:bodyPr wrap="square" lIns="0" tIns="0" rIns="0" bIns="0" rtlCol="0" anchor="ctr"/>
          <a:lstStyle/>
          <a:p>
            <a:pPr indent="0" marL="0">
              <a:buNone/>
            </a:pPr>
            <a:r>
              <a:rPr lang="en-US" sz="800" dirty="0">
                <a:solidFill>
                  <a:srgbClr val="8C95A6"/>
                </a:solidFill>
                <a:latin typeface="Arial" pitchFamily="34" charset="0"/>
                <a:ea typeface="Arial" pitchFamily="34" charset="-122"/>
                <a:cs typeface="Arial" pitchFamily="34" charset="-120"/>
              </a:rPr>
              <a:t>Crypto Market Weekly | 2026.03.09–03.15  |  CONFIDENTIAL</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Crypto Market Weekly Report — Mar 9-15, 2026</dc:title>
  <dc:subject>PptxGenJS Presentation</dc:subject>
  <dc:creator>42</dc:creator>
  <cp:lastModifiedBy>42</cp:lastModifiedBy>
  <cp:revision>1</cp:revision>
  <dcterms:created xsi:type="dcterms:W3CDTF">2026-03-15T19:09:42Z</dcterms:created>
  <dcterms:modified xsi:type="dcterms:W3CDTF">2026-03-15T19:09:42Z</dcterms:modified>
</cp:coreProperties>
</file>