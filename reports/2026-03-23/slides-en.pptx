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weekly report covers March 23-29, 2026. Markets operated under extreme duress from geopolitical risks (Israel-Iran conflict escalation, Strait of Hormuz shipping disruptions) and Trump tariff policy escalation (global tariffs raised to 15%). Fear &amp; Greed Index dropped to 8-9, lowest since the Luna crash in 2022.
Key drivers:
1. Fed revised 2026 PCE inflation forecast up to 2.7%, pushing rate cut expectations further out
2. Iran threatened to blockade the Strait of Hormuz, oil prices surged 25%+ vs pre-conflict
3. BTC/ETH/SOL ETFs posted simultaneous net outflows on the same day
However, a landmark regulatory development occurred: SEC-CFTC joint rules formally classified 16 crypto assets as digital commodities, ending a decade of regulatory ambiguity. This clears the path for SOL/XRP spot ETFs.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Overview Deep Dive:
1. BTC fell to $66,445, -3.5% WoW: Primary catalyst was the $14.16B BTC options expiry on March 27, with heavy short bets paying off. ETF weekly net outflows of $296M signal institutional defensive positioning. Technically, $66,000 is critical support; a daily close below opens the path to $50,000.
2. ETH broke below $2,000 psychological level: Post-Fusaka upgrade L1 fee revenue plummeted, L2 activity siphoning accelerated. A founder transferred ~79,000 ETH to Kraken adding direct sell pressure. Down 60% from August high. ETH/BTC ratio continues weakening.
3. Fear &amp; Greed at 8-9, extreme fear zone: Historically this level often indicates a medium-term bottom area, but requires macro cooperation to confirm reversal. Current Israel-Iran conflict shows no signs of de-escalation.
4. Total MCap $2.37T, BTC dominance 56.1%: Altcoins broadly underperforming BTC as capital concentrates in safe havens. SOL commodity classification upside not yet reflected in price.
5. HYPE bucked the trend at +2.3%: Hyperliquid’s weekly fee revenue of $14M (new record, annualized &gt;$600M) validates the thesis that protocols with real revenue are more resilient in bear markets.
Portfolio implications: Consider defensive positioning. HYPE showing relative strength. SOL/XRP ETF catalyst could be a Q2 inflection point if macro improves.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Stories Deep Dive:
1. SEC-CFTC Joint Rules: The single most important regulatory development in crypto history. Formally classified 16 tokens as digital commodities under CFTC oversight. SEC Chair Atkins acknowledged most crypto assets are not securities. Creates safe harbors for mining, staking, and no-consideration airdrops. Immediate impact: clears SOL/XRP spot ETF path. Long-term: dramatically reduces project legal risk and institutional hesitancy.
2. CLARITY Act: Senate Banking Committee draft bans stablecoin passive yield ("economically equivalent to interest"). Circle derives 95% of revenue from reserve interest. 20% stock crash reflects existential threat to their business model. Coinbase down 10% on collateral damage. Watch: full committee markup expected late April.
3. Resolv USR: Attacker compromised AWS KMS privileged key, minted 80M unbacked USR with &lt;$200K collateral. Collapsed 97.5% in 17 minutes on Curve. Cascaded into Morpho lending vaults (oracles still valued USR at $1.13). Lessons: centralized cloud key management is a critical vulnerability; DeFi composability amplifies contagion.
4. Geopolitical shock: Iran-Israel conflict + Strait of Hormuz threats + oil +25% + Trump 15% tariffs created perfect storm for risk assets. First time in 2026 that BTC/ETH/SOL ETFs posted simultaneous net outflows.
5. Mining economics inverted: All-in cost $79,995/BTC vs $68K market price = $19K loss per coin. Miners pivoting aggressively: $70B+ in AI/HPC contracts signed. Mining difficulty dropped 7.76% on 3/21 (2nd largest drop of the year). Public miners sold 15,000+ BTC to fund AI transition.
DeFi: Aave’s $1T cumulative lending is a milestone. But ACI governance exit exposes DAO centralization issues. ECB report named Aave, MakerDAO, Uniswap: top 100 holders control &gt;80% voting power. Hyperliquid’s crude oil perps doing &gt;$2.2B daily — perp DEX growth now extends beyond crypto into commodities.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Regulation &amp; Fundraising Analysis:
Regulatory landscape:
1. SEC-CFTC joint commodity classification is the most consequential US crypto regulation ever. Creates five-category taxonomy (digital commodities, collectibles, tools, stablecoins, securities) with explicit safe harbors for mining, staking, and airdrops. Projects no longer need to guess whether their token will be sued as a security. Long-term: reduces compliance costs, attracts more traditional capital.
2. CLARITY Act stablecoin yield ban is existential for Circle (95% revenue from reserve interest). If passed, Circle must pivot business model or face revenue collapse. Banks welcome this as stablecoin yield threatens traditional deposit business. Outcome determines whether stablecoins become "digital cash" or "digital savings accounts."
3. NYSE-Securitize digital trading platform: SEC approved tokenized US equities with 24/7 trading + on-chain stablecoin settlement. Traditional finance infrastructure actively embracing blockchain.
Fundraising:
1. Mastercard $1.8B BVNK acquisition: largest TradFi-crypto acquisition. Signal that traditional finance is buying, not just watching.
2. Kalshi $1B Series E + Polymarket $600M (ICE-led): prediction market sector receives unprecedented institutional validation. ICE is NYSE's parent company.
3. 22 deals, ~$3.28B disclosed. 2026 crypto M&amp;A on track to exceed $37B.
Risk assessment: regulatory clarity is bullish medium-term but CLARITY Act stablecoin yield provisions create near-term uncertainty for portfolio holdings in stablecoin ecosystem (Ethena, potentially Pendle).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&amp; Sector Analysis:
Security incidents:
1. Iran exchange $90M hack: Geopolitical context — state-level hacking activity increases during Israel-Iran conflict. Not just a financial loss but reflects crypto infrastructure vulnerability in geopolitical hotspots.
2. Resolv USR exploit — critical lessons: Attacker compromised AWS KMS privileged key, exposing over-reliance on centralized cloud services. The cascading effect through Morpho vaults (oracles still pricing USR at $1.13) demonstrates how DeFi composability becomes a systemic risk conductor during crises.
3. YTD: 103 security incidents + 36 phishing scams, ~$480M total losses. Social engineering has surpassed code vulnerabilities as the primary attack vector. CertiK warns full-year losses may exceed $500M.
AI x Crypto:
Post-NVIDIA GTC sector MCap &gt;$28B. The real story is BTC miner pivots: all-in cost $79,995/BTC vs $68K market price = $19K loss per coin. Miners have signed $70B+ in AI/HPC contracts. By year-end, AI revenue expected to grow from &lt;15% to 70%+ of miner revenue. This is a fundamental industry inflection point.
Prediction Markets:
Polymarket monthly volume surpasses $21B (7.5x YoY). CFTC self-certification is a milestone — first on-chain prediction market formally integrated into US regulatory framework. Anti-insider trading rules signal sector maturation.
Stablecoins:
USDC surpassing USDT in transaction volume (64% share) is a watershed moment. CLARITY Act creates existential risk for yield-dependent stablecoin businesses. Tether hiring Big Four auditors is a strategic counter-move. Portfolio impact: ENA directly exposed to stablecoin yield narrative; monitor CLARITY Act progress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Catalysts &amp; Outlook Deep Dive:
Critical catalysts ranked by portfolio impact:
1. 4/6 HYPE Core Contributor Unlock: Directly portfolio-relevant. Historically, core team unlocks carry high sell pressure risk. However, Hyperliquid fundamentals are exceptionally strong ($14M weekly fees, $600M+ annualized). If team holds or provides liquidity rather than sells, could be a confidence catalyst. Monitor on-chain large transfers pre/post unlock.
2. CLARITY Act Full Committee Markup (late April): Determines the fate of stablecoin yield. If yield ban passes, major headwind for Circle, Coinbase, and the broader stablecoin yield ecosystem (including Ethena). If amended or removed, stablecoin sector could rally hard.
3. Powell’s Final FOMC (4/28-29): Last meeting of Powell’s tenure. Market will scrutinize signals about successor and rate path. Dovish surprise could trigger risk-on rally.
4. Wormhole 6% Unlock (4/3): &gt;$90M supply pressure. Cross-chain bridge sector is competitive; watch for team mitigation mechanisms.
Weekly Summary:
Markets are in a multi-factor headwind zone (geopolitical conflict + tariffs + inflation revision + ETF outflows). Fear index at extreme levels. However, regulatory fundamentals improved dramatically with the commodity classification milestone. This combination of improving fundamentals + extreme sentiment historically indicates a medium-term buying opportunity. The key variable is when macro improves — Israel-Iran trajectory and Fed stance are the determining factors.
Portfolio action items:
- Monitor HYPE unlock risk; consider partial hedge if available
- Track SOL/XRP ETF catalysts in Q2
- Watch CLARITY Act markup for stablecoin exposure (ENA, PENDLE)
- Maintain defensive positioning until geopolitical risks show de-escalation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p:bgPr>
    </p:bg>
    <p:spTree>
      <p:nvGrpSpPr>
        <p:cNvPr id="1" name=""/>
        <p:cNvGrpSpPr/>
        <p:nvPr/>
      </p:nvGrpSpPr>
      <p:grpSpPr>
        <a:xfrm>
          <a:off x="0" y="0"/>
          <a:ext cx="0" cy="0"/>
          <a:chOff x="0" y="0"/>
          <a:chExt cx="0" cy="0"/>
        </a:xfrm>
      </p:grpSpPr>
      <p:sp>
        <p:nvSpPr>
          <p:cNvPr id="2" name="Shape 0"/>
          <p:cNvSpPr/>
          <p:nvPr/>
        </p:nvSpPr>
        <p:spPr>
          <a:xfrm>
            <a:off x="731520" y="1463040"/>
            <a:ext cx="1097280" cy="36576"/>
          </a:xfrm>
          <a:prstGeom prst="rect">
            <a:avLst/>
          </a:prstGeom>
          <a:solidFill>
            <a:srgbClr val="C9A96E"/>
          </a:solidFill>
          <a:ln/>
        </p:spPr>
      </p:sp>
      <p:sp>
        <p:nvSpPr>
          <p:cNvPr id="3" name="Text 1"/>
          <p:cNvSpPr/>
          <p:nvPr/>
        </p:nvSpPr>
        <p:spPr>
          <a:xfrm>
            <a:off x="731520" y="1645920"/>
            <a:ext cx="7315200" cy="914400"/>
          </a:xfrm>
          <a:prstGeom prst="rect">
            <a:avLst/>
          </a:prstGeom>
          <a:noFill/>
          <a:ln/>
        </p:spPr>
        <p:txBody>
          <a:bodyPr wrap="square" lIns="0" tIns="0" rIns="0" bIns="0" rtlCol="0" anchor="ctr"/>
          <a:lstStyle/>
          <a:p>
            <a:pPr indent="0" marL="0">
              <a:buNone/>
            </a:pPr>
            <a:r>
              <a:rPr lang="en-US" sz="4200" b="1" dirty="0">
                <a:solidFill>
                  <a:srgbClr val="FFFFFF"/>
                </a:solidFill>
                <a:latin typeface="Arial" pitchFamily="34" charset="0"/>
                <a:ea typeface="Arial" pitchFamily="34" charset="-122"/>
                <a:cs typeface="Arial" pitchFamily="34" charset="-120"/>
              </a:rPr>
              <a:t>Crypto Market Weekly</a:t>
            </a:r>
            <a:endParaRPr lang="en-US" sz="4200" dirty="0"/>
          </a:p>
        </p:txBody>
      </p:sp>
      <p:sp>
        <p:nvSpPr>
          <p:cNvPr id="4" name="Text 2"/>
          <p:cNvSpPr/>
          <p:nvPr/>
        </p:nvSpPr>
        <p:spPr>
          <a:xfrm>
            <a:off x="731520" y="2468880"/>
            <a:ext cx="7315200" cy="457200"/>
          </a:xfrm>
          <a:prstGeom prst="rect">
            <a:avLst/>
          </a:prstGeom>
          <a:noFill/>
          <a:ln/>
        </p:spPr>
        <p:txBody>
          <a:bodyPr wrap="square" lIns="0" tIns="0" rIns="0" bIns="0" rtlCol="0" anchor="ctr"/>
          <a:lstStyle/>
          <a:p>
            <a:pPr indent="0" marL="0">
              <a:buNone/>
            </a:pPr>
            <a:r>
              <a:rPr lang="en-US" sz="2000" dirty="0">
                <a:solidFill>
                  <a:srgbClr val="C9A96E"/>
                </a:solidFill>
                <a:latin typeface="Arial" pitchFamily="34" charset="0"/>
                <a:ea typeface="Arial" pitchFamily="34" charset="-122"/>
                <a:cs typeface="Arial" pitchFamily="34" charset="-120"/>
              </a:rPr>
              <a:t>March 23 – 29, 2026</a:t>
            </a:r>
            <a:endParaRPr lang="en-US" sz="2000" dirty="0"/>
          </a:p>
        </p:txBody>
      </p:sp>
      <p:sp>
        <p:nvSpPr>
          <p:cNvPr id="5" name="Text 3"/>
          <p:cNvSpPr/>
          <p:nvPr/>
        </p:nvSpPr>
        <p:spPr>
          <a:xfrm>
            <a:off x="731520" y="3108960"/>
            <a:ext cx="7315200" cy="365760"/>
          </a:xfrm>
          <a:prstGeom prst="rect">
            <a:avLst/>
          </a:prstGeom>
          <a:noFill/>
          <a:ln/>
        </p:spPr>
        <p:txBody>
          <a:bodyPr wrap="square" lIns="0" tIns="0" rIns="0" bIns="0" rtlCol="0" anchor="ctr"/>
          <a:lstStyle/>
          <a:p>
            <a:pPr indent="0" marL="0">
              <a:buNone/>
            </a:pPr>
            <a:r>
              <a:rPr lang="en-US" sz="1100" dirty="0">
                <a:solidFill>
                  <a:srgbClr val="8C95A6"/>
                </a:solidFill>
                <a:latin typeface="Arial" pitchFamily="34" charset="0"/>
                <a:ea typeface="Arial" pitchFamily="34" charset="-122"/>
                <a:cs typeface="Arial" pitchFamily="34" charset="-120"/>
              </a:rPr>
              <a:t>Sources: Messari · The Block · CoinGecko · DefiLlama</a:t>
            </a:r>
            <a:endParaRPr lang="en-US" sz="1100" dirty="0"/>
          </a:p>
        </p:txBody>
      </p:sp>
      <p:sp>
        <p:nvSpPr>
          <p:cNvPr id="6" name="Shape 4"/>
          <p:cNvSpPr/>
          <p:nvPr/>
        </p:nvSpPr>
        <p:spPr>
          <a:xfrm>
            <a:off x="0" y="4800600"/>
            <a:ext cx="9144000" cy="342900"/>
          </a:xfrm>
          <a:prstGeom prst="rect">
            <a:avLst/>
          </a:prstGeom>
          <a:solidFill>
            <a:srgbClr val="C9A96E"/>
          </a:solidFill>
          <a:ln/>
        </p:spPr>
      </p:sp>
      <p:sp>
        <p:nvSpPr>
          <p:cNvPr id="7" name="Text 5"/>
          <p:cNvSpPr/>
          <p:nvPr/>
        </p:nvSpPr>
        <p:spPr>
          <a:xfrm>
            <a:off x="0" y="4800600"/>
            <a:ext cx="9144000" cy="342900"/>
          </a:xfrm>
          <a:prstGeom prst="rect">
            <a:avLst/>
          </a:prstGeom>
          <a:noFill/>
          <a:ln/>
        </p:spPr>
        <p:txBody>
          <a:bodyPr wrap="square" rtlCol="0" anchor="ctr"/>
          <a:lstStyle/>
          <a:p>
            <a:pPr algn="ctr" indent="0" marL="0">
              <a:buNone/>
            </a:pPr>
            <a:r>
              <a:rPr lang="en-US" sz="900" b="1" dirty="0">
                <a:solidFill>
                  <a:srgbClr val="0F1A2E"/>
                </a:solidFill>
                <a:latin typeface="Arial" pitchFamily="34" charset="0"/>
                <a:ea typeface="Arial" pitchFamily="34" charset="-122"/>
                <a:cs typeface="Arial" pitchFamily="34" charset="-120"/>
              </a:rPr>
              <a:t>CONFIDENTIAL — FOR LP DISTRIBUTION ONLY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Market Overview</a:t>
            </a:r>
            <a:endParaRPr lang="en-US" sz="2000" dirty="0"/>
          </a:p>
        </p:txBody>
      </p:sp>
      <p:sp>
        <p:nvSpPr>
          <p:cNvPr id="4" name="Shape 2"/>
          <p:cNvSpPr/>
          <p:nvPr/>
        </p:nvSpPr>
        <p:spPr>
          <a:xfrm>
            <a:off x="54864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548640" y="868680"/>
            <a:ext cx="54864" cy="960120"/>
          </a:xfrm>
          <a:prstGeom prst="rect">
            <a:avLst/>
          </a:prstGeom>
          <a:solidFill>
            <a:srgbClr val="C9A96E"/>
          </a:solidFill>
          <a:ln/>
        </p:spPr>
      </p:sp>
      <p:sp>
        <p:nvSpPr>
          <p:cNvPr id="6" name="Text 4"/>
          <p:cNvSpPr/>
          <p:nvPr/>
        </p:nvSpPr>
        <p:spPr>
          <a:xfrm>
            <a:off x="77724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BTC</a:t>
            </a:r>
            <a:endParaRPr lang="en-US" sz="1200" dirty="0"/>
          </a:p>
        </p:txBody>
      </p:sp>
      <p:sp>
        <p:nvSpPr>
          <p:cNvPr id="7" name="Text 5"/>
          <p:cNvSpPr/>
          <p:nvPr/>
        </p:nvSpPr>
        <p:spPr>
          <a:xfrm>
            <a:off x="77724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$66,445</a:t>
            </a:r>
            <a:endParaRPr lang="en-US" sz="2800" dirty="0"/>
          </a:p>
        </p:txBody>
      </p:sp>
      <p:sp>
        <p:nvSpPr>
          <p:cNvPr id="8" name="Text 6"/>
          <p:cNvSpPr/>
          <p:nvPr/>
        </p:nvSpPr>
        <p:spPr>
          <a:xfrm>
            <a:off x="777240" y="1527048"/>
            <a:ext cx="1828800" cy="228600"/>
          </a:xfrm>
          <a:prstGeom prst="rect">
            <a:avLst/>
          </a:prstGeom>
          <a:noFill/>
          <a:ln/>
        </p:spPr>
        <p:txBody>
          <a:bodyPr wrap="square" lIns="0" tIns="0" rIns="0" bIns="0" rtlCol="0" anchor="ctr"/>
          <a:lstStyle/>
          <a:p>
            <a:pPr indent="0" marL="0">
              <a:buNone/>
            </a:pPr>
            <a:r>
              <a:rPr lang="en-US" sz="1400" b="1" dirty="0">
                <a:solidFill>
                  <a:srgbClr val="C53030"/>
                </a:solidFill>
                <a:latin typeface="Arial" pitchFamily="34" charset="0"/>
                <a:ea typeface="Arial" pitchFamily="34" charset="-122"/>
                <a:cs typeface="Arial" pitchFamily="34" charset="-120"/>
              </a:rPr>
              <a:t>-3.5%</a:t>
            </a:r>
            <a:endParaRPr lang="en-US" sz="1400" dirty="0"/>
          </a:p>
        </p:txBody>
      </p:sp>
      <p:sp>
        <p:nvSpPr>
          <p:cNvPr id="9" name="Shape 7"/>
          <p:cNvSpPr/>
          <p:nvPr/>
        </p:nvSpPr>
        <p:spPr>
          <a:xfrm>
            <a:off x="338328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3383280" y="868680"/>
            <a:ext cx="54864" cy="960120"/>
          </a:xfrm>
          <a:prstGeom prst="rect">
            <a:avLst/>
          </a:prstGeom>
          <a:solidFill>
            <a:srgbClr val="C9A96E"/>
          </a:solidFill>
          <a:ln/>
        </p:spPr>
      </p:sp>
      <p:sp>
        <p:nvSpPr>
          <p:cNvPr id="11" name="Text 9"/>
          <p:cNvSpPr/>
          <p:nvPr/>
        </p:nvSpPr>
        <p:spPr>
          <a:xfrm>
            <a:off x="3611880" y="960120"/>
            <a:ext cx="182880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ETH</a:t>
            </a:r>
            <a:endParaRPr lang="en-US" sz="1200" dirty="0"/>
          </a:p>
        </p:txBody>
      </p:sp>
      <p:sp>
        <p:nvSpPr>
          <p:cNvPr id="12" name="Text 10"/>
          <p:cNvSpPr/>
          <p:nvPr/>
        </p:nvSpPr>
        <p:spPr>
          <a:xfrm>
            <a:off x="3611880" y="1188720"/>
            <a:ext cx="1828800" cy="365760"/>
          </a:xfrm>
          <a:prstGeom prst="rect">
            <a:avLst/>
          </a:prstGeom>
          <a:noFill/>
          <a:ln/>
        </p:spPr>
        <p:txBody>
          <a:bodyPr wrap="square" lIns="0" tIns="0" rIns="0" bIns="0" rtlCol="0" anchor="ctr"/>
          <a:lstStyle/>
          <a:p>
            <a:pPr indent="0" marL="0">
              <a:buNone/>
            </a:pPr>
            <a:r>
              <a:rPr lang="en-US" sz="2800" b="1" dirty="0">
                <a:solidFill>
                  <a:srgbClr val="2D3748"/>
                </a:solidFill>
                <a:latin typeface="Arial" pitchFamily="34" charset="0"/>
                <a:ea typeface="Arial" pitchFamily="34" charset="-122"/>
                <a:cs typeface="Arial" pitchFamily="34" charset="-120"/>
              </a:rPr>
              <a:t>$1,996</a:t>
            </a:r>
            <a:endParaRPr lang="en-US" sz="2800" dirty="0"/>
          </a:p>
        </p:txBody>
      </p:sp>
      <p:sp>
        <p:nvSpPr>
          <p:cNvPr id="13" name="Text 11"/>
          <p:cNvSpPr/>
          <p:nvPr/>
        </p:nvSpPr>
        <p:spPr>
          <a:xfrm>
            <a:off x="3611880" y="1527048"/>
            <a:ext cx="1828800" cy="228600"/>
          </a:xfrm>
          <a:prstGeom prst="rect">
            <a:avLst/>
          </a:prstGeom>
          <a:noFill/>
          <a:ln/>
        </p:spPr>
        <p:txBody>
          <a:bodyPr wrap="square" lIns="0" tIns="0" rIns="0" bIns="0" rtlCol="0" anchor="ctr"/>
          <a:lstStyle/>
          <a:p>
            <a:pPr indent="0" marL="0">
              <a:buNone/>
            </a:pPr>
            <a:r>
              <a:rPr lang="en-US" sz="1400" b="1" dirty="0">
                <a:solidFill>
                  <a:srgbClr val="C53030"/>
                </a:solidFill>
                <a:latin typeface="Arial" pitchFamily="34" charset="0"/>
                <a:ea typeface="Arial" pitchFamily="34" charset="-122"/>
                <a:cs typeface="Arial" pitchFamily="34" charset="-120"/>
              </a:rPr>
              <a:t>-4.1%</a:t>
            </a:r>
            <a:endParaRPr lang="en-US" sz="1400" dirty="0"/>
          </a:p>
        </p:txBody>
      </p:sp>
      <p:sp>
        <p:nvSpPr>
          <p:cNvPr id="14" name="Shape 12"/>
          <p:cNvSpPr/>
          <p:nvPr/>
        </p:nvSpPr>
        <p:spPr>
          <a:xfrm>
            <a:off x="6217920" y="868680"/>
            <a:ext cx="2560320" cy="9601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6217920" y="868680"/>
            <a:ext cx="54864" cy="960120"/>
          </a:xfrm>
          <a:prstGeom prst="rect">
            <a:avLst/>
          </a:prstGeom>
          <a:solidFill>
            <a:srgbClr val="C53030"/>
          </a:solidFill>
          <a:ln/>
        </p:spPr>
      </p:sp>
      <p:sp>
        <p:nvSpPr>
          <p:cNvPr id="16" name="Text 14"/>
          <p:cNvSpPr/>
          <p:nvPr/>
        </p:nvSpPr>
        <p:spPr>
          <a:xfrm>
            <a:off x="6446520" y="960120"/>
            <a:ext cx="2194560" cy="274320"/>
          </a:xfrm>
          <a:prstGeom prst="rect">
            <a:avLst/>
          </a:prstGeom>
          <a:noFill/>
          <a:ln/>
        </p:spPr>
        <p:txBody>
          <a:bodyPr wrap="square" lIns="0" tIns="0" rIns="0" bIns="0" rtlCol="0" anchor="ctr"/>
          <a:lstStyle/>
          <a:p>
            <a:pPr indent="0" marL="0">
              <a:buNone/>
            </a:pPr>
            <a:r>
              <a:rPr lang="en-US" sz="1200" b="1" dirty="0">
                <a:solidFill>
                  <a:srgbClr val="8C95A6"/>
                </a:solidFill>
                <a:latin typeface="Arial" pitchFamily="34" charset="0"/>
                <a:ea typeface="Arial" pitchFamily="34" charset="-122"/>
                <a:cs typeface="Arial" pitchFamily="34" charset="-120"/>
              </a:rPr>
              <a:t>Fear &amp; Greed</a:t>
            </a:r>
            <a:endParaRPr lang="en-US" sz="1200" dirty="0"/>
          </a:p>
        </p:txBody>
      </p:sp>
      <p:sp>
        <p:nvSpPr>
          <p:cNvPr id="17" name="Text 15"/>
          <p:cNvSpPr/>
          <p:nvPr/>
        </p:nvSpPr>
        <p:spPr>
          <a:xfrm>
            <a:off x="6446520" y="1188720"/>
            <a:ext cx="914400" cy="365760"/>
          </a:xfrm>
          <a:prstGeom prst="rect">
            <a:avLst/>
          </a:prstGeom>
          <a:noFill/>
          <a:ln/>
        </p:spPr>
        <p:txBody>
          <a:bodyPr wrap="square" lIns="0" tIns="0" rIns="0" bIns="0" rtlCol="0" anchor="ctr"/>
          <a:lstStyle/>
          <a:p>
            <a:pPr indent="0" marL="0">
              <a:buNone/>
            </a:pPr>
            <a:r>
              <a:rPr lang="en-US" sz="2800" b="1" dirty="0">
                <a:solidFill>
                  <a:srgbClr val="C53030"/>
                </a:solidFill>
                <a:latin typeface="Arial" pitchFamily="34" charset="0"/>
                <a:ea typeface="Arial" pitchFamily="34" charset="-122"/>
                <a:cs typeface="Arial" pitchFamily="34" charset="-120"/>
              </a:rPr>
              <a:t>9</a:t>
            </a:r>
            <a:endParaRPr lang="en-US" sz="2800" dirty="0"/>
          </a:p>
        </p:txBody>
      </p:sp>
      <p:sp>
        <p:nvSpPr>
          <p:cNvPr id="18" name="Text 16"/>
          <p:cNvSpPr/>
          <p:nvPr/>
        </p:nvSpPr>
        <p:spPr>
          <a:xfrm>
            <a:off x="7223760" y="1252728"/>
            <a:ext cx="1371600" cy="274320"/>
          </a:xfrm>
          <a:prstGeom prst="rect">
            <a:avLst/>
          </a:prstGeom>
          <a:noFill/>
          <a:ln/>
        </p:spPr>
        <p:txBody>
          <a:bodyPr wrap="square" lIns="0" tIns="0" rIns="0" bIns="0" rtlCol="0" anchor="ctr"/>
          <a:lstStyle/>
          <a:p>
            <a:pPr indent="0" marL="0">
              <a:buNone/>
            </a:pPr>
            <a:r>
              <a:rPr lang="en-US" sz="1300" dirty="0">
                <a:solidFill>
                  <a:srgbClr val="C53030"/>
                </a:solidFill>
                <a:latin typeface="Arial" pitchFamily="34" charset="0"/>
                <a:ea typeface="Arial" pitchFamily="34" charset="-122"/>
                <a:cs typeface="Arial" pitchFamily="34" charset="-120"/>
              </a:rPr>
              <a:t>Extreme Fear</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8046720" cy="914400"/>
        </p:xfrm>
        <a:graphic>
          <a:graphicData uri="http://schemas.openxmlformats.org/drawingml/2006/table">
            <a:tbl>
              <a:tblPr/>
              <a:tblGrid>
                <a:gridCol w="1188720"/>
                <a:gridCol w="1645920"/>
                <a:gridCol w="1371600"/>
                <a:gridCol w="3840480"/>
              </a:tblGrid>
              <a:tr h="320040">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Asset</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Price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7d Change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100" b="1" dirty="0">
                          <a:solidFill>
                            <a:srgbClr val="FFFFFF"/>
                          </a:solidFill>
                          <a:latin typeface="Arial" pitchFamily="34" charset="0"/>
                          <a:ea typeface="Arial" pitchFamily="34" charset="-122"/>
                          <a:cs typeface="Arial" pitchFamily="34" charset="-120"/>
                        </a:rPr>
                        <a:t>Notes</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SOL</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$81.63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-6.7%</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SEC commodity classification not yet priced in</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HYPE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$38.91</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+2.3%</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Perp DEX leader; weekly fees $14M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PENDLE</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$1.12</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-6.2%</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Yield token sector under pressure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ENA</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$0.09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C53030"/>
                          </a:solidFill>
                          <a:latin typeface="Arial" pitchFamily="34" charset="0"/>
                          <a:ea typeface="Arial" pitchFamily="34" charset="-122"/>
                          <a:cs typeface="Arial" pitchFamily="34" charset="-120"/>
                        </a:rPr>
                        <a:t>-8.4%</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Weakening with broader market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301752">
                <a:tc>
                  <a:txBody>
                    <a:bodyPr/>
                    <a:lstStyle/>
                    <a:p>
                      <a:pPr algn="ctr" indent="0" marL="0">
                        <a:buNone/>
                      </a:pPr>
                      <a:r>
                        <a:rPr lang="en-US" sz="1100" b="1" dirty="0">
                          <a:solidFill>
                            <a:srgbClr val="2D3748"/>
                          </a:solidFill>
                          <a:latin typeface="Arial" pitchFamily="34" charset="0"/>
                          <a:ea typeface="Arial" pitchFamily="34" charset="-122"/>
                          <a:cs typeface="Arial" pitchFamily="34" charset="-120"/>
                        </a:rPr>
                        <a:t>DYDX</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100" dirty="0">
                          <a:solidFill>
                            <a:srgbClr val="2D3748"/>
                          </a:solidFill>
                          <a:latin typeface="Arial" pitchFamily="34" charset="0"/>
                          <a:ea typeface="Arial" pitchFamily="34" charset="-122"/>
                          <a:cs typeface="Arial" pitchFamily="34" charset="-120"/>
                        </a:rPr>
                        <a:t>$0.09</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100" b="1" dirty="0">
                          <a:solidFill>
                            <a:srgbClr val="2F855A"/>
                          </a:solidFill>
                          <a:latin typeface="Arial" pitchFamily="34" charset="0"/>
                          <a:ea typeface="Arial" pitchFamily="34" charset="-122"/>
                          <a:cs typeface="Arial" pitchFamily="34" charset="-120"/>
                        </a:rPr>
                        <a:t>+11.6%</a:t>
                      </a:r>
                      <a:endParaRPr lang="en-US" sz="11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8C95A6"/>
                          </a:solidFill>
                          <a:latin typeface="Arial" pitchFamily="34" charset="0"/>
                          <a:ea typeface="Arial" pitchFamily="34" charset="-122"/>
                          <a:cs typeface="Arial" pitchFamily="34" charset="-120"/>
                        </a:rPr>
                        <a:t>Buyback expanded to 75% net revenue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0" name="Text 17"/>
          <p:cNvSpPr/>
          <p:nvPr/>
        </p:nvSpPr>
        <p:spPr>
          <a:xfrm>
            <a:off x="548640" y="4160520"/>
            <a:ext cx="8046720" cy="365760"/>
          </a:xfrm>
          <a:prstGeom prst="rect">
            <a:avLst/>
          </a:prstGeom>
          <a:noFill/>
          <a:ln/>
        </p:spPr>
        <p:txBody>
          <a:bodyPr wrap="square" lIns="0" tIns="0" rIns="0" bIns="0" rtlCol="0" anchor="ctr"/>
          <a:lstStyle/>
          <a:p>
            <a:pPr indent="0" marL="0">
              <a:buNone/>
            </a:pPr>
            <a:r>
              <a:rPr lang="en-US" sz="1000" i="1" dirty="0">
                <a:solidFill>
                  <a:srgbClr val="8C95A6"/>
                </a:solidFill>
                <a:latin typeface="Arial" pitchFamily="34" charset="0"/>
                <a:ea typeface="Arial" pitchFamily="34" charset="-122"/>
                <a:cs typeface="Arial" pitchFamily="34" charset="-120"/>
              </a:rPr>
              <a:t>Macro: Israel-Iran conflict + Trump 15% tariffs + Fed PCE revision to 2.7% → risk-off across all assets; BTC/ETH/SOL ETFs same-day net outflows</a:t>
            </a:r>
            <a:endParaRPr lang="en-US" sz="1000" dirty="0"/>
          </a:p>
        </p:txBody>
      </p:sp>
      <p:sp>
        <p:nvSpPr>
          <p:cNvPr id="21" name="Shape 18"/>
          <p:cNvSpPr/>
          <p:nvPr/>
        </p:nvSpPr>
        <p:spPr>
          <a:xfrm>
            <a:off x="0" y="4800600"/>
            <a:ext cx="9144000" cy="342900"/>
          </a:xfrm>
          <a:prstGeom prst="rect">
            <a:avLst/>
          </a:prstGeom>
          <a:solidFill>
            <a:srgbClr val="1A2744"/>
          </a:solidFill>
          <a:ln/>
        </p:spPr>
      </p:sp>
      <p:sp>
        <p:nvSpPr>
          <p:cNvPr id="22" name="Text 19"/>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 2026.03.23–03.29</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Top Stories &amp; Industry</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548640" y="868680"/>
            <a:ext cx="3657600" cy="32004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TOP 5 STORIES</a:t>
            </a:r>
            <a:endParaRPr lang="en-US" sz="1300" dirty="0"/>
          </a:p>
        </p:txBody>
      </p:sp>
      <p:sp>
        <p:nvSpPr>
          <p:cNvPr id="6" name="Shape 4"/>
          <p:cNvSpPr/>
          <p:nvPr/>
        </p:nvSpPr>
        <p:spPr>
          <a:xfrm>
            <a:off x="594360" y="1261872"/>
            <a:ext cx="274320" cy="274320"/>
          </a:xfrm>
          <a:prstGeom prst="ellipse">
            <a:avLst/>
          </a:prstGeom>
          <a:solidFill>
            <a:srgbClr val="C9A96E"/>
          </a:solidFill>
          <a:ln/>
        </p:spPr>
      </p:sp>
      <p:sp>
        <p:nvSpPr>
          <p:cNvPr id="7" name="Text 5"/>
          <p:cNvSpPr/>
          <p:nvPr/>
        </p:nvSpPr>
        <p:spPr>
          <a:xfrm>
            <a:off x="594360" y="126187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8" name="Text 6"/>
          <p:cNvSpPr/>
          <p:nvPr/>
        </p:nvSpPr>
        <p:spPr>
          <a:xfrm>
            <a:off x="1005840" y="1243584"/>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16 Crypto Assets Get Commodity Status</a:t>
            </a:r>
            <a:endParaRPr lang="en-US" sz="1100" dirty="0"/>
          </a:p>
        </p:txBody>
      </p:sp>
      <p:sp>
        <p:nvSpPr>
          <p:cNvPr id="9" name="Text 7"/>
          <p:cNvSpPr/>
          <p:nvPr/>
        </p:nvSpPr>
        <p:spPr>
          <a:xfrm>
            <a:off x="1005840" y="1463040"/>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Ends decade of regulatory ambiguity; clears SOL/XRP ETF path</a:t>
            </a:r>
            <a:endParaRPr lang="en-US" sz="900" dirty="0"/>
          </a:p>
        </p:txBody>
      </p:sp>
      <p:sp>
        <p:nvSpPr>
          <p:cNvPr id="10" name="Shape 8"/>
          <p:cNvSpPr/>
          <p:nvPr/>
        </p:nvSpPr>
        <p:spPr>
          <a:xfrm>
            <a:off x="594360" y="1920240"/>
            <a:ext cx="274320" cy="274320"/>
          </a:xfrm>
          <a:prstGeom prst="ellipse">
            <a:avLst/>
          </a:prstGeom>
          <a:solidFill>
            <a:srgbClr val="C9A96E"/>
          </a:solidFill>
          <a:ln/>
        </p:spPr>
      </p:sp>
      <p:sp>
        <p:nvSpPr>
          <p:cNvPr id="11" name="Text 9"/>
          <p:cNvSpPr/>
          <p:nvPr/>
        </p:nvSpPr>
        <p:spPr>
          <a:xfrm>
            <a:off x="594360" y="1920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1005840" y="1901952"/>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CLARITY Act Bans Stablecoin Yield; Circle -20%</a:t>
            </a:r>
            <a:endParaRPr lang="en-US" sz="1100" dirty="0"/>
          </a:p>
        </p:txBody>
      </p:sp>
      <p:sp>
        <p:nvSpPr>
          <p:cNvPr id="13" name="Text 11"/>
          <p:cNvSpPr/>
          <p:nvPr/>
        </p:nvSpPr>
        <p:spPr>
          <a:xfrm>
            <a:off x="1005840" y="2121408"/>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$2B market cap wiped; stablecoin business model at risk</a:t>
            </a:r>
            <a:endParaRPr lang="en-US" sz="900" dirty="0"/>
          </a:p>
        </p:txBody>
      </p:sp>
      <p:sp>
        <p:nvSpPr>
          <p:cNvPr id="14" name="Shape 12"/>
          <p:cNvSpPr/>
          <p:nvPr/>
        </p:nvSpPr>
        <p:spPr>
          <a:xfrm>
            <a:off x="594360" y="2578608"/>
            <a:ext cx="274320" cy="274320"/>
          </a:xfrm>
          <a:prstGeom prst="ellipse">
            <a:avLst/>
          </a:prstGeom>
          <a:solidFill>
            <a:srgbClr val="C9A96E"/>
          </a:solidFill>
          <a:ln/>
        </p:spPr>
      </p:sp>
      <p:sp>
        <p:nvSpPr>
          <p:cNvPr id="15" name="Text 13"/>
          <p:cNvSpPr/>
          <p:nvPr/>
        </p:nvSpPr>
        <p:spPr>
          <a:xfrm>
            <a:off x="594360" y="257860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6" name="Text 14"/>
          <p:cNvSpPr/>
          <p:nvPr/>
        </p:nvSpPr>
        <p:spPr>
          <a:xfrm>
            <a:off x="1005840" y="2560320"/>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Resolv USR Exploited: $25M Stolen, 97.5% Depeg</a:t>
            </a:r>
            <a:endParaRPr lang="en-US" sz="1100" dirty="0"/>
          </a:p>
        </p:txBody>
      </p:sp>
      <p:sp>
        <p:nvSpPr>
          <p:cNvPr id="17" name="Text 15"/>
          <p:cNvSpPr/>
          <p:nvPr/>
        </p:nvSpPr>
        <p:spPr>
          <a:xfrm>
            <a:off x="1005840" y="2779776"/>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AWS key compromised; collapsed in 17 minutes on Curve</a:t>
            </a:r>
            <a:endParaRPr lang="en-US" sz="900" dirty="0"/>
          </a:p>
        </p:txBody>
      </p:sp>
      <p:sp>
        <p:nvSpPr>
          <p:cNvPr id="18" name="Shape 16"/>
          <p:cNvSpPr/>
          <p:nvPr/>
        </p:nvSpPr>
        <p:spPr>
          <a:xfrm>
            <a:off x="594360" y="3236976"/>
            <a:ext cx="274320" cy="274320"/>
          </a:xfrm>
          <a:prstGeom prst="ellipse">
            <a:avLst/>
          </a:prstGeom>
          <a:solidFill>
            <a:srgbClr val="C9A96E"/>
          </a:solidFill>
          <a:ln/>
        </p:spPr>
      </p:sp>
      <p:sp>
        <p:nvSpPr>
          <p:cNvPr id="19" name="Text 17"/>
          <p:cNvSpPr/>
          <p:nvPr/>
        </p:nvSpPr>
        <p:spPr>
          <a:xfrm>
            <a:off x="594360" y="323697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1005840" y="3218688"/>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Geopolitical + Tariff Shock Crushes Market</a:t>
            </a:r>
            <a:endParaRPr lang="en-US" sz="1100" dirty="0"/>
          </a:p>
        </p:txBody>
      </p:sp>
      <p:sp>
        <p:nvSpPr>
          <p:cNvPr id="21" name="Text 19"/>
          <p:cNvSpPr/>
          <p:nvPr/>
        </p:nvSpPr>
        <p:spPr>
          <a:xfrm>
            <a:off x="1005840" y="3438144"/>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Israel-Iran war + Trump 15% tariffs; ETFs all net outflows</a:t>
            </a:r>
            <a:endParaRPr lang="en-US" sz="900" dirty="0"/>
          </a:p>
        </p:txBody>
      </p:sp>
      <p:sp>
        <p:nvSpPr>
          <p:cNvPr id="22" name="Shape 20"/>
          <p:cNvSpPr/>
          <p:nvPr/>
        </p:nvSpPr>
        <p:spPr>
          <a:xfrm>
            <a:off x="594360" y="3895344"/>
            <a:ext cx="274320" cy="274320"/>
          </a:xfrm>
          <a:prstGeom prst="ellipse">
            <a:avLst/>
          </a:prstGeom>
          <a:solidFill>
            <a:srgbClr val="C9A96E"/>
          </a:solidFill>
          <a:ln/>
        </p:spPr>
      </p:sp>
      <p:sp>
        <p:nvSpPr>
          <p:cNvPr id="23" name="Text 21"/>
          <p:cNvSpPr/>
          <p:nvPr/>
        </p:nvSpPr>
        <p:spPr>
          <a:xfrm>
            <a:off x="594360" y="389534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4" name="Text 22"/>
          <p:cNvSpPr/>
          <p:nvPr/>
        </p:nvSpPr>
        <p:spPr>
          <a:xfrm>
            <a:off x="1005840" y="3877056"/>
            <a:ext cx="329184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BTC Miners Pivot to AI: Mining Cost $80K vs $68K Price</a:t>
            </a:r>
            <a:endParaRPr lang="en-US" sz="1100" dirty="0"/>
          </a:p>
        </p:txBody>
      </p:sp>
      <p:sp>
        <p:nvSpPr>
          <p:cNvPr id="25" name="Text 23"/>
          <p:cNvSpPr/>
          <p:nvPr/>
        </p:nvSpPr>
        <p:spPr>
          <a:xfrm>
            <a:off x="1005840" y="4096512"/>
            <a:ext cx="3291840" cy="228600"/>
          </a:xfrm>
          <a:prstGeom prst="rect">
            <a:avLst/>
          </a:prstGeom>
          <a:noFill/>
          <a:ln/>
        </p:spPr>
        <p:txBody>
          <a:bodyPr wrap="square" lIns="0" tIns="0" rIns="0" bIns="0" rtlCol="0" anchor="ctr"/>
          <a:lstStyle/>
          <a:p>
            <a:pPr indent="0" marL="0">
              <a:buNone/>
            </a:pPr>
            <a:r>
              <a:rPr lang="en-US" sz="900" dirty="0">
                <a:solidFill>
                  <a:srgbClr val="8C95A6"/>
                </a:solidFill>
                <a:latin typeface="Arial" pitchFamily="34" charset="0"/>
                <a:ea typeface="Arial" pitchFamily="34" charset="-122"/>
                <a:cs typeface="Arial" pitchFamily="34" charset="-120"/>
              </a:rPr>
              <a:t>$70B+ AI contracts signed; 15,000+ BTC sold for funding</a:t>
            </a:r>
            <a:endParaRPr lang="en-US" sz="900" dirty="0"/>
          </a:p>
        </p:txBody>
      </p:sp>
      <p:sp>
        <p:nvSpPr>
          <p:cNvPr id="26" name="Shape 24"/>
          <p:cNvSpPr/>
          <p:nvPr/>
        </p:nvSpPr>
        <p:spPr>
          <a:xfrm>
            <a:off x="4663440" y="82296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7" name="Shape 25"/>
          <p:cNvSpPr/>
          <p:nvPr/>
        </p:nvSpPr>
        <p:spPr>
          <a:xfrm>
            <a:off x="4663440" y="822960"/>
            <a:ext cx="4114800" cy="320040"/>
          </a:xfrm>
          <a:prstGeom prst="rect">
            <a:avLst/>
          </a:prstGeom>
          <a:solidFill>
            <a:srgbClr val="1A2744"/>
          </a:solidFill>
          <a:ln/>
        </p:spPr>
      </p:sp>
      <p:sp>
        <p:nvSpPr>
          <p:cNvPr id="28" name="Text 26"/>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Layer 1 &amp; Layer 2</a:t>
            </a:r>
            <a:endParaRPr lang="en-US" sz="1100" dirty="0"/>
          </a:p>
        </p:txBody>
      </p:sp>
      <p:sp>
        <p:nvSpPr>
          <p:cNvPr id="29" name="Text 27"/>
          <p:cNvSpPr/>
          <p:nvPr/>
        </p:nvSpPr>
        <p:spPr>
          <a:xfrm>
            <a:off x="4846320" y="120700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16 tokens get SEC-CFTC commodity classification (BTC/ETH/SOL etc)</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Base TVL $4.15B, ~50% of L2 DEX volume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Linea Yield Boost: ETH auto-staked via Lido V3</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L2/L1 DAU ratio dropped to 1.12 from peak 10.43</a:t>
            </a:r>
            <a:endParaRPr lang="en-US" sz="1000" dirty="0"/>
          </a:p>
        </p:txBody>
      </p:sp>
      <p:sp>
        <p:nvSpPr>
          <p:cNvPr id="30" name="Shape 28"/>
          <p:cNvSpPr/>
          <p:nvPr/>
        </p:nvSpPr>
        <p:spPr>
          <a:xfrm>
            <a:off x="4663440" y="2788920"/>
            <a:ext cx="4114800" cy="17830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31" name="Shape 29"/>
          <p:cNvSpPr/>
          <p:nvPr/>
        </p:nvSpPr>
        <p:spPr>
          <a:xfrm>
            <a:off x="4663440" y="2788920"/>
            <a:ext cx="4114800" cy="320040"/>
          </a:xfrm>
          <a:prstGeom prst="rect">
            <a:avLst/>
          </a:prstGeom>
          <a:solidFill>
            <a:srgbClr val="1A2744"/>
          </a:solidFill>
          <a:ln/>
        </p:spPr>
      </p:sp>
      <p:sp>
        <p:nvSpPr>
          <p:cNvPr id="32" name="Text 30"/>
          <p:cNvSpPr/>
          <p:nvPr/>
        </p:nvSpPr>
        <p:spPr>
          <a:xfrm>
            <a:off x="4846320" y="278892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DeFi &amp; Perp DEXes</a:t>
            </a:r>
            <a:endParaRPr lang="en-US" sz="1100" dirty="0"/>
          </a:p>
        </p:txBody>
      </p:sp>
      <p:sp>
        <p:nvSpPr>
          <p:cNvPr id="33" name="Text 31"/>
          <p:cNvSpPr/>
          <p:nvPr/>
        </p:nvSpPr>
        <p:spPr>
          <a:xfrm>
            <a:off x="4846320" y="3172968"/>
            <a:ext cx="3749040" cy="132588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Aave cumulative lending exceeds $1T; TVL $27.3B (62.8% share)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DeFi TVL rose 4.4% despite extreme fear sentiment</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Hyperliquid: 54% perp DEX share; weekly fees $14M (+56%)</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dYdX buyback to 75% net rev; synthetic equity perps planned</a:t>
            </a:r>
            <a:endParaRPr lang="en-US" sz="1000" dirty="0"/>
          </a:p>
        </p:txBody>
      </p:sp>
      <p:sp>
        <p:nvSpPr>
          <p:cNvPr id="34" name="Shape 32"/>
          <p:cNvSpPr/>
          <p:nvPr/>
        </p:nvSpPr>
        <p:spPr>
          <a:xfrm>
            <a:off x="0" y="4800600"/>
            <a:ext cx="9144000" cy="342900"/>
          </a:xfrm>
          <a:prstGeom prst="rect">
            <a:avLst/>
          </a:prstGeom>
          <a:solidFill>
            <a:srgbClr val="1A2744"/>
          </a:solidFill>
          <a:ln/>
        </p:spPr>
      </p:sp>
      <p:sp>
        <p:nvSpPr>
          <p:cNvPr id="35" name="Text 33"/>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 2026.03.23–03.29</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Regulation &amp; Fundraising</a:t>
            </a:r>
            <a:endParaRPr lang="en-US" sz="2000" dirty="0"/>
          </a:p>
        </p:txBody>
      </p:sp>
      <p:sp>
        <p:nvSpPr>
          <p:cNvPr id="4" name="Shape 2"/>
          <p:cNvSpPr/>
          <p:nvPr/>
        </p:nvSpPr>
        <p:spPr>
          <a:xfrm>
            <a:off x="36576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54864" cy="3749040"/>
          </a:xfrm>
          <a:prstGeom prst="rect">
            <a:avLst/>
          </a:prstGeom>
          <a:solidFill>
            <a:srgbClr val="C9A96E"/>
          </a:solidFill>
          <a:ln/>
        </p:spPr>
      </p:sp>
      <p:sp>
        <p:nvSpPr>
          <p:cNvPr id="6" name="Text 4"/>
          <p:cNvSpPr/>
          <p:nvPr/>
        </p:nvSpPr>
        <p:spPr>
          <a:xfrm>
            <a:off x="64008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Regulation &amp; Policy</a:t>
            </a:r>
            <a:endParaRPr lang="en-US" sz="1400" dirty="0"/>
          </a:p>
        </p:txBody>
      </p:sp>
      <p:sp>
        <p:nvSpPr>
          <p:cNvPr id="7" name="Text 5"/>
          <p:cNvSpPr/>
          <p:nvPr/>
        </p:nvSpPr>
        <p:spPr>
          <a:xfrm>
            <a:off x="640080" y="132588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SEC-CFTC Joint Commodity Rules</a:t>
            </a:r>
            <a:endParaRPr lang="en-US" sz="1100" dirty="0"/>
          </a:p>
        </p:txBody>
      </p:sp>
      <p:sp>
        <p:nvSpPr>
          <p:cNvPr id="8" name="Text 6"/>
          <p:cNvSpPr/>
          <p:nvPr/>
        </p:nvSpPr>
        <p:spPr>
          <a:xfrm>
            <a:off x="640080" y="153619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16 tokens classified as commodities; ends regulation-by-enforcement</a:t>
            </a:r>
            <a:endParaRPr lang="en-US" sz="1000" dirty="0"/>
          </a:p>
        </p:txBody>
      </p:sp>
      <p:sp>
        <p:nvSpPr>
          <p:cNvPr id="9" name="Text 7"/>
          <p:cNvSpPr/>
          <p:nvPr/>
        </p:nvSpPr>
        <p:spPr>
          <a:xfrm>
            <a:off x="640080" y="192024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CLARITY Act Draft</a:t>
            </a:r>
            <a:endParaRPr lang="en-US" sz="1100" dirty="0"/>
          </a:p>
        </p:txBody>
      </p:sp>
      <p:sp>
        <p:nvSpPr>
          <p:cNvPr id="10" name="Text 8"/>
          <p:cNvSpPr/>
          <p:nvPr/>
        </p:nvSpPr>
        <p:spPr>
          <a:xfrm>
            <a:off x="640080" y="213055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Bans stablecoin passive yield; Circle stock crashes 20%</a:t>
            </a:r>
            <a:endParaRPr lang="en-US" sz="1000" dirty="0"/>
          </a:p>
        </p:txBody>
      </p:sp>
      <p:sp>
        <p:nvSpPr>
          <p:cNvPr id="11" name="Text 9"/>
          <p:cNvSpPr/>
          <p:nvPr/>
        </p:nvSpPr>
        <p:spPr>
          <a:xfrm>
            <a:off x="640080" y="251460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CFTC Innovation Task Force</a:t>
            </a:r>
            <a:endParaRPr lang="en-US" sz="1100" dirty="0"/>
          </a:p>
        </p:txBody>
      </p:sp>
      <p:sp>
        <p:nvSpPr>
          <p:cNvPr id="12" name="Text 10"/>
          <p:cNvSpPr/>
          <p:nvPr/>
        </p:nvSpPr>
        <p:spPr>
          <a:xfrm>
            <a:off x="640080" y="272491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Covers digital assets, AI, and prediction markets oversight</a:t>
            </a:r>
            <a:endParaRPr lang="en-US" sz="1000" dirty="0"/>
          </a:p>
        </p:txBody>
      </p:sp>
      <p:sp>
        <p:nvSpPr>
          <p:cNvPr id="13" name="Text 11"/>
          <p:cNvSpPr/>
          <p:nvPr/>
        </p:nvSpPr>
        <p:spPr>
          <a:xfrm>
            <a:off x="640080" y="310896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House Tokenization Hearing</a:t>
            </a:r>
            <a:endParaRPr lang="en-US" sz="1100" dirty="0"/>
          </a:p>
        </p:txBody>
      </p:sp>
      <p:sp>
        <p:nvSpPr>
          <p:cNvPr id="14" name="Text 12"/>
          <p:cNvSpPr/>
          <p:nvPr/>
        </p:nvSpPr>
        <p:spPr>
          <a:xfrm>
            <a:off x="640080" y="331927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Financial Services Committee on blockchain + capital markets</a:t>
            </a:r>
            <a:endParaRPr lang="en-US" sz="1000" dirty="0"/>
          </a:p>
        </p:txBody>
      </p:sp>
      <p:sp>
        <p:nvSpPr>
          <p:cNvPr id="15" name="Text 13"/>
          <p:cNvSpPr/>
          <p:nvPr/>
        </p:nvSpPr>
        <p:spPr>
          <a:xfrm>
            <a:off x="640080" y="3703320"/>
            <a:ext cx="3657600" cy="228600"/>
          </a:xfrm>
          <a:prstGeom prst="rect">
            <a:avLst/>
          </a:prstGeom>
          <a:noFill/>
          <a:ln/>
        </p:spPr>
        <p:txBody>
          <a:bodyPr wrap="square" lIns="0" tIns="0" rIns="0" bIns="0" rtlCol="0" anchor="ctr"/>
          <a:lstStyle/>
          <a:p>
            <a:pPr indent="0" marL="0">
              <a:buNone/>
            </a:pPr>
            <a:r>
              <a:rPr lang="en-US" sz="1100" b="1" dirty="0">
                <a:solidFill>
                  <a:srgbClr val="2D3748"/>
                </a:solidFill>
                <a:latin typeface="Arial" pitchFamily="34" charset="0"/>
                <a:ea typeface="Arial" pitchFamily="34" charset="-122"/>
                <a:cs typeface="Arial" pitchFamily="34" charset="-120"/>
              </a:rPr>
              <a:t>NYSE × Securitize Platform</a:t>
            </a:r>
            <a:endParaRPr lang="en-US" sz="1100" dirty="0"/>
          </a:p>
        </p:txBody>
      </p:sp>
      <p:sp>
        <p:nvSpPr>
          <p:cNvPr id="16" name="Text 14"/>
          <p:cNvSpPr/>
          <p:nvPr/>
        </p:nvSpPr>
        <p:spPr>
          <a:xfrm>
            <a:off x="640080" y="3913632"/>
            <a:ext cx="3657600" cy="228600"/>
          </a:xfrm>
          <a:prstGeom prst="rect">
            <a:avLst/>
          </a:prstGeom>
          <a:noFill/>
          <a:ln/>
        </p:spPr>
        <p:txBody>
          <a:bodyPr wrap="square" lIns="0" tIns="0" rIns="0" bIns="0" rtlCol="0" anchor="ctr"/>
          <a:lstStyle/>
          <a:p>
            <a:pPr indent="0" marL="0">
              <a:buNone/>
            </a:pPr>
            <a:r>
              <a:rPr lang="en-US" sz="1000" dirty="0">
                <a:solidFill>
                  <a:srgbClr val="8C95A6"/>
                </a:solidFill>
                <a:latin typeface="Arial" pitchFamily="34" charset="0"/>
                <a:ea typeface="Arial" pitchFamily="34" charset="-122"/>
                <a:cs typeface="Arial" pitchFamily="34" charset="-120"/>
              </a:rPr>
              <a:t>SEC approves tokenized equities 24/7 trading + on-chain settlement</a:t>
            </a:r>
            <a:endParaRPr lang="en-US" sz="1000" dirty="0"/>
          </a:p>
        </p:txBody>
      </p:sp>
      <p:sp>
        <p:nvSpPr>
          <p:cNvPr id="17" name="Shape 15"/>
          <p:cNvSpPr/>
          <p:nvPr/>
        </p:nvSpPr>
        <p:spPr>
          <a:xfrm>
            <a:off x="4663440" y="822960"/>
            <a:ext cx="4114800" cy="37490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8" name="Shape 16"/>
          <p:cNvSpPr/>
          <p:nvPr/>
        </p:nvSpPr>
        <p:spPr>
          <a:xfrm>
            <a:off x="4663440" y="822960"/>
            <a:ext cx="54864" cy="3749040"/>
          </a:xfrm>
          <a:prstGeom prst="rect">
            <a:avLst/>
          </a:prstGeom>
          <a:solidFill>
            <a:srgbClr val="C9A96E"/>
          </a:solidFill>
          <a:ln/>
        </p:spPr>
      </p:sp>
      <p:sp>
        <p:nvSpPr>
          <p:cNvPr id="19" name="Text 17"/>
          <p:cNvSpPr/>
          <p:nvPr/>
        </p:nvSpPr>
        <p:spPr>
          <a:xfrm>
            <a:off x="4937760" y="868680"/>
            <a:ext cx="3657600" cy="320040"/>
          </a:xfrm>
          <a:prstGeom prst="rect">
            <a:avLst/>
          </a:prstGeom>
          <a:noFill/>
          <a:ln/>
        </p:spPr>
        <p:txBody>
          <a:bodyPr wrap="square" lIns="0" tIns="0" rIns="0" bIns="0" rtlCol="0" anchor="ctr"/>
          <a:lstStyle/>
          <a:p>
            <a:pPr indent="0" marL="0">
              <a:buNone/>
            </a:pPr>
            <a:r>
              <a:rPr lang="en-US" sz="1400" b="1" dirty="0">
                <a:solidFill>
                  <a:srgbClr val="1A2744"/>
                </a:solidFill>
                <a:latin typeface="Arial" pitchFamily="34" charset="0"/>
                <a:ea typeface="Arial" pitchFamily="34" charset="-122"/>
                <a:cs typeface="Arial" pitchFamily="34" charset="-120"/>
              </a:rPr>
              <a:t>Fundraising &amp; M&amp;A</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325880"/>
          <a:ext cx="3749040" cy="914400"/>
        </p:xfrm>
        <a:graphic>
          <a:graphicData uri="http://schemas.openxmlformats.org/drawingml/2006/table">
            <a:tbl>
              <a:tblPr/>
              <a:tblGrid>
                <a:gridCol w="1188720"/>
                <a:gridCol w="731520"/>
                <a:gridCol w="1828800"/>
              </a:tblGrid>
              <a:tr h="274320">
                <a:tc>
                  <a:txBody>
                    <a:bodyPr/>
                    <a:lstStyle/>
                    <a:p>
                      <a:pPr indent="0" marL="0">
                        <a:buNone/>
                      </a:pPr>
                      <a:r>
                        <a:rPr lang="en-US" sz="1000" b="1" dirty="0">
                          <a:solidFill>
                            <a:srgbClr val="FFFFFF"/>
                          </a:solidFill>
                          <a:latin typeface="Arial" pitchFamily="34" charset="0"/>
                          <a:ea typeface="Arial" pitchFamily="34" charset="-122"/>
                          <a:cs typeface="Arial" pitchFamily="34" charset="-120"/>
                        </a:rPr>
                        <a:t>Project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r" indent="0" marL="0">
                        <a:buNone/>
                      </a:pPr>
                      <a:r>
                        <a:rPr lang="en-US" sz="1000" b="1" dirty="0">
                          <a:solidFill>
                            <a:srgbClr val="FFFFFF"/>
                          </a:solidFill>
                          <a:latin typeface="Arial" pitchFamily="34" charset="0"/>
                          <a:ea typeface="Arial" pitchFamily="34" charset="-122"/>
                          <a:cs typeface="Arial" pitchFamily="34" charset="-120"/>
                        </a:rPr>
                        <a:t>Amount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Notes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MC × BVNK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$1.8B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TradFi deep into crypto infra</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Kalshi Series 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Prediction market record valuation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Polymarket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$600M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ICE-led; TradFi endorsement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Core Scientific</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$1B</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JPM+MS credit; AI chip expansion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74320">
                <a:tc>
                  <a:txBody>
                    <a:bodyPr/>
                    <a:lstStyle/>
                    <a:p>
                      <a:pPr indent="0" marL="0">
                        <a:buNone/>
                      </a:pPr>
                      <a:r>
                        <a:rPr lang="en-US" sz="1000" b="1" dirty="0">
                          <a:solidFill>
                            <a:srgbClr val="2D3748"/>
                          </a:solidFill>
                          <a:latin typeface="Arial" pitchFamily="34" charset="0"/>
                          <a:ea typeface="Arial" pitchFamily="34" charset="-122"/>
                          <a:cs typeface="Arial" pitchFamily="34" charset="-120"/>
                        </a:rPr>
                        <a:t>GSR Acquires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1000" dirty="0">
                          <a:solidFill>
                            <a:srgbClr val="2D3748"/>
                          </a:solidFill>
                          <a:latin typeface="Arial" pitchFamily="34" charset="0"/>
                          <a:ea typeface="Arial" pitchFamily="34" charset="-122"/>
                          <a:cs typeface="Arial" pitchFamily="34" charset="-120"/>
                        </a:rPr>
                        <a:t>$57M</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Autonomous + Architech</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21" name="Shape 18"/>
          <p:cNvSpPr/>
          <p:nvPr/>
        </p:nvSpPr>
        <p:spPr>
          <a:xfrm>
            <a:off x="4846320" y="3108960"/>
            <a:ext cx="3749040" cy="640080"/>
          </a:xfrm>
          <a:prstGeom prst="rect">
            <a:avLst/>
          </a:prstGeom>
          <a:solidFill>
            <a:srgbClr val="FFF8E7"/>
          </a:solidFill>
          <a:ln/>
          <a:effectLst>
            <a:outerShdw sx="100000" sy="100000" kx="0" ky="0" algn="bl" rotWithShape="0" blurRad="50800" dist="25400" dir="8100000">
              <a:srgbClr val="000000">
                <a:alpha val="12000"/>
              </a:srgbClr>
            </a:outerShdw>
          </a:effectLst>
        </p:spPr>
      </p:sp>
      <p:sp>
        <p:nvSpPr>
          <p:cNvPr id="22" name="Shape 19"/>
          <p:cNvSpPr/>
          <p:nvPr/>
        </p:nvSpPr>
        <p:spPr>
          <a:xfrm>
            <a:off x="4846320" y="3108960"/>
            <a:ext cx="54864" cy="640080"/>
          </a:xfrm>
          <a:prstGeom prst="rect">
            <a:avLst/>
          </a:prstGeom>
          <a:solidFill>
            <a:srgbClr val="C9A96E"/>
          </a:solidFill>
          <a:ln/>
        </p:spPr>
      </p:sp>
      <p:sp>
        <p:nvSpPr>
          <p:cNvPr id="23" name="Text 20"/>
          <p:cNvSpPr/>
          <p:nvPr/>
        </p:nvSpPr>
        <p:spPr>
          <a:xfrm>
            <a:off x="5074920" y="3154680"/>
            <a:ext cx="3383280" cy="548640"/>
          </a:xfrm>
          <a:prstGeom prst="rect">
            <a:avLst/>
          </a:prstGeom>
          <a:noFill/>
          <a:ln/>
        </p:spPr>
        <p:txBody>
          <a:bodyPr wrap="square" lIns="0" tIns="0" rIns="0" bIns="0" rtlCol="0" anchor="ctr"/>
          <a:lstStyle/>
          <a:p>
            <a:pPr indent="0" marL="0">
              <a:buNone/>
            </a:pPr>
            <a:r>
              <a:rPr lang="en-US" sz="1000" b="1" dirty="0">
                <a:solidFill>
                  <a:srgbClr val="1A2744"/>
                </a:solidFill>
                <a:latin typeface="Arial" pitchFamily="34" charset="0"/>
                <a:ea typeface="Arial" pitchFamily="34" charset="-122"/>
                <a:cs typeface="Arial" pitchFamily="34" charset="-120"/>
              </a:rPr>
              <a:t>Highlight: </a:t>
            </a:r>
            <a:pPr indent="0" marL="0">
              <a:buNone/>
            </a:pPr>
            <a:r>
              <a:rPr lang="en-US" sz="1000" dirty="0">
                <a:solidFill>
                  <a:srgbClr val="2D3748"/>
                </a:solidFill>
                <a:latin typeface="Arial" pitchFamily="34" charset="0"/>
                <a:ea typeface="Arial" pitchFamily="34" charset="-122"/>
                <a:cs typeface="Arial" pitchFamily="34" charset="-120"/>
              </a:rPr>
              <a:t>22 deals totaling ~$3.28B disclosed. 2026 crypto M&amp;A projected to exceed $37B record. TradFi accelerating crypto infrastructure acquisitions.</a:t>
            </a:r>
            <a:endParaRPr lang="en-US" sz="1000" dirty="0"/>
          </a:p>
        </p:txBody>
      </p:sp>
      <p:sp>
        <p:nvSpPr>
          <p:cNvPr id="24" name="Shape 21"/>
          <p:cNvSpPr/>
          <p:nvPr/>
        </p:nvSpPr>
        <p:spPr>
          <a:xfrm>
            <a:off x="0" y="4800600"/>
            <a:ext cx="9144000" cy="342900"/>
          </a:xfrm>
          <a:prstGeom prst="rect">
            <a:avLst/>
          </a:prstGeom>
          <a:solidFill>
            <a:srgbClr val="1A2744"/>
          </a:solidFill>
          <a:ln/>
        </p:spPr>
      </p:sp>
      <p:sp>
        <p:nvSpPr>
          <p:cNvPr id="25" name="Text 22"/>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 2026.03.23–03.29</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Security &amp; Hot Sectors</a:t>
            </a:r>
            <a:endParaRPr lang="en-US" sz="2000" dirty="0"/>
          </a:p>
        </p:txBody>
      </p:sp>
      <p:sp>
        <p:nvSpPr>
          <p:cNvPr id="4" name="Shape 2"/>
          <p:cNvSpPr/>
          <p:nvPr/>
        </p:nvSpPr>
        <p:spPr>
          <a:xfrm>
            <a:off x="365760" y="822960"/>
            <a:ext cx="4114800" cy="21488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365760" y="822960"/>
            <a:ext cx="4114800" cy="320040"/>
          </a:xfrm>
          <a:prstGeom prst="rect">
            <a:avLst/>
          </a:prstGeom>
          <a:solidFill>
            <a:srgbClr val="C53030"/>
          </a:solidFill>
          <a:ln/>
        </p:spPr>
      </p:sp>
      <p:sp>
        <p:nvSpPr>
          <p:cNvPr id="6" name="Text 4"/>
          <p:cNvSpPr/>
          <p:nvPr/>
        </p:nvSpPr>
        <p:spPr>
          <a:xfrm>
            <a:off x="548640" y="822960"/>
            <a:ext cx="384048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Security  |  YTD Loss: ~$480M</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3840480" cy="914400"/>
        </p:xfrm>
        <a:graphic>
          <a:graphicData uri="http://schemas.openxmlformats.org/drawingml/2006/table">
            <a:tbl>
              <a:tblPr/>
              <a:tblGrid>
                <a:gridCol w="1280160"/>
                <a:gridCol w="1005840"/>
                <a:gridCol w="1554480"/>
              </a:tblGrid>
              <a:tr h="256032">
                <a:tc>
                  <a:txBody>
                    <a:bodyPr/>
                    <a:lstStyle/>
                    <a:p>
                      <a:pPr indent="0" marL="0">
                        <a:buNone/>
                      </a:pPr>
                      <a:r>
                        <a:rPr lang="en-US" sz="900" b="1" dirty="0">
                          <a:solidFill>
                            <a:srgbClr val="2D3748"/>
                          </a:solidFill>
                          <a:latin typeface="Arial" pitchFamily="34" charset="0"/>
                          <a:ea typeface="Arial" pitchFamily="34" charset="-122"/>
                          <a:cs typeface="Arial" pitchFamily="34" charset="-120"/>
                        </a:rPr>
                        <a:t>Incident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algn="r" indent="0" marL="0">
                        <a:buNone/>
                      </a:pPr>
                      <a:r>
                        <a:rPr lang="en-US" sz="900" b="1" dirty="0">
                          <a:solidFill>
                            <a:srgbClr val="2D3748"/>
                          </a:solidFill>
                          <a:latin typeface="Arial" pitchFamily="34" charset="0"/>
                          <a:ea typeface="Arial" pitchFamily="34" charset="-122"/>
                          <a:cs typeface="Arial" pitchFamily="34" charset="-120"/>
                        </a:rPr>
                        <a:t>Loss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c>
                  <a:txBody>
                    <a:bodyPr/>
                    <a:lstStyle/>
                    <a:p>
                      <a:pPr indent="0" marL="0">
                        <a:buNone/>
                      </a:pPr>
                      <a:r>
                        <a:rPr lang="en-US" sz="900" b="1" dirty="0">
                          <a:solidFill>
                            <a:srgbClr val="2D3748"/>
                          </a:solidFill>
                          <a:latin typeface="Arial" pitchFamily="34" charset="0"/>
                          <a:ea typeface="Arial" pitchFamily="34" charset="-122"/>
                          <a:cs typeface="Arial" pitchFamily="34" charset="-120"/>
                        </a:rPr>
                        <a:t>Vector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E8EBF0"/>
                    </a:solidFill>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Iran Exchange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~$90M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Suspected state actor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Resolv USR</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~$25M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AWS key compromise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Infiniti/GhostClaw</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Undisclosed</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Malicious npm + wallet drain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56032">
                <a:tc>
                  <a:txBody>
                    <a:bodyPr/>
                    <a:lstStyle/>
                    <a:p>
                      <a:pPr indent="0" marL="0">
                        <a:buNone/>
                      </a:pPr>
                      <a:r>
                        <a:rPr lang="en-US" sz="900" dirty="0">
                          <a:solidFill>
                            <a:srgbClr val="000000"/>
                          </a:solidFill>
                          <a:latin typeface="Arial" pitchFamily="34" charset="0"/>
                          <a:ea typeface="Arial" pitchFamily="34" charset="-122"/>
                          <a:cs typeface="Arial" pitchFamily="34" charset="-120"/>
                        </a:rPr>
                        <a:t>Fake stablecoins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r" indent="0" marL="0">
                        <a:buNone/>
                      </a:pPr>
                      <a:r>
                        <a:rPr lang="en-US" sz="900" dirty="0">
                          <a:solidFill>
                            <a:srgbClr val="C53030"/>
                          </a:solidFill>
                          <a:latin typeface="Arial" pitchFamily="34" charset="0"/>
                          <a:ea typeface="Arial" pitchFamily="34" charset="-122"/>
                          <a:cs typeface="Arial" pitchFamily="34" charset="-120"/>
                        </a:rPr>
                        <a:t>54,000+</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Approval phishing</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8" name="Shape 5"/>
          <p:cNvSpPr/>
          <p:nvPr/>
        </p:nvSpPr>
        <p:spPr>
          <a:xfrm>
            <a:off x="365760" y="3200400"/>
            <a:ext cx="4114800" cy="13716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6"/>
          <p:cNvSpPr/>
          <p:nvPr/>
        </p:nvSpPr>
        <p:spPr>
          <a:xfrm>
            <a:off x="365760" y="3200400"/>
            <a:ext cx="4114800" cy="320040"/>
          </a:xfrm>
          <a:prstGeom prst="rect">
            <a:avLst/>
          </a:prstGeom>
          <a:solidFill>
            <a:srgbClr val="1A2744"/>
          </a:solidFill>
          <a:ln/>
        </p:spPr>
      </p:sp>
      <p:sp>
        <p:nvSpPr>
          <p:cNvPr id="10" name="Text 7"/>
          <p:cNvSpPr/>
          <p:nvPr/>
        </p:nvSpPr>
        <p:spPr>
          <a:xfrm>
            <a:off x="548640" y="320040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Stablecoins</a:t>
            </a:r>
            <a:endParaRPr lang="en-US" sz="1100" dirty="0"/>
          </a:p>
        </p:txBody>
      </p:sp>
      <p:sp>
        <p:nvSpPr>
          <p:cNvPr id="11" name="Text 8"/>
          <p:cNvSpPr/>
          <p:nvPr/>
        </p:nvSpPr>
        <p:spPr>
          <a:xfrm>
            <a:off x="548640" y="3611880"/>
            <a:ext cx="3749040" cy="82296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USDC volume surpasses USDT (64% share); 86% institutions hold USDC</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CLARITY Act threatens yield model; Tether launches full audit counter</a:t>
            </a:r>
            <a:endParaRPr lang="en-US" sz="1000" dirty="0"/>
          </a:p>
        </p:txBody>
      </p:sp>
      <p:sp>
        <p:nvSpPr>
          <p:cNvPr id="12" name="Shape 9"/>
          <p:cNvSpPr/>
          <p:nvPr/>
        </p:nvSpPr>
        <p:spPr>
          <a:xfrm>
            <a:off x="4663440" y="822960"/>
            <a:ext cx="4114800" cy="16916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0"/>
          <p:cNvSpPr/>
          <p:nvPr/>
        </p:nvSpPr>
        <p:spPr>
          <a:xfrm>
            <a:off x="4663440" y="822960"/>
            <a:ext cx="4114800" cy="320040"/>
          </a:xfrm>
          <a:prstGeom prst="rect">
            <a:avLst/>
          </a:prstGeom>
          <a:solidFill>
            <a:srgbClr val="1A2744"/>
          </a:solidFill>
          <a:ln/>
        </p:spPr>
      </p:sp>
      <p:sp>
        <p:nvSpPr>
          <p:cNvPr id="14" name="Text 11"/>
          <p:cNvSpPr/>
          <p:nvPr/>
        </p:nvSpPr>
        <p:spPr>
          <a:xfrm>
            <a:off x="4846320" y="82296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AI × Crypto</a:t>
            </a:r>
            <a:endParaRPr lang="en-US" sz="1100" dirty="0"/>
          </a:p>
        </p:txBody>
      </p:sp>
      <p:sp>
        <p:nvSpPr>
          <p:cNvPr id="15" name="Text 12"/>
          <p:cNvSpPr/>
          <p:nvPr/>
        </p:nvSpPr>
        <p:spPr>
          <a:xfrm>
            <a:off x="4846320" y="1234440"/>
            <a:ext cx="3749040" cy="118872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NVIDIA GTC aftershock: Huang declares "AGI-level" reached</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AI crypto sector MCap &gt;$28B; TAO leads at $3.4B</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Mining cost $80K vs $68K price; $70B+ AI contracts signed</a:t>
            </a:r>
            <a:endParaRPr lang="en-US" sz="1000" dirty="0"/>
          </a:p>
        </p:txBody>
      </p:sp>
      <p:sp>
        <p:nvSpPr>
          <p:cNvPr id="16" name="Shape 13"/>
          <p:cNvSpPr/>
          <p:nvPr/>
        </p:nvSpPr>
        <p:spPr>
          <a:xfrm>
            <a:off x="4663440" y="2697480"/>
            <a:ext cx="4114800" cy="18745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4"/>
          <p:cNvSpPr/>
          <p:nvPr/>
        </p:nvSpPr>
        <p:spPr>
          <a:xfrm>
            <a:off x="4663440" y="2697480"/>
            <a:ext cx="4114800" cy="320040"/>
          </a:xfrm>
          <a:prstGeom prst="rect">
            <a:avLst/>
          </a:prstGeom>
          <a:solidFill>
            <a:srgbClr val="1A2744"/>
          </a:solidFill>
          <a:ln/>
        </p:spPr>
      </p:sp>
      <p:sp>
        <p:nvSpPr>
          <p:cNvPr id="18" name="Text 15"/>
          <p:cNvSpPr/>
          <p:nvPr/>
        </p:nvSpPr>
        <p:spPr>
          <a:xfrm>
            <a:off x="4846320" y="2697480"/>
            <a:ext cx="3657600" cy="32004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Prediction Markets</a:t>
            </a:r>
            <a:endParaRPr lang="en-US" sz="1100" dirty="0"/>
          </a:p>
        </p:txBody>
      </p:sp>
      <p:sp>
        <p:nvSpPr>
          <p:cNvPr id="19" name="Text 16"/>
          <p:cNvSpPr/>
          <p:nvPr/>
        </p:nvSpPr>
        <p:spPr>
          <a:xfrm>
            <a:off x="4846320" y="3108960"/>
            <a:ext cx="3749040" cy="1371600"/>
          </a:xfrm>
          <a:prstGeom prst="rect">
            <a:avLst/>
          </a:prstGeom>
          <a:noFill/>
          <a:ln/>
        </p:spPr>
        <p:txBody>
          <a:bodyPr wrap="square" lIns="0" tIns="0" rIns="0" bIns="0" rtlCol="0" anchor="ctr"/>
          <a:lstStyle/>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Polymarket: 11,176 active markets; 840K monthly wallets</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Industry monthly volume exceeds $21B; Kalshi $1B Series E</a:t>
            </a:r>
            <a:endParaRPr lang="en-US" sz="1000" dirty="0"/>
          </a:p>
          <a:p>
            <a:pPr marL="342900" indent="-342900">
              <a:spcAft>
                <a:spcPts val="400"/>
              </a:spcAft>
              <a:buSzPct val="100000"/>
              <a:buChar char="•"/>
            </a:pPr>
            <a:r>
              <a:rPr lang="en-US" sz="1000" dirty="0">
                <a:solidFill>
                  <a:srgbClr val="2D3748"/>
                </a:solidFill>
                <a:latin typeface="Arial" pitchFamily="34" charset="0"/>
                <a:ea typeface="Arial" pitchFamily="34" charset="-122"/>
                <a:cs typeface="Arial" pitchFamily="34" charset="-120"/>
              </a:rPr>
              <a:t>CFTC integrates Polymarket; anti-insider trading rules go live</a:t>
            </a:r>
            <a:endParaRPr lang="en-US" sz="1000" dirty="0"/>
          </a:p>
        </p:txBody>
      </p:sp>
      <p:sp>
        <p:nvSpPr>
          <p:cNvPr id="20" name="Shape 17"/>
          <p:cNvSpPr/>
          <p:nvPr/>
        </p:nvSpPr>
        <p:spPr>
          <a:xfrm>
            <a:off x="0" y="4800600"/>
            <a:ext cx="9144000" cy="342900"/>
          </a:xfrm>
          <a:prstGeom prst="rect">
            <a:avLst/>
          </a:prstGeom>
          <a:solidFill>
            <a:srgbClr val="1A2744"/>
          </a:solidFill>
          <a:ln/>
        </p:spPr>
      </p:sp>
      <p:sp>
        <p:nvSpPr>
          <p:cNvPr id="21" name="Text 18"/>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 2026.03.23–03.29</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2744"/>
          </a:solidFill>
          <a:ln/>
        </p:spPr>
      </p:sp>
      <p:sp>
        <p:nvSpPr>
          <p:cNvPr id="3" name="Text 1"/>
          <p:cNvSpPr/>
          <p:nvPr/>
        </p:nvSpPr>
        <p:spPr>
          <a:xfrm>
            <a:off x="548640" y="0"/>
            <a:ext cx="8229600" cy="6400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  Catalysts &amp; Outlook</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822960"/>
          <a:ext cx="8229600" cy="914400"/>
        </p:xfrm>
        <a:graphic>
          <a:graphicData uri="http://schemas.openxmlformats.org/drawingml/2006/table">
            <a:tbl>
              <a:tblPr/>
              <a:tblGrid>
                <a:gridCol w="822960"/>
                <a:gridCol w="2926080"/>
                <a:gridCol w="1097280"/>
                <a:gridCol w="3383280"/>
              </a:tblGrid>
              <a:tr h="292608">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Date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Event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algn="ctr" indent="0" marL="0">
                        <a:buNone/>
                      </a:pPr>
                      <a:r>
                        <a:rPr lang="en-US" sz="1000" b="1" dirty="0">
                          <a:solidFill>
                            <a:srgbClr val="FFFFFF"/>
                          </a:solidFill>
                          <a:latin typeface="Arial" pitchFamily="34" charset="0"/>
                          <a:ea typeface="Arial" pitchFamily="34" charset="-122"/>
                          <a:cs typeface="Arial" pitchFamily="34" charset="-120"/>
                        </a:rPr>
                        <a:t>Asset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Expected Impact</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1A2744"/>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4/3</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Wormhole 600M token unlock (6% supply)</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W</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 &gt;$90M</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4/6</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Hyperliquid core contributor unlock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HYPE</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Historically high-risk sell category</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4/15</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Starknet 127M token unlock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STRK</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Supply pressure</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Late Apr</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1000" b="1" dirty="0">
                          <a:solidFill>
                            <a:srgbClr val="2D3748"/>
                          </a:solidFill>
                          <a:latin typeface="Arial" pitchFamily="34" charset="0"/>
                          <a:ea typeface="Arial" pitchFamily="34" charset="-122"/>
                          <a:cs typeface="Arial" pitchFamily="34" charset="-120"/>
                        </a:rPr>
                        <a:t>CLARITY Act full committee markup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Stables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Stablecoin yield ban decision</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solidFill>
                      <a:srgbClr val="FFF3E0"/>
                    </a:solidFill>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4/28-29</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Powell’s final FOMC meeting</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Rate guidance + successor signals</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4/29-30</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TOKEN2049 Dubai</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All</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Major industry summit</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r h="292608">
                <a:tc>
                  <a:txBody>
                    <a:bodyPr/>
                    <a:lstStyle/>
                    <a:p>
                      <a:pPr algn="ctr" indent="0" marL="0">
                        <a:buNone/>
                      </a:pPr>
                      <a:r>
                        <a:rPr lang="en-US" sz="1000" dirty="0">
                          <a:solidFill>
                            <a:srgbClr val="2D3748"/>
                          </a:solidFill>
                          <a:latin typeface="Arial" pitchFamily="34" charset="0"/>
                          <a:ea typeface="Arial" pitchFamily="34" charset="-122"/>
                          <a:cs typeface="Arial" pitchFamily="34" charset="-120"/>
                        </a:rPr>
                        <a:t>Q2</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1000" dirty="0">
                          <a:solidFill>
                            <a:srgbClr val="2D3748"/>
                          </a:solidFill>
                          <a:latin typeface="Arial" pitchFamily="34" charset="0"/>
                          <a:ea typeface="Arial" pitchFamily="34" charset="-122"/>
                          <a:cs typeface="Arial" pitchFamily="34" charset="-120"/>
                        </a:rPr>
                        <a:t>SOL/XRP spot ETF progress</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algn="ctr" indent="0" marL="0">
                        <a:buNone/>
                      </a:pPr>
                      <a:r>
                        <a:rPr lang="en-US" sz="1000" b="1" dirty="0">
                          <a:solidFill>
                            <a:srgbClr val="1A2744"/>
                          </a:solidFill>
                          <a:latin typeface="Arial" pitchFamily="34" charset="0"/>
                          <a:ea typeface="Arial" pitchFamily="34" charset="-122"/>
                          <a:cs typeface="Arial" pitchFamily="34" charset="-120"/>
                        </a:rPr>
                        <a:t>SOL/XRP</a:t>
                      </a:r>
                      <a:endParaRPr lang="en-US" sz="10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c>
                  <a:txBody>
                    <a:bodyPr/>
                    <a:lstStyle/>
                    <a:p>
                      <a:pPr indent="0" marL="0">
                        <a:buNone/>
                      </a:pPr>
                      <a:r>
                        <a:rPr lang="en-US" sz="900" dirty="0">
                          <a:solidFill>
                            <a:srgbClr val="8C95A6"/>
                          </a:solidFill>
                          <a:latin typeface="Arial" pitchFamily="34" charset="0"/>
                          <a:ea typeface="Arial" pitchFamily="34" charset="-122"/>
                          <a:cs typeface="Arial" pitchFamily="34" charset="-120"/>
                        </a:rPr>
                        <a:t>Commodity classification opens ETF path</a:t>
                      </a:r>
                      <a:endParaRPr lang="en-US" sz="900" dirty="0">
                        <a:latin typeface="Arial" charset="0"/>
                        <a:ea typeface="Arial" charset="0"/>
                        <a:cs typeface="Arial" charset="0"/>
                      </a:endParaRPr>
                    </a:p>
                  </a:txBody>
                  <a:tcPr marL="91440" marR="91440" marT="45720" marB="45720">
                    <a:lnL w="6350" cap="flat" cmpd="sng" algn="ctr">
                      <a:solidFill>
                        <a:srgbClr val="E8EBF0"/>
                      </a:solidFill>
                      <a:prstDash val="solid"/>
                      <a:round/>
                      <a:headEnd type="none" w="med" len="med"/>
                      <a:tailEnd type="none" w="med" len="med"/>
                    </a:lnL>
                    <a:lnR w="6350" cap="flat" cmpd="sng" algn="ctr">
                      <a:solidFill>
                        <a:srgbClr val="E8EBF0"/>
                      </a:solidFill>
                      <a:prstDash val="solid"/>
                      <a:round/>
                      <a:headEnd type="none" w="med" len="med"/>
                      <a:tailEnd type="none" w="med" len="med"/>
                    </a:lnR>
                    <a:lnT w="6350" cap="flat" cmpd="sng" algn="ctr">
                      <a:solidFill>
                        <a:srgbClr val="E8EBF0"/>
                      </a:solidFill>
                      <a:prstDash val="solid"/>
                      <a:round/>
                      <a:headEnd type="none" w="med" len="med"/>
                      <a:tailEnd type="none" w="med" len="med"/>
                    </a:lnT>
                    <a:lnB w="6350" cap="flat" cmpd="sng" algn="ctr">
                      <a:solidFill>
                        <a:srgbClr val="E8EBF0"/>
                      </a:solidFill>
                      <a:prstDash val="solid"/>
                      <a:round/>
                      <a:headEnd type="none" w="med" len="med"/>
                      <a:tailEnd type="none" w="med" len="med"/>
                    </a:lnB>
                  </a:tcPr>
                </a:tc>
              </a:tr>
            </a:tbl>
          </a:graphicData>
        </a:graphic>
      </p:graphicFrame>
      <p:sp>
        <p:nvSpPr>
          <p:cNvPr id="5" name="Shape 2"/>
          <p:cNvSpPr/>
          <p:nvPr/>
        </p:nvSpPr>
        <p:spPr>
          <a:xfrm>
            <a:off x="457200" y="333756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6" name="Shape 3"/>
          <p:cNvSpPr/>
          <p:nvPr/>
        </p:nvSpPr>
        <p:spPr>
          <a:xfrm>
            <a:off x="457200" y="3337560"/>
            <a:ext cx="54864" cy="1188720"/>
          </a:xfrm>
          <a:prstGeom prst="rect">
            <a:avLst/>
          </a:prstGeom>
          <a:solidFill>
            <a:srgbClr val="C9A96E"/>
          </a:solidFill>
          <a:ln/>
        </p:spPr>
      </p:sp>
      <p:sp>
        <p:nvSpPr>
          <p:cNvPr id="7" name="Text 4"/>
          <p:cNvSpPr/>
          <p:nvPr/>
        </p:nvSpPr>
        <p:spPr>
          <a:xfrm>
            <a:off x="731520" y="3383280"/>
            <a:ext cx="7315200" cy="274320"/>
          </a:xfrm>
          <a:prstGeom prst="rect">
            <a:avLst/>
          </a:prstGeom>
          <a:noFill/>
          <a:ln/>
        </p:spPr>
        <p:txBody>
          <a:bodyPr wrap="square" lIns="0" tIns="0" rIns="0" bIns="0" rtlCol="0" anchor="ctr"/>
          <a:lstStyle/>
          <a:p>
            <a:pPr indent="0" marL="0">
              <a:buNone/>
            </a:pPr>
            <a:r>
              <a:rPr lang="en-US" sz="1300" b="1" dirty="0">
                <a:solidFill>
                  <a:srgbClr val="1A2744"/>
                </a:solidFill>
                <a:latin typeface="Arial" pitchFamily="34" charset="0"/>
                <a:ea typeface="Arial" pitchFamily="34" charset="-122"/>
                <a:cs typeface="Arial" pitchFamily="34" charset="-120"/>
              </a:rPr>
              <a:t>Weekly Summary</a:t>
            </a:r>
            <a:endParaRPr lang="en-US" sz="1300" dirty="0"/>
          </a:p>
        </p:txBody>
      </p:sp>
      <p:sp>
        <p:nvSpPr>
          <p:cNvPr id="8" name="Text 5"/>
          <p:cNvSpPr/>
          <p:nvPr/>
        </p:nvSpPr>
        <p:spPr>
          <a:xfrm>
            <a:off x="731520" y="3657600"/>
            <a:ext cx="7772400" cy="777240"/>
          </a:xfrm>
          <a:prstGeom prst="rect">
            <a:avLst/>
          </a:prstGeom>
          <a:noFill/>
          <a:ln/>
        </p:spPr>
        <p:txBody>
          <a:bodyPr wrap="square" lIns="0" tIns="0" rIns="0" bIns="0" rtlCol="0" anchor="ctr"/>
          <a:lstStyle/>
          <a:p>
            <a:pPr indent="0" marL="0">
              <a:buNone/>
            </a:pPr>
            <a:r>
              <a:rPr lang="en-US" sz="1000" dirty="0">
                <a:solidFill>
                  <a:srgbClr val="2D3748"/>
                </a:solidFill>
                <a:latin typeface="Arial" pitchFamily="34" charset="0"/>
                <a:ea typeface="Arial" pitchFamily="34" charset="-122"/>
                <a:cs typeface="Arial" pitchFamily="34" charset="-120"/>
              </a:rPr>
              <a:t>Extreme fear (FGI=9) driven by geopolitical risks and tariff policy. SEC-CFTC commodity classification is a major long-term positive but failed to offset near-term macro headwinds.</a:t>
            </a:r>
            <a:endParaRPr lang="en-US" sz="1000" dirty="0"/>
          </a:p>
          <a:p>
            <a:pPr indent="0" marL="0">
              <a:buNone/>
            </a:pPr>
            <a:r>
              <a:rPr lang="en-US" sz="1000" b="1" dirty="0">
                <a:solidFill>
                  <a:srgbClr val="1A2744"/>
                </a:solidFill>
                <a:latin typeface="Arial" pitchFamily="34" charset="0"/>
                <a:ea typeface="Arial" pitchFamily="34" charset="-122"/>
                <a:cs typeface="Arial" pitchFamily="34" charset="-120"/>
              </a:rPr>
              <a:t>Key watch: </a:t>
            </a:r>
            <a:pPr indent="0" marL="0">
              <a:buNone/>
            </a:pPr>
            <a:r>
              <a:rPr lang="en-US" sz="1000" dirty="0">
                <a:solidFill>
                  <a:srgbClr val="2D3748"/>
                </a:solidFill>
                <a:latin typeface="Arial" pitchFamily="34" charset="0"/>
                <a:ea typeface="Arial" pitchFamily="34" charset="-122"/>
                <a:cs typeface="Arial" pitchFamily="34" charset="-120"/>
              </a:rPr>
              <a:t>4/6 HYPE unlock (portfolio-relevant), CLARITY Act markup impact on stablecoin sector, Israel-Iran conflict trajectory as macro overhang.</a:t>
            </a:r>
            <a:endParaRPr lang="en-US" sz="1000" dirty="0"/>
          </a:p>
        </p:txBody>
      </p:sp>
      <p:sp>
        <p:nvSpPr>
          <p:cNvPr id="9" name="Shape 6"/>
          <p:cNvSpPr/>
          <p:nvPr/>
        </p:nvSpPr>
        <p:spPr>
          <a:xfrm>
            <a:off x="0" y="4800600"/>
            <a:ext cx="9144000" cy="342900"/>
          </a:xfrm>
          <a:prstGeom prst="rect">
            <a:avLst/>
          </a:prstGeom>
          <a:solidFill>
            <a:srgbClr val="1A2744"/>
          </a:solidFill>
          <a:ln/>
        </p:spPr>
      </p:sp>
      <p:sp>
        <p:nvSpPr>
          <p:cNvPr id="10" name="Text 7"/>
          <p:cNvSpPr/>
          <p:nvPr/>
        </p:nvSpPr>
        <p:spPr>
          <a:xfrm>
            <a:off x="457200" y="4800600"/>
            <a:ext cx="8229600" cy="342900"/>
          </a:xfrm>
          <a:prstGeom prst="rect">
            <a:avLst/>
          </a:prstGeom>
          <a:noFill/>
          <a:ln/>
        </p:spPr>
        <p:txBody>
          <a:bodyPr wrap="square" lIns="0" tIns="0" rIns="0" bIns="0" rtlCol="0" anchor="ctr"/>
          <a:lstStyle/>
          <a:p>
            <a:pPr indent="0" marL="0">
              <a:buNone/>
            </a:pPr>
            <a:r>
              <a:rPr lang="en-US" sz="800" dirty="0">
                <a:solidFill>
                  <a:srgbClr val="8C95A6"/>
                </a:solidFill>
                <a:latin typeface="Arial" pitchFamily="34" charset="0"/>
                <a:ea typeface="Arial" pitchFamily="34" charset="-122"/>
                <a:cs typeface="Arial" pitchFamily="34" charset="-120"/>
              </a:rPr>
              <a:t>Crypto Weekly | 2026.03.23–03.29  |  CONFIDENTIAL</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 Weekly 2026.03.23–03.29</dc:title>
  <dc:subject>PptxGenJS Presentation</dc:subject>
  <dc:creator>42</dc:creator>
  <cp:lastModifiedBy>42</cp:lastModifiedBy>
  <cp:revision>1</cp:revision>
  <dcterms:created xsi:type="dcterms:W3CDTF">2026-03-30T02:30:21Z</dcterms:created>
  <dcterms:modified xsi:type="dcterms:W3CDTF">2026-03-30T02:30:21Z</dcterms:modified>
</cp:coreProperties>
</file>