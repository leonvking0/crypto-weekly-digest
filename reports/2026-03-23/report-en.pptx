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weekly crypto market report covering March 23-29, 2026. This week saw extreme fear (FGI=8), driven by Iran-Israel war escalation, Trump tariff increases to 15%, and the Fed raising its PCE inflation forecast to 2.7%. However, the most significant development was the SEC-CFTC joint rule classifying 16 crypto assets as digital commodities — the most important regulatory clarity event in a decade. The stablecoin sector was rocked by the CLARITY Act draft banning passive yield, sending Circle stock down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BTC dropped from $68,378 at week open to $66,668, hitting its March low. ETH broke below $2,000 for the first time since mid-2024 — now 60% below its August 2025 high of $4,953. Fear &amp; Greed Index at 8 is the lowest in recent memory.
Three macro headwinds converged: (1) Iran threatened to block the Bab el-Mandeb Strait, sending Brent crude to $120/bbl (+25% since conflict start); (2) Trump raised global tariffs to 15% under Section 122; (3) Fed revised 2026 PCE inflation forecast to 2.7% on March 18, pushing rate cut expectations further out with the 10Y yield near 4.5%.
ETF flows turned sharply negative: BTC ETFs saw $296M weekly outflow, reversing a 4-week $2.2B inflow streak. BlackRock IBIT alone shed $201.67M on Friday. ETH ETFs posted outflows every session since March 18. March 26 was the first session where BTC, ETH, and SOL ETFs all posted negative net flows simultaneously.
For LPs: Short-term sentiment is extremely bearish, but the SEC-CFTC digital commodity classification (effective 3/23) is a historic positive that hasn't been priced in. It opens SOL/XRP spot ETF pathways — a medium-term catalyst.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SEC-CFTC joint rule is the single most important regulatory event this week and arguably this year. Classifying 16 tokens as digital commodities — including BTC, ETH, SOL, XRP, ADA — ends the Howey Test litigation overhang and opens pathways for ETFs, institutional custody, and banking partnerships. XRP spot ETFs already attracted $1.4B in Q1 inflows; SOL ETFs are the next logical step.
Circle's 20% stock crash is the market repricing stablecoin business models. The CLARITY Act draft bans passive yield, which would fundamentally undermine Circle's revenue (95% from reserve interest). Tether countered by hiring a Big Four firm for a full audit.
Aave hitting $1T cumulative lending is a DeFi milestone. Hyperliquid now commands 54% of perp DEX market share, with commodity contracts (crude oil daily volume &gt;$2.2B, second only to BTC) emerging as a new growth vector. This signals on-chain derivatives expanding beyond crypto-native assets into traditional commodity markets.
DeFi TVL rose 4.4% despite extreme fear — a remarkable divergence that suggests on-chain capital is more resilient than headline sentiment. dYdX's plan to launch synthetic equity perpetuals (starting with Tesla) could open another large addressable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The SEC-CFTC joint rule is the most important regulatory breakthrough in crypto's history. Classifying BTC, ETH, SOL, and 13 other tokens as digital commodities ends the Howey Test grey zone and opens up ETFs, institutional custody, and banking partnerships. XRP spot ETFs already saw $1.4B in Q1 inflows. SOL ETFs are the next logical product.
The CLARITY Act draft is the week's negative regulatory surprise. Banning passive stablecoin yield directly threatens Circle's business model (95% of revenue from reserve interest). This will also reshape the broader stablecoin incentive structure. If passed, it would force issuers to find alternative revenue models.
Fundraising: Mastercard's $1.8B BVNK acquisition is the biggest deal this week, signaling traditional finance's commitment to digital asset infrastructure. Kalshi's $1B Series E validates the prediction market thesis institutionally. Total disclosed fundraising was ~$3.28B across 22 deals, showing capital deployment into crypto infrastructure hasn't slowed despite market fear.
2026 crypto M&amp;A is projected to exceed $37B — a new record driven by TradFi entering the space and consolidation among crypto-native 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The Resolv USR exploit is the week's major security event. An attacker compromised a privileged private key in AWS KMS and minted 80M unbacked USR tokens with &lt;$200K collateral, causing USR to crash 97.5% in 17 minutes on Curve. Root causes were structural: single-key control, no oracle checks, no max mint limits. This highlights the risk of off-chain infrastructure dependencies in DeFi protocols.
YTD 2026: 103 security incidents + 36 phishing scams totaling ~$480M. CertiK warns losses could exceed $500M for the full year. Social engineering has replaced code exploits as the dominant attack vector.
AI x Crypto: NVIDIA's GTC 2026 AGI declaration and $1T chip demand projection sent AI tokens surging 10-20%. The more significant structural story is BTC miners' mass pivot to AI — mining costs of $80K/BTC far exceed the ~$68K market price, and miners have signed $70B+ in AI/HPC contracts. Mining difficulty dropped 7.76% on March 21. This could pose medium-term risks to BTC's hashrate security but creates opportunities for decentralized AI compute networks.
Prediction Markets: Kalshi's $1B Series E is a strong institutional signal. Both Kalshi and Polymarket simultaneously announcing anti-insider trading rules shows proactive self-regulation ahead of expected CFTC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Catalyst focus for next two weeks:
1. Wormhole Token Unlock (4/3) — 600M tokens (6% of supply, &gt;$90M value) is the largest near-term unlock event. In a fear-driven market, supply events hit harder.
2. CLARITY Act Committee Markup (late April) — The outcome will determine the future of stablecoin yield products and directly impact Circle, Coinbase, and any stablecoin position in the portfolio.
3. Powell's Final FOMC (4/28-29) — With PCE inflation forecast at 2.7% and tariff/oil pressures ongoing, rate cut expectations are being pushed further out. This FOMC sets the tone for Q2-Q3 monetary policy.
4. Ethereum Glamsterdam — A 78% gas reduction could be a game-changer for mainnet activity, potentially reversing the L2 migration trend.
Overall assessment: The market is in a capitulation zone (FGI=8) driven by geopolitical and macro headwinds. But the fundamental backdrop is divergent: DeFi TVL +4.4%, Aave $1T lending, Hyperliquid fees $14M/week, stablecoin adoption accelerating, and the historic SEC-CFTC commodity classification not yet priced in. This suggests we may be in a late-cycle fear phase where sentiment overshoots fundamentals.
For LP positioning: Maintain exposure; the SEC-CFTC classification is a structural unlock. The primary risks to monitor are the CLARITY Act (stablecoin positions), Wormhole unlock (W exposure), and Iran-Israel trajectory (broad market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63040"/>
            <a:ext cx="1097280" cy="36576"/>
          </a:xfrm>
          <a:prstGeom prst="rect">
            <a:avLst/>
          </a:prstGeom>
          <a:solidFill>
            <a:srgbClr val="C9A96E"/>
          </a:solidFill>
          <a:ln/>
        </p:spPr>
      </p:sp>
      <p:sp>
        <p:nvSpPr>
          <p:cNvPr id="3" name="Text 1"/>
          <p:cNvSpPr/>
          <p:nvPr/>
        </p:nvSpPr>
        <p:spPr>
          <a:xfrm>
            <a:off x="731520" y="164592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Crypto Market Weekly</a:t>
            </a:r>
            <a:endParaRPr lang="en-US" sz="4200" dirty="0"/>
          </a:p>
        </p:txBody>
      </p:sp>
      <p:sp>
        <p:nvSpPr>
          <p:cNvPr id="4" name="Text 2"/>
          <p:cNvSpPr/>
          <p:nvPr/>
        </p:nvSpPr>
        <p:spPr>
          <a:xfrm>
            <a:off x="731520" y="2468880"/>
            <a:ext cx="7315200" cy="45720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March 23 – 29, 2026</a:t>
            </a:r>
            <a:endParaRPr lang="en-US" sz="2000" dirty="0"/>
          </a:p>
        </p:txBody>
      </p:sp>
      <p:sp>
        <p:nvSpPr>
          <p:cNvPr id="5" name="Text 3"/>
          <p:cNvSpPr/>
          <p:nvPr/>
        </p:nvSpPr>
        <p:spPr>
          <a:xfrm>
            <a:off x="731520" y="3108960"/>
            <a:ext cx="7315200" cy="36576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Sources: Messari · The Block · CoinGecko · CoinGlass · DefiLlama</a:t>
            </a:r>
            <a:endParaRPr lang="en-US" sz="1100" dirty="0"/>
          </a:p>
        </p:txBody>
      </p:sp>
      <p:sp>
        <p:nvSpPr>
          <p:cNvPr id="6" name="Shape 4"/>
          <p:cNvSpPr/>
          <p:nvPr/>
        </p:nvSpPr>
        <p:spPr>
          <a:xfrm>
            <a:off x="0" y="4800600"/>
            <a:ext cx="9144000" cy="342900"/>
          </a:xfrm>
          <a:prstGeom prst="rect">
            <a:avLst/>
          </a:prstGeom>
          <a:solidFill>
            <a:srgbClr val="C9A96E"/>
          </a:solidFill>
          <a:ln/>
        </p:spPr>
      </p:sp>
      <p:sp>
        <p:nvSpPr>
          <p:cNvPr id="7" name="Text 5"/>
          <p:cNvSpPr/>
          <p:nvPr/>
        </p:nvSpPr>
        <p:spPr>
          <a:xfrm>
            <a:off x="0" y="4800600"/>
            <a:ext cx="9144000" cy="342900"/>
          </a:xfrm>
          <a:prstGeom prst="rect">
            <a:avLst/>
          </a:prstGeom>
          <a:noFill/>
          <a:ln/>
        </p:spPr>
        <p:txBody>
          <a:bodyPr wrap="square"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Market Overview</a:t>
            </a:r>
            <a:endParaRPr lang="en-US" sz="2000" dirty="0"/>
          </a:p>
        </p:txBody>
      </p:sp>
      <p:sp>
        <p:nvSpPr>
          <p:cNvPr id="4" name="Shape 2"/>
          <p:cNvSpPr/>
          <p:nvPr/>
        </p:nvSpPr>
        <p:spPr>
          <a:xfrm>
            <a:off x="54864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868680"/>
            <a:ext cx="54864" cy="960120"/>
          </a:xfrm>
          <a:prstGeom prst="rect">
            <a:avLst/>
          </a:prstGeom>
          <a:solidFill>
            <a:srgbClr val="C9A96E"/>
          </a:solidFill>
          <a:ln/>
        </p:spPr>
      </p:sp>
      <p:sp>
        <p:nvSpPr>
          <p:cNvPr id="6" name="Text 4"/>
          <p:cNvSpPr/>
          <p:nvPr/>
        </p:nvSpPr>
        <p:spPr>
          <a:xfrm>
            <a:off x="77724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BTC</a:t>
            </a:r>
            <a:endParaRPr lang="en-US" sz="1200" dirty="0"/>
          </a:p>
        </p:txBody>
      </p:sp>
      <p:sp>
        <p:nvSpPr>
          <p:cNvPr id="7" name="Text 5"/>
          <p:cNvSpPr/>
          <p:nvPr/>
        </p:nvSpPr>
        <p:spPr>
          <a:xfrm>
            <a:off x="77724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$66,668</a:t>
            </a:r>
            <a:endParaRPr lang="en-US" sz="2800" dirty="0"/>
          </a:p>
        </p:txBody>
      </p:sp>
      <p:sp>
        <p:nvSpPr>
          <p:cNvPr id="8" name="Text 6"/>
          <p:cNvSpPr/>
          <p:nvPr/>
        </p:nvSpPr>
        <p:spPr>
          <a:xfrm>
            <a:off x="777240" y="1527048"/>
            <a:ext cx="1828800" cy="228600"/>
          </a:xfrm>
          <a:prstGeom prst="rect">
            <a:avLst/>
          </a:prstGeom>
          <a:noFill/>
          <a:ln/>
        </p:spPr>
        <p:txBody>
          <a:bodyPr wrap="square" lIns="0" tIns="0" rIns="0" bIns="0" rtlCol="0" anchor="ctr"/>
          <a:lstStyle/>
          <a:p>
            <a:pPr indent="0" marL="0">
              <a:buNone/>
            </a:pPr>
            <a:r>
              <a:rPr lang="en-US" sz="1400" b="1" dirty="0">
                <a:solidFill>
                  <a:srgbClr val="C53030"/>
                </a:solidFill>
                <a:latin typeface="Arial" pitchFamily="34" charset="0"/>
                <a:ea typeface="Arial" pitchFamily="34" charset="-122"/>
                <a:cs typeface="Arial" pitchFamily="34" charset="-120"/>
              </a:rPr>
              <a:t>-1.5%</a:t>
            </a:r>
            <a:endParaRPr lang="en-US" sz="1400" dirty="0"/>
          </a:p>
        </p:txBody>
      </p:sp>
      <p:sp>
        <p:nvSpPr>
          <p:cNvPr id="9" name="Shape 7"/>
          <p:cNvSpPr/>
          <p:nvPr/>
        </p:nvSpPr>
        <p:spPr>
          <a:xfrm>
            <a:off x="338328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3383280" y="868680"/>
            <a:ext cx="54864" cy="960120"/>
          </a:xfrm>
          <a:prstGeom prst="rect">
            <a:avLst/>
          </a:prstGeom>
          <a:solidFill>
            <a:srgbClr val="C9A96E"/>
          </a:solidFill>
          <a:ln/>
        </p:spPr>
      </p:sp>
      <p:sp>
        <p:nvSpPr>
          <p:cNvPr id="11" name="Text 9"/>
          <p:cNvSpPr/>
          <p:nvPr/>
        </p:nvSpPr>
        <p:spPr>
          <a:xfrm>
            <a:off x="361188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ETH</a:t>
            </a:r>
            <a:endParaRPr lang="en-US" sz="1200" dirty="0"/>
          </a:p>
        </p:txBody>
      </p:sp>
      <p:sp>
        <p:nvSpPr>
          <p:cNvPr id="12" name="Text 10"/>
          <p:cNvSpPr/>
          <p:nvPr/>
        </p:nvSpPr>
        <p:spPr>
          <a:xfrm>
            <a:off x="361188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$2,012</a:t>
            </a:r>
            <a:endParaRPr lang="en-US" sz="2800" dirty="0"/>
          </a:p>
        </p:txBody>
      </p:sp>
      <p:sp>
        <p:nvSpPr>
          <p:cNvPr id="13" name="Text 11"/>
          <p:cNvSpPr/>
          <p:nvPr/>
        </p:nvSpPr>
        <p:spPr>
          <a:xfrm>
            <a:off x="3611880" y="1527048"/>
            <a:ext cx="1828800" cy="228600"/>
          </a:xfrm>
          <a:prstGeom prst="rect">
            <a:avLst/>
          </a:prstGeom>
          <a:noFill/>
          <a:ln/>
        </p:spPr>
        <p:txBody>
          <a:bodyPr wrap="square" lIns="0" tIns="0" rIns="0" bIns="0" rtlCol="0" anchor="ctr"/>
          <a:lstStyle/>
          <a:p>
            <a:pPr indent="0" marL="0">
              <a:buNone/>
            </a:pPr>
            <a:r>
              <a:rPr lang="en-US" sz="1400" b="1" dirty="0">
                <a:solidFill>
                  <a:srgbClr val="C53030"/>
                </a:solidFill>
                <a:latin typeface="Arial" pitchFamily="34" charset="0"/>
                <a:ea typeface="Arial" pitchFamily="34" charset="-122"/>
                <a:cs typeface="Arial" pitchFamily="34" charset="-120"/>
              </a:rPr>
              <a:t>-1.5%</a:t>
            </a:r>
            <a:endParaRPr lang="en-US" sz="1400" dirty="0"/>
          </a:p>
        </p:txBody>
      </p:sp>
      <p:sp>
        <p:nvSpPr>
          <p:cNvPr id="14" name="Shape 12"/>
          <p:cNvSpPr/>
          <p:nvPr/>
        </p:nvSpPr>
        <p:spPr>
          <a:xfrm>
            <a:off x="621792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6217920" y="868680"/>
            <a:ext cx="54864" cy="960120"/>
          </a:xfrm>
          <a:prstGeom prst="rect">
            <a:avLst/>
          </a:prstGeom>
          <a:solidFill>
            <a:srgbClr val="C53030"/>
          </a:solidFill>
          <a:ln/>
        </p:spPr>
      </p:sp>
      <p:sp>
        <p:nvSpPr>
          <p:cNvPr id="16" name="Text 14"/>
          <p:cNvSpPr/>
          <p:nvPr/>
        </p:nvSpPr>
        <p:spPr>
          <a:xfrm>
            <a:off x="6446520" y="960120"/>
            <a:ext cx="219456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Fear &amp; Greed Index</a:t>
            </a:r>
            <a:endParaRPr lang="en-US" sz="1200" dirty="0"/>
          </a:p>
        </p:txBody>
      </p:sp>
      <p:sp>
        <p:nvSpPr>
          <p:cNvPr id="17" name="Text 15"/>
          <p:cNvSpPr/>
          <p:nvPr/>
        </p:nvSpPr>
        <p:spPr>
          <a:xfrm>
            <a:off x="6446520" y="1188720"/>
            <a:ext cx="914400" cy="365760"/>
          </a:xfrm>
          <a:prstGeom prst="rect">
            <a:avLst/>
          </a:prstGeom>
          <a:noFill/>
          <a:ln/>
        </p:spPr>
        <p:txBody>
          <a:bodyPr wrap="square" lIns="0" tIns="0" rIns="0" bIns="0" rtlCol="0" anchor="ctr"/>
          <a:lstStyle/>
          <a:p>
            <a:pPr indent="0" marL="0">
              <a:buNone/>
            </a:pPr>
            <a:r>
              <a:rPr lang="en-US" sz="2800" b="1" dirty="0">
                <a:solidFill>
                  <a:srgbClr val="C53030"/>
                </a:solidFill>
                <a:latin typeface="Arial" pitchFamily="34" charset="0"/>
                <a:ea typeface="Arial" pitchFamily="34" charset="-122"/>
                <a:cs typeface="Arial" pitchFamily="34" charset="-120"/>
              </a:rPr>
              <a:t>8</a:t>
            </a:r>
            <a:endParaRPr lang="en-US" sz="2800" dirty="0"/>
          </a:p>
        </p:txBody>
      </p:sp>
      <p:sp>
        <p:nvSpPr>
          <p:cNvPr id="18" name="Text 16"/>
          <p:cNvSpPr/>
          <p:nvPr/>
        </p:nvSpPr>
        <p:spPr>
          <a:xfrm>
            <a:off x="7223760" y="1252728"/>
            <a:ext cx="1371600" cy="274320"/>
          </a:xfrm>
          <a:prstGeom prst="rect">
            <a:avLst/>
          </a:prstGeom>
          <a:noFill/>
          <a:ln/>
        </p:spPr>
        <p:txBody>
          <a:bodyPr wrap="square" lIns="0" tIns="0" rIns="0" bIns="0" rtlCol="0" anchor="ctr"/>
          <a:lstStyle/>
          <a:p>
            <a:pPr indent="0" marL="0">
              <a:buNone/>
            </a:pPr>
            <a:r>
              <a:rPr lang="en-US" sz="1300" dirty="0">
                <a:solidFill>
                  <a:srgbClr val="C53030"/>
                </a:solidFill>
                <a:latin typeface="Arial" pitchFamily="34" charset="0"/>
                <a:ea typeface="Arial" pitchFamily="34" charset="-122"/>
                <a:cs typeface="Arial" pitchFamily="34" charset="-120"/>
              </a:rPr>
              <a:t>Extreme 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8046720" cy="914400"/>
        </p:xfrm>
        <a:graphic>
          <a:graphicData uri="http://schemas.openxmlformats.org/drawingml/2006/table">
            <a:tbl>
              <a:tblPr/>
              <a:tblGrid>
                <a:gridCol w="1188720"/>
                <a:gridCol w="1645920"/>
                <a:gridCol w="1371600"/>
                <a:gridCol w="3840480"/>
              </a:tblGrid>
              <a:tr h="3200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Asset</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7d Change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Notes</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SOL</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$82.73</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SEC commodity classification not yet priced in</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HYPE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$38.13</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+0.3%</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Perp DEX leader; weekly fees $14M (+56%)</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PENDLE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$1.14</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-2.9%</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Yield token sector under pressure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ENA</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$0.09</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-5.2%</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Tracking broad market weakness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DYDX</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$0.10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+21.0%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Technical bounce + buyback expansion to 75%</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60520"/>
            <a:ext cx="8046720" cy="36576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Macro: Iran-Israel war escalation + Trump tariffs at 15% + Fed PCE forecast raised to 2.7% → risk assets broadly pressured; FGI at 8</a:t>
            </a:r>
            <a:endParaRPr lang="en-US" sz="1000" dirty="0"/>
          </a:p>
        </p:txBody>
      </p:sp>
      <p:sp>
        <p:nvSpPr>
          <p:cNvPr id="21" name="Shape 18"/>
          <p:cNvSpPr/>
          <p:nvPr/>
        </p:nvSpPr>
        <p:spPr>
          <a:xfrm>
            <a:off x="0" y="4800600"/>
            <a:ext cx="9144000" cy="342900"/>
          </a:xfrm>
          <a:prstGeom prst="rect">
            <a:avLst/>
          </a:prstGeom>
          <a:solidFill>
            <a:srgbClr val="1A2744"/>
          </a:solidFill>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2026.03.23–03.29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Top Stories &amp; Industry Developments</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548640" y="868680"/>
            <a:ext cx="3657600" cy="32004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TOP 5 STORIES</a:t>
            </a:r>
            <a:endParaRPr lang="en-US" sz="1300" dirty="0"/>
          </a:p>
        </p:txBody>
      </p:sp>
      <p:sp>
        <p:nvSpPr>
          <p:cNvPr id="6" name="Shape 4"/>
          <p:cNvSpPr/>
          <p:nvPr/>
        </p:nvSpPr>
        <p:spPr>
          <a:xfrm>
            <a:off x="594360" y="1261872"/>
            <a:ext cx="274320" cy="274320"/>
          </a:xfrm>
          <a:prstGeom prst="ellipse">
            <a:avLst/>
          </a:prstGeom>
          <a:solidFill>
            <a:srgbClr val="C9A96E"/>
          </a:solidFill>
          <a:ln/>
        </p:spPr>
      </p:sp>
      <p:sp>
        <p:nvSpPr>
          <p:cNvPr id="7" name="Text 5"/>
          <p:cNvSpPr/>
          <p:nvPr/>
        </p:nvSpPr>
        <p:spPr>
          <a:xfrm>
            <a:off x="59436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05840" y="1243584"/>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16 cryptos classified as commodities</a:t>
            </a:r>
            <a:endParaRPr lang="en-US" sz="1100" dirty="0"/>
          </a:p>
        </p:txBody>
      </p:sp>
      <p:sp>
        <p:nvSpPr>
          <p:cNvPr id="9" name="Text 7"/>
          <p:cNvSpPr/>
          <p:nvPr/>
        </p:nvSpPr>
        <p:spPr>
          <a:xfrm>
            <a:off x="1005840" y="1463040"/>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Decade of regulatory ambiguity ends; SOL/XRP ETF path cleared</a:t>
            </a:r>
            <a:endParaRPr lang="en-US" sz="900" dirty="0"/>
          </a:p>
        </p:txBody>
      </p:sp>
      <p:sp>
        <p:nvSpPr>
          <p:cNvPr id="10" name="Shape 8"/>
          <p:cNvSpPr/>
          <p:nvPr/>
        </p:nvSpPr>
        <p:spPr>
          <a:xfrm>
            <a:off x="594360" y="1920240"/>
            <a:ext cx="274320" cy="274320"/>
          </a:xfrm>
          <a:prstGeom prst="ellipse">
            <a:avLst/>
          </a:prstGeom>
          <a:solidFill>
            <a:srgbClr val="C9A96E"/>
          </a:solidFill>
          <a:ln/>
        </p:spPr>
      </p:sp>
      <p:sp>
        <p:nvSpPr>
          <p:cNvPr id="11" name="Text 9"/>
          <p:cNvSpPr/>
          <p:nvPr/>
        </p:nvSpPr>
        <p:spPr>
          <a:xfrm>
            <a:off x="594360" y="1920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05840" y="1901952"/>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Circle stock crashes 20% on CLARITY Act</a:t>
            </a:r>
            <a:endParaRPr lang="en-US" sz="1100" dirty="0"/>
          </a:p>
        </p:txBody>
      </p:sp>
      <p:sp>
        <p:nvSpPr>
          <p:cNvPr id="13" name="Text 11"/>
          <p:cNvSpPr/>
          <p:nvPr/>
        </p:nvSpPr>
        <p:spPr>
          <a:xfrm>
            <a:off x="1005840" y="2121408"/>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Senate draft bans passive stablecoin yield; $2B market cap erased</a:t>
            </a:r>
            <a:endParaRPr lang="en-US" sz="900" dirty="0"/>
          </a:p>
        </p:txBody>
      </p:sp>
      <p:sp>
        <p:nvSpPr>
          <p:cNvPr id="14" name="Shape 12"/>
          <p:cNvSpPr/>
          <p:nvPr/>
        </p:nvSpPr>
        <p:spPr>
          <a:xfrm>
            <a:off x="594360" y="2578608"/>
            <a:ext cx="274320" cy="274320"/>
          </a:xfrm>
          <a:prstGeom prst="ellipse">
            <a:avLst/>
          </a:prstGeom>
          <a:solidFill>
            <a:srgbClr val="C9A96E"/>
          </a:solidFill>
          <a:ln/>
        </p:spPr>
      </p:sp>
      <p:sp>
        <p:nvSpPr>
          <p:cNvPr id="15" name="Text 13"/>
          <p:cNvSpPr/>
          <p:nvPr/>
        </p:nvSpPr>
        <p:spPr>
          <a:xfrm>
            <a:off x="59436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05840" y="2560320"/>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Resolv USR exploit: $25M stolen, 97.5% depeg</a:t>
            </a:r>
            <a:endParaRPr lang="en-US" sz="1100" dirty="0"/>
          </a:p>
        </p:txBody>
      </p:sp>
      <p:sp>
        <p:nvSpPr>
          <p:cNvPr id="17" name="Text 15"/>
          <p:cNvSpPr/>
          <p:nvPr/>
        </p:nvSpPr>
        <p:spPr>
          <a:xfrm>
            <a:off x="1005840" y="2779776"/>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AWS key compromised; 80M unbacked tokens minted</a:t>
            </a:r>
            <a:endParaRPr lang="en-US" sz="900" dirty="0"/>
          </a:p>
        </p:txBody>
      </p:sp>
      <p:sp>
        <p:nvSpPr>
          <p:cNvPr id="18" name="Shape 16"/>
          <p:cNvSpPr/>
          <p:nvPr/>
        </p:nvSpPr>
        <p:spPr>
          <a:xfrm>
            <a:off x="594360" y="3236976"/>
            <a:ext cx="274320" cy="274320"/>
          </a:xfrm>
          <a:prstGeom prst="ellipse">
            <a:avLst/>
          </a:prstGeom>
          <a:solidFill>
            <a:srgbClr val="C9A96E"/>
          </a:solidFill>
          <a:ln/>
        </p:spPr>
      </p:sp>
      <p:sp>
        <p:nvSpPr>
          <p:cNvPr id="19" name="Text 17"/>
          <p:cNvSpPr/>
          <p:nvPr/>
        </p:nvSpPr>
        <p:spPr>
          <a:xfrm>
            <a:off x="59436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1005840" y="3218688"/>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Iran-Israel war + Trump 15% tariff</a:t>
            </a:r>
            <a:endParaRPr lang="en-US" sz="1100" dirty="0"/>
          </a:p>
        </p:txBody>
      </p:sp>
      <p:sp>
        <p:nvSpPr>
          <p:cNvPr id="21" name="Text 19"/>
          <p:cNvSpPr/>
          <p:nvPr/>
        </p:nvSpPr>
        <p:spPr>
          <a:xfrm>
            <a:off x="1005840" y="3438144"/>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ETFs all net negative; oil +25%; risk assets crushed</a:t>
            </a:r>
            <a:endParaRPr lang="en-US" sz="900" dirty="0"/>
          </a:p>
        </p:txBody>
      </p:sp>
      <p:sp>
        <p:nvSpPr>
          <p:cNvPr id="22" name="Shape 20"/>
          <p:cNvSpPr/>
          <p:nvPr/>
        </p:nvSpPr>
        <p:spPr>
          <a:xfrm>
            <a:off x="594360" y="3895344"/>
            <a:ext cx="274320" cy="274320"/>
          </a:xfrm>
          <a:prstGeom prst="ellipse">
            <a:avLst/>
          </a:prstGeom>
          <a:solidFill>
            <a:srgbClr val="C9A96E"/>
          </a:solidFill>
          <a:ln/>
        </p:spPr>
      </p:sp>
      <p:sp>
        <p:nvSpPr>
          <p:cNvPr id="23" name="Text 21"/>
          <p:cNvSpPr/>
          <p:nvPr/>
        </p:nvSpPr>
        <p:spPr>
          <a:xfrm>
            <a:off x="59436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2"/>
          <p:cNvSpPr/>
          <p:nvPr/>
        </p:nvSpPr>
        <p:spPr>
          <a:xfrm>
            <a:off x="1005840" y="3877056"/>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BTC miners mass-pivot to AI compute</a:t>
            </a:r>
            <a:endParaRPr lang="en-US" sz="1100" dirty="0"/>
          </a:p>
        </p:txBody>
      </p:sp>
      <p:sp>
        <p:nvSpPr>
          <p:cNvPr id="25" name="Text 23"/>
          <p:cNvSpPr/>
          <p:nvPr/>
        </p:nvSpPr>
        <p:spPr>
          <a:xfrm>
            <a:off x="1005840" y="4096512"/>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Mining cost $80K vs $68K price; $70B AI contracts signed</a:t>
            </a:r>
            <a:endParaRPr lang="en-US" sz="900" dirty="0"/>
          </a:p>
        </p:txBody>
      </p:sp>
      <p:sp>
        <p:nvSpPr>
          <p:cNvPr id="26" name="Shape 24"/>
          <p:cNvSpPr/>
          <p:nvPr/>
        </p:nvSpPr>
        <p:spPr>
          <a:xfrm>
            <a:off x="4663440" y="82296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7" name="Shape 25"/>
          <p:cNvSpPr/>
          <p:nvPr/>
        </p:nvSpPr>
        <p:spPr>
          <a:xfrm>
            <a:off x="4663440" y="822960"/>
            <a:ext cx="4114800" cy="320040"/>
          </a:xfrm>
          <a:prstGeom prst="rect">
            <a:avLst/>
          </a:prstGeom>
          <a:solidFill>
            <a:srgbClr val="1A2744"/>
          </a:solidFill>
          <a:ln/>
        </p:spPr>
      </p:sp>
      <p:sp>
        <p:nvSpPr>
          <p:cNvPr id="28" name="Text 26"/>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Layer 1 &amp; Layer 2</a:t>
            </a:r>
            <a:endParaRPr lang="en-US" sz="1100" dirty="0"/>
          </a:p>
        </p:txBody>
      </p:sp>
      <p:sp>
        <p:nvSpPr>
          <p:cNvPr id="29" name="Text 27"/>
          <p:cNvSpPr/>
          <p:nvPr/>
        </p:nvSpPr>
        <p:spPr>
          <a:xfrm>
            <a:off x="4846320" y="120700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SEC-CFTC digital commodity rule effective 3/23; 16 tokens classified</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Base leads L2: $4.15B TVL, 3.3B+ txns YTD</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Linea Yield Boost: bridged ETH auto-staked via Lido V3</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L2/L1 DAU ratio fell to 1.12 (peak: 10.43 in Jun 2025)</a:t>
            </a:r>
            <a:endParaRPr lang="en-US" sz="1000" dirty="0"/>
          </a:p>
        </p:txBody>
      </p:sp>
      <p:sp>
        <p:nvSpPr>
          <p:cNvPr id="30" name="Shape 28"/>
          <p:cNvSpPr/>
          <p:nvPr/>
        </p:nvSpPr>
        <p:spPr>
          <a:xfrm>
            <a:off x="4663440" y="278892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1" name="Shape 29"/>
          <p:cNvSpPr/>
          <p:nvPr/>
        </p:nvSpPr>
        <p:spPr>
          <a:xfrm>
            <a:off x="4663440" y="2788920"/>
            <a:ext cx="4114800" cy="320040"/>
          </a:xfrm>
          <a:prstGeom prst="rect">
            <a:avLst/>
          </a:prstGeom>
          <a:solidFill>
            <a:srgbClr val="1A2744"/>
          </a:solidFill>
          <a:ln/>
        </p:spPr>
      </p:sp>
      <p:sp>
        <p:nvSpPr>
          <p:cNvPr id="32" name="Text 30"/>
          <p:cNvSpPr/>
          <p:nvPr/>
        </p:nvSpPr>
        <p:spPr>
          <a:xfrm>
            <a:off x="4846320" y="278892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DeFi &amp; Perp DEXes</a:t>
            </a:r>
            <a:endParaRPr lang="en-US" sz="1100" dirty="0"/>
          </a:p>
        </p:txBody>
      </p:sp>
      <p:sp>
        <p:nvSpPr>
          <p:cNvPr id="33" name="Text 31"/>
          <p:cNvSpPr/>
          <p:nvPr/>
        </p:nvSpPr>
        <p:spPr>
          <a:xfrm>
            <a:off x="4846320" y="317296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Aave: $1T cumulative lending; TVL $27.3B; 62.8% market share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DeFi TVL +4.4% despite extreme fear sentiment</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Hyperliquid: 54% perp DEX share; weekly fees $14M (+56%)</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dYdX buyback to 75% net revenue; synthetic equity perps planned</a:t>
            </a:r>
            <a:endParaRPr lang="en-US" sz="1000" dirty="0"/>
          </a:p>
        </p:txBody>
      </p:sp>
      <p:sp>
        <p:nvSpPr>
          <p:cNvPr id="34" name="Shape 32"/>
          <p:cNvSpPr/>
          <p:nvPr/>
        </p:nvSpPr>
        <p:spPr>
          <a:xfrm>
            <a:off x="0" y="4800600"/>
            <a:ext cx="9144000" cy="342900"/>
          </a:xfrm>
          <a:prstGeom prst="rect">
            <a:avLst/>
          </a:prstGeom>
          <a:solidFill>
            <a:srgbClr val="1A2744"/>
          </a:solidFill>
          <a:ln/>
        </p:spPr>
      </p:sp>
      <p:sp>
        <p:nvSpPr>
          <p:cNvPr id="35" name="Text 33"/>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2026.03.23–03.29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Regulation &amp; Fundraising</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54864" cy="3749040"/>
          </a:xfrm>
          <a:prstGeom prst="rect">
            <a:avLst/>
          </a:prstGeom>
          <a:solidFill>
            <a:srgbClr val="C9A96E"/>
          </a:solidFill>
          <a:ln/>
        </p:spPr>
      </p:sp>
      <p:sp>
        <p:nvSpPr>
          <p:cNvPr id="6" name="Text 4"/>
          <p:cNvSpPr/>
          <p:nvPr/>
        </p:nvSpPr>
        <p:spPr>
          <a:xfrm>
            <a:off x="64008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Regulation &amp; Policy</a:t>
            </a:r>
            <a:endParaRPr lang="en-US" sz="1400" dirty="0"/>
          </a:p>
        </p:txBody>
      </p:sp>
      <p:sp>
        <p:nvSpPr>
          <p:cNvPr id="7" name="Text 5"/>
          <p:cNvSpPr/>
          <p:nvPr/>
        </p:nvSpPr>
        <p:spPr>
          <a:xfrm>
            <a:off x="640080" y="132588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Joint Digital Commodity Rule</a:t>
            </a:r>
            <a:endParaRPr lang="en-US" sz="1100" dirty="0"/>
          </a:p>
        </p:txBody>
      </p:sp>
      <p:sp>
        <p:nvSpPr>
          <p:cNvPr id="8" name="Text 6"/>
          <p:cNvSpPr/>
          <p:nvPr/>
        </p:nvSpPr>
        <p:spPr>
          <a:xfrm>
            <a:off x="640080" y="153619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16 tokens classified; token taxonomy established</a:t>
            </a:r>
            <a:endParaRPr lang="en-US" sz="1000" dirty="0"/>
          </a:p>
        </p:txBody>
      </p:sp>
      <p:sp>
        <p:nvSpPr>
          <p:cNvPr id="9" name="Text 7"/>
          <p:cNvSpPr/>
          <p:nvPr/>
        </p:nvSpPr>
        <p:spPr>
          <a:xfrm>
            <a:off x="640080" y="192024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CLARITY Act Revised Draft</a:t>
            </a:r>
            <a:endParaRPr lang="en-US" sz="1100" dirty="0"/>
          </a:p>
        </p:txBody>
      </p:sp>
      <p:sp>
        <p:nvSpPr>
          <p:cNvPr id="10" name="Text 8"/>
          <p:cNvSpPr/>
          <p:nvPr/>
        </p:nvSpPr>
        <p:spPr>
          <a:xfrm>
            <a:off x="640080" y="213055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Bans passive stablecoin yield; Circle -20%</a:t>
            </a:r>
            <a:endParaRPr lang="en-US" sz="1000" dirty="0"/>
          </a:p>
        </p:txBody>
      </p:sp>
      <p:sp>
        <p:nvSpPr>
          <p:cNvPr id="11" name="Text 9"/>
          <p:cNvSpPr/>
          <p:nvPr/>
        </p:nvSpPr>
        <p:spPr>
          <a:xfrm>
            <a:off x="640080" y="251460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CFTC Innovation Task Force Formed</a:t>
            </a:r>
            <a:endParaRPr lang="en-US" sz="1100" dirty="0"/>
          </a:p>
        </p:txBody>
      </p:sp>
      <p:sp>
        <p:nvSpPr>
          <p:cNvPr id="12" name="Text 10"/>
          <p:cNvSpPr/>
          <p:nvPr/>
        </p:nvSpPr>
        <p:spPr>
          <a:xfrm>
            <a:off x="640080" y="272491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Digital assets, AI, prediction market frameworks</a:t>
            </a:r>
            <a:endParaRPr lang="en-US" sz="1000" dirty="0"/>
          </a:p>
        </p:txBody>
      </p:sp>
      <p:sp>
        <p:nvSpPr>
          <p:cNvPr id="13" name="Text 11"/>
          <p:cNvSpPr/>
          <p:nvPr/>
        </p:nvSpPr>
        <p:spPr>
          <a:xfrm>
            <a:off x="640080" y="310896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House Tokenization Hearing</a:t>
            </a:r>
            <a:endParaRPr lang="en-US" sz="1100" dirty="0"/>
          </a:p>
        </p:txBody>
      </p:sp>
      <p:sp>
        <p:nvSpPr>
          <p:cNvPr id="14" name="Text 12"/>
          <p:cNvSpPr/>
          <p:nvPr/>
        </p:nvSpPr>
        <p:spPr>
          <a:xfrm>
            <a:off x="640080" y="331927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Financial Services Committee on capital market modernization</a:t>
            </a:r>
            <a:endParaRPr lang="en-US" sz="1000" dirty="0"/>
          </a:p>
        </p:txBody>
      </p:sp>
      <p:sp>
        <p:nvSpPr>
          <p:cNvPr id="15" name="Text 13"/>
          <p:cNvSpPr/>
          <p:nvPr/>
        </p:nvSpPr>
        <p:spPr>
          <a:xfrm>
            <a:off x="640080" y="370332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Outlook: CLARITY Act Markup</a:t>
            </a:r>
            <a:endParaRPr lang="en-US" sz="1100" dirty="0"/>
          </a:p>
        </p:txBody>
      </p:sp>
      <p:sp>
        <p:nvSpPr>
          <p:cNvPr id="16" name="Text 14"/>
          <p:cNvSpPr/>
          <p:nvPr/>
        </p:nvSpPr>
        <p:spPr>
          <a:xfrm>
            <a:off x="640080" y="391363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Full committee review expected late April</a:t>
            </a:r>
            <a:endParaRPr lang="en-US" sz="1000" dirty="0"/>
          </a:p>
        </p:txBody>
      </p:sp>
      <p:sp>
        <p:nvSpPr>
          <p:cNvPr id="17" name="Shape 15"/>
          <p:cNvSpPr/>
          <p:nvPr/>
        </p:nvSpPr>
        <p:spPr>
          <a:xfrm>
            <a:off x="466344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663440" y="822960"/>
            <a:ext cx="54864" cy="3749040"/>
          </a:xfrm>
          <a:prstGeom prst="rect">
            <a:avLst/>
          </a:prstGeom>
          <a:solidFill>
            <a:srgbClr val="C9A96E"/>
          </a:solidFill>
          <a:ln/>
        </p:spPr>
      </p:sp>
      <p:sp>
        <p:nvSpPr>
          <p:cNvPr id="19" name="Text 17"/>
          <p:cNvSpPr/>
          <p:nvPr/>
        </p:nvSpPr>
        <p:spPr>
          <a:xfrm>
            <a:off x="493776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Fundraising &amp; M&amp;A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749040" cy="914400"/>
        </p:xfrm>
        <a:graphic>
          <a:graphicData uri="http://schemas.openxmlformats.org/drawingml/2006/table">
            <a:tbl>
              <a:tblPr/>
              <a:tblGrid>
                <a:gridCol w="1280160"/>
                <a:gridCol w="731520"/>
                <a:gridCol w="173736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Project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Notes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Mastercard/BVNK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$1.8B</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Acquisition; TradFi into digital infra</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Kalshi</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$1.0B</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Series E; event trading platform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GSR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$57M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Acquired Autonomous + Architech</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Polymarket/Brahma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DeFi + prediction market merger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Rarible/Impossible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NFT marketplace M&amp;A</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1" name="Shape 18"/>
          <p:cNvSpPr/>
          <p:nvPr/>
        </p:nvSpPr>
        <p:spPr>
          <a:xfrm>
            <a:off x="4846320" y="3108960"/>
            <a:ext cx="3749040" cy="640080"/>
          </a:xfrm>
          <a:prstGeom prst="rect">
            <a:avLst/>
          </a:prstGeom>
          <a:solidFill>
            <a:srgbClr val="FFF8E7"/>
          </a:solidFill>
          <a:ln/>
          <a:effectLst>
            <a:outerShdw sx="100000" sy="100000" kx="0" ky="0" algn="bl" rotWithShape="0" blurRad="50800" dist="25400" dir="8100000">
              <a:srgbClr val="000000">
                <a:alpha val="12000"/>
              </a:srgbClr>
            </a:outerShdw>
          </a:effectLst>
        </p:spPr>
      </p:sp>
      <p:sp>
        <p:nvSpPr>
          <p:cNvPr id="22" name="Shape 19"/>
          <p:cNvSpPr/>
          <p:nvPr/>
        </p:nvSpPr>
        <p:spPr>
          <a:xfrm>
            <a:off x="4846320" y="3108960"/>
            <a:ext cx="54864" cy="640080"/>
          </a:xfrm>
          <a:prstGeom prst="rect">
            <a:avLst/>
          </a:prstGeom>
          <a:solidFill>
            <a:srgbClr val="C9A96E"/>
          </a:solidFill>
          <a:ln/>
        </p:spPr>
      </p:sp>
      <p:sp>
        <p:nvSpPr>
          <p:cNvPr id="23" name="Text 20"/>
          <p:cNvSpPr/>
          <p:nvPr/>
        </p:nvSpPr>
        <p:spPr>
          <a:xfrm>
            <a:off x="5074920" y="3154680"/>
            <a:ext cx="3383280" cy="54864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Key: </a:t>
            </a:r>
            <a:pPr indent="0" marL="0">
              <a:buNone/>
            </a:pPr>
            <a:r>
              <a:rPr lang="en-US" sz="1000" dirty="0">
                <a:solidFill>
                  <a:srgbClr val="2D3748"/>
                </a:solidFill>
                <a:latin typeface="Arial" pitchFamily="34" charset="0"/>
                <a:ea typeface="Arial" pitchFamily="34" charset="-122"/>
                <a:cs typeface="Arial" pitchFamily="34" charset="-120"/>
              </a:rPr>
              <a:t>Mastercard's $1.8B BVNK acquisition signals TradFi accelerating digital asset infrastructure buildout; 2026 crypto M&amp;A on pace to exceed $37B record</a:t>
            </a:r>
            <a:endParaRPr lang="en-US" sz="1000" dirty="0"/>
          </a:p>
        </p:txBody>
      </p:sp>
      <p:sp>
        <p:nvSpPr>
          <p:cNvPr id="24" name="Shape 21"/>
          <p:cNvSpPr/>
          <p:nvPr/>
        </p:nvSpPr>
        <p:spPr>
          <a:xfrm>
            <a:off x="0" y="4800600"/>
            <a:ext cx="9144000" cy="342900"/>
          </a:xfrm>
          <a:prstGeom prst="rect">
            <a:avLst/>
          </a:prstGeom>
          <a:solidFill>
            <a:srgbClr val="1A2744"/>
          </a:solidFill>
          <a:ln/>
        </p:spPr>
      </p:sp>
      <p:sp>
        <p:nvSpPr>
          <p:cNvPr id="25" name="Text 2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2026.03.23–03.29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Security &amp; Sector Highlights</a:t>
            </a:r>
            <a:endParaRPr lang="en-US" sz="2000" dirty="0"/>
          </a:p>
        </p:txBody>
      </p:sp>
      <p:sp>
        <p:nvSpPr>
          <p:cNvPr id="4" name="Shape 2"/>
          <p:cNvSpPr/>
          <p:nvPr/>
        </p:nvSpPr>
        <p:spPr>
          <a:xfrm>
            <a:off x="365760" y="822960"/>
            <a:ext cx="4114800" cy="2148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4114800" cy="320040"/>
          </a:xfrm>
          <a:prstGeom prst="rect">
            <a:avLst/>
          </a:prstGeom>
          <a:solidFill>
            <a:srgbClr val="C53030"/>
          </a:solidFill>
          <a:ln/>
        </p:spPr>
      </p:sp>
      <p:sp>
        <p:nvSpPr>
          <p:cNvPr id="6" name="Text 4"/>
          <p:cNvSpPr/>
          <p:nvPr/>
        </p:nvSpPr>
        <p:spPr>
          <a:xfrm>
            <a:off x="548640" y="822960"/>
            <a:ext cx="384048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Security Incidents  |  YTD Loss: ~$480M</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840480" cy="914400"/>
        </p:xfrm>
        <a:graphic>
          <a:graphicData uri="http://schemas.openxmlformats.org/drawingml/2006/table">
            <a:tbl>
              <a:tblPr/>
              <a:tblGrid>
                <a:gridCol w="1097280"/>
                <a:gridCol w="731520"/>
                <a:gridCol w="2011680"/>
              </a:tblGrid>
              <a:tr h="256032">
                <a:tc>
                  <a:txBody>
                    <a:bodyPr/>
                    <a:lstStyle/>
                    <a:p>
                      <a:pPr indent="0" marL="0">
                        <a:buNone/>
                      </a:pPr>
                      <a:r>
                        <a:rPr lang="en-US" sz="900" b="1" dirty="0">
                          <a:solidFill>
                            <a:srgbClr val="2D3748"/>
                          </a:solidFill>
                          <a:latin typeface="Arial" pitchFamily="34" charset="0"/>
                          <a:ea typeface="Arial" pitchFamily="34" charset="-122"/>
                          <a:cs typeface="Arial" pitchFamily="34" charset="-120"/>
                        </a:rPr>
                        <a:t>Incident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algn="r" indent="0" marL="0">
                        <a:buNone/>
                      </a:pPr>
                      <a:r>
                        <a:rPr lang="en-US" sz="900" b="1" dirty="0">
                          <a:solidFill>
                            <a:srgbClr val="2D3748"/>
                          </a:solidFill>
                          <a:latin typeface="Arial" pitchFamily="34" charset="0"/>
                          <a:ea typeface="Arial" pitchFamily="34" charset="-122"/>
                          <a:cs typeface="Arial" pitchFamily="34" charset="-120"/>
                        </a:rPr>
                        <a:t>Loss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indent="0" marL="0">
                        <a:buNone/>
                      </a:pPr>
                      <a:r>
                        <a:rPr lang="en-US" sz="900" b="1" dirty="0">
                          <a:solidFill>
                            <a:srgbClr val="2D3748"/>
                          </a:solidFill>
                          <a:latin typeface="Arial" pitchFamily="34" charset="0"/>
                          <a:ea typeface="Arial" pitchFamily="34" charset="-122"/>
                          <a:cs typeface="Arial" pitchFamily="34" charset="-120"/>
                        </a:rPr>
                        <a:t>Vector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r>
              <a:tr h="320040">
                <a:tc>
                  <a:txBody>
                    <a:bodyPr/>
                    <a:lstStyle/>
                    <a:p>
                      <a:pPr indent="0" marL="0">
                        <a:buNone/>
                      </a:pPr>
                      <a:r>
                        <a:rPr lang="en-US" sz="900" dirty="0">
                          <a:solidFill>
                            <a:srgbClr val="000000"/>
                          </a:solidFill>
                          <a:latin typeface="Arial" pitchFamily="34" charset="0"/>
                          <a:ea typeface="Arial" pitchFamily="34" charset="-122"/>
                          <a:cs typeface="Arial" pitchFamily="34" charset="-120"/>
                        </a:rPr>
                        <a:t>Resolv USR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~$25M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AWS key compromise; 80M unbacked tokens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Step Finance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~$27M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Largest YTD incident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Truebit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~$26.6M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Third largest YTD</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20040">
                <a:tc>
                  <a:txBody>
                    <a:bodyPr/>
                    <a:lstStyle/>
                    <a:p>
                      <a:pPr indent="0" marL="0">
                        <a:buNone/>
                      </a:pPr>
                      <a:r>
                        <a:rPr lang="en-US" sz="900" dirty="0">
                          <a:solidFill>
                            <a:srgbClr val="000000"/>
                          </a:solidFill>
                          <a:latin typeface="Arial" pitchFamily="34" charset="0"/>
                          <a:ea typeface="Arial" pitchFamily="34" charset="-122"/>
                          <a:cs typeface="Arial" pitchFamily="34" charset="-120"/>
                        </a:rPr>
                        <a:t>Phishing (36 cases)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Rising</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C53030"/>
                          </a:solidFill>
                          <a:latin typeface="Arial" pitchFamily="34" charset="0"/>
                          <a:ea typeface="Arial" pitchFamily="34" charset="-122"/>
                          <a:cs typeface="Arial" pitchFamily="34" charset="-120"/>
                        </a:rPr>
                        <a:t>Social engineering now dominant vector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8" name="Shape 5"/>
          <p:cNvSpPr/>
          <p:nvPr/>
        </p:nvSpPr>
        <p:spPr>
          <a:xfrm>
            <a:off x="4663440" y="82296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6"/>
          <p:cNvSpPr/>
          <p:nvPr/>
        </p:nvSpPr>
        <p:spPr>
          <a:xfrm>
            <a:off x="4663440" y="822960"/>
            <a:ext cx="4114800" cy="320040"/>
          </a:xfrm>
          <a:prstGeom prst="rect">
            <a:avLst/>
          </a:prstGeom>
          <a:solidFill>
            <a:srgbClr val="1A2744"/>
          </a:solidFill>
          <a:ln/>
        </p:spPr>
      </p:sp>
      <p:sp>
        <p:nvSpPr>
          <p:cNvPr id="10" name="Text 7"/>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AI × Crypto</a:t>
            </a:r>
            <a:endParaRPr lang="en-US" sz="1100" dirty="0"/>
          </a:p>
        </p:txBody>
      </p:sp>
      <p:sp>
        <p:nvSpPr>
          <p:cNvPr id="11" name="Text 8"/>
          <p:cNvSpPr/>
          <p:nvPr/>
        </p:nvSpPr>
        <p:spPr>
          <a:xfrm>
            <a:off x="4846320" y="123444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NVIDIA GTC: Huang declares “AGI reached”; $1T chip demand</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AI crypto sector MCap &gt;$28B; TAO leads at $3.4B</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Miners pivot: cost $80K vs price $68K; difficulty -7.76%</a:t>
            </a:r>
            <a:endParaRPr lang="en-US" sz="1000" dirty="0"/>
          </a:p>
        </p:txBody>
      </p:sp>
      <p:sp>
        <p:nvSpPr>
          <p:cNvPr id="12" name="Shape 9"/>
          <p:cNvSpPr/>
          <p:nvPr/>
        </p:nvSpPr>
        <p:spPr>
          <a:xfrm>
            <a:off x="4663440" y="269748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0"/>
          <p:cNvSpPr/>
          <p:nvPr/>
        </p:nvSpPr>
        <p:spPr>
          <a:xfrm>
            <a:off x="4663440" y="2697480"/>
            <a:ext cx="4114800" cy="320040"/>
          </a:xfrm>
          <a:prstGeom prst="rect">
            <a:avLst/>
          </a:prstGeom>
          <a:solidFill>
            <a:srgbClr val="1A2744"/>
          </a:solidFill>
          <a:ln/>
        </p:spPr>
      </p:sp>
      <p:sp>
        <p:nvSpPr>
          <p:cNvPr id="14" name="Text 11"/>
          <p:cNvSpPr/>
          <p:nvPr/>
        </p:nvSpPr>
        <p:spPr>
          <a:xfrm>
            <a:off x="4846320" y="269748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Prediction Markets</a:t>
            </a:r>
            <a:endParaRPr lang="en-US" sz="1100" dirty="0"/>
          </a:p>
        </p:txBody>
      </p:sp>
      <p:sp>
        <p:nvSpPr>
          <p:cNvPr id="15" name="Text 12"/>
          <p:cNvSpPr/>
          <p:nvPr/>
        </p:nvSpPr>
        <p:spPr>
          <a:xfrm>
            <a:off x="4846320" y="310896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Polymarket: 11,176 active markets; 840K monthly wallets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Kalshi $1B Series E validates event trading at scale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Both platforms announce anti-insider trading rules (3/23)</a:t>
            </a:r>
            <a:endParaRPr lang="en-US" sz="1000" dirty="0"/>
          </a:p>
        </p:txBody>
      </p:sp>
      <p:sp>
        <p:nvSpPr>
          <p:cNvPr id="16" name="Shape 13"/>
          <p:cNvSpPr/>
          <p:nvPr/>
        </p:nvSpPr>
        <p:spPr>
          <a:xfrm>
            <a:off x="365760" y="3200400"/>
            <a:ext cx="41148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4"/>
          <p:cNvSpPr/>
          <p:nvPr/>
        </p:nvSpPr>
        <p:spPr>
          <a:xfrm>
            <a:off x="365760" y="3200400"/>
            <a:ext cx="4114800" cy="320040"/>
          </a:xfrm>
          <a:prstGeom prst="rect">
            <a:avLst/>
          </a:prstGeom>
          <a:solidFill>
            <a:srgbClr val="1A2744"/>
          </a:solidFill>
          <a:ln/>
        </p:spPr>
      </p:sp>
      <p:sp>
        <p:nvSpPr>
          <p:cNvPr id="18" name="Text 15"/>
          <p:cNvSpPr/>
          <p:nvPr/>
        </p:nvSpPr>
        <p:spPr>
          <a:xfrm>
            <a:off x="548640" y="320040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Stablecoins</a:t>
            </a:r>
            <a:endParaRPr lang="en-US" sz="1100" dirty="0"/>
          </a:p>
        </p:txBody>
      </p:sp>
      <p:sp>
        <p:nvSpPr>
          <p:cNvPr id="19" name="Text 16"/>
          <p:cNvSpPr/>
          <p:nvPr/>
        </p:nvSpPr>
        <p:spPr>
          <a:xfrm>
            <a:off x="548640" y="3611880"/>
            <a:ext cx="3749040" cy="82296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USDC volume overtakes USDT (64% share); Tether hires Big Four audit</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CLARITY Act draft bans passive yield: Circle -20%, Coinbase -10%</a:t>
            </a:r>
            <a:endParaRPr lang="en-US" sz="1000" dirty="0"/>
          </a:p>
        </p:txBody>
      </p:sp>
      <p:sp>
        <p:nvSpPr>
          <p:cNvPr id="20" name="Shape 17"/>
          <p:cNvSpPr/>
          <p:nvPr/>
        </p:nvSpPr>
        <p:spPr>
          <a:xfrm>
            <a:off x="0" y="4800600"/>
            <a:ext cx="9144000" cy="342900"/>
          </a:xfrm>
          <a:prstGeom prst="rect">
            <a:avLst/>
          </a:prstGeom>
          <a:solidFill>
            <a:srgbClr val="1A2744"/>
          </a:solidFill>
          <a:ln/>
        </p:spPr>
      </p:sp>
      <p:sp>
        <p:nvSpPr>
          <p:cNvPr id="21" name="Text 18"/>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2026.03.23–03.29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Upcoming Catalysts &amp; Outlook</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822960"/>
                <a:gridCol w="2926080"/>
                <a:gridCol w="1097280"/>
                <a:gridCol w="3383280"/>
              </a:tblGrid>
              <a:tr h="29260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Event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Asset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Expected Impact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4/3</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Wormhole 600M token unlock (6% supply)</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W</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 &gt;$90M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4/15</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Starknet 127M token unlock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STRK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Q2</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Ethereum Glamsterdam Upgrade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ETH</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78% gas reduction; may pull activity from L2s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Late Apr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CLARITY Act Committee Markup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CRCL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Stablecoin yield ban determination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4/28-29</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Powell's Final FOMC Meeting</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All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Rate forward guidance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4/29-30</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TOKEN2049 Dubai</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All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Year's biggest industry summit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Q2</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SOL/XRP Spot ETF Progress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SOL/XRP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Commodity classification clears ETF path</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5" name="Shape 2"/>
          <p:cNvSpPr/>
          <p:nvPr/>
        </p:nvSpPr>
        <p:spPr>
          <a:xfrm>
            <a:off x="457200" y="3337560"/>
            <a:ext cx="8229600" cy="1188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3"/>
          <p:cNvSpPr/>
          <p:nvPr/>
        </p:nvSpPr>
        <p:spPr>
          <a:xfrm>
            <a:off x="457200" y="3337560"/>
            <a:ext cx="54864" cy="1188720"/>
          </a:xfrm>
          <a:prstGeom prst="rect">
            <a:avLst/>
          </a:prstGeom>
          <a:solidFill>
            <a:srgbClr val="C9A96E"/>
          </a:solidFill>
          <a:ln/>
        </p:spPr>
      </p:sp>
      <p:sp>
        <p:nvSpPr>
          <p:cNvPr id="7" name="Text 4"/>
          <p:cNvSpPr/>
          <p:nvPr/>
        </p:nvSpPr>
        <p:spPr>
          <a:xfrm>
            <a:off x="731520" y="3383280"/>
            <a:ext cx="731520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Weekly Summary</a:t>
            </a:r>
            <a:endParaRPr lang="en-US" sz="1300" dirty="0"/>
          </a:p>
        </p:txBody>
      </p:sp>
      <p:sp>
        <p:nvSpPr>
          <p:cNvPr id="8" name="Text 5"/>
          <p:cNvSpPr/>
          <p:nvPr/>
        </p:nvSpPr>
        <p:spPr>
          <a:xfrm>
            <a:off x="731520" y="3657600"/>
            <a:ext cx="7772400" cy="777240"/>
          </a:xfrm>
          <a:prstGeom prst="rect">
            <a:avLst/>
          </a:prstGeom>
          <a:noFill/>
          <a:ln/>
        </p:spPr>
        <p:txBody>
          <a:bodyPr wrap="square" lIns="0" tIns="0" rIns="0" bIns="0" rtlCol="0" anchor="ctr"/>
          <a:lstStyle/>
          <a:p>
            <a:pPr indent="0" marL="0">
              <a:buNone/>
            </a:pPr>
            <a:r>
              <a:rPr lang="en-US" sz="1000" dirty="0">
                <a:solidFill>
                  <a:srgbClr val="2D3748"/>
                </a:solidFill>
                <a:latin typeface="Arial" pitchFamily="34" charset="0"/>
                <a:ea typeface="Arial" pitchFamily="34" charset="-122"/>
                <a:cs typeface="Arial" pitchFamily="34" charset="-120"/>
              </a:rPr>
              <a:t>Extreme Fear (FGI=8). BTC hit March low; ETH broke $2,000. Triple macro pressure: Iran-Israel war, Trump 15% tariffs, Fed inflation forecast upgrade. ETF flows turned sharply negative.</a:t>
            </a:r>
            <a:endParaRPr lang="en-US" sz="1000" dirty="0"/>
          </a:p>
          <a:p>
            <a:pPr indent="0" marL="0">
              <a:buNone/>
            </a:pPr>
            <a:r>
              <a:rPr lang="en-US" sz="1000" b="1" dirty="0">
                <a:solidFill>
                  <a:srgbClr val="1A2744"/>
                </a:solidFill>
                <a:latin typeface="Arial" pitchFamily="34" charset="0"/>
                <a:ea typeface="Arial" pitchFamily="34" charset="-122"/>
                <a:cs typeface="Arial" pitchFamily="34" charset="-120"/>
              </a:rPr>
              <a:t>Key watches: </a:t>
            </a:r>
            <a:pPr indent="0" marL="0">
              <a:buNone/>
            </a:pPr>
            <a:r>
              <a:rPr lang="en-US" sz="1000" dirty="0">
                <a:solidFill>
                  <a:srgbClr val="2D3748"/>
                </a:solidFill>
                <a:latin typeface="Arial" pitchFamily="34" charset="0"/>
                <a:ea typeface="Arial" pitchFamily="34" charset="-122"/>
                <a:cs typeface="Arial" pitchFamily="34" charset="-120"/>
              </a:rPr>
              <a:t>4/3 Wormhole $90M unlock, CLARITY Act markup impact on stablecoin positions, Iran-Israel trajectory on oil/inflation. SEC-CFTC commodity classification is a major medium-term positive.</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2026.03.23–03.29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Market Weekly Report — Mar 23-29, 2026</dc:title>
  <dc:subject>PptxGenJS Presentation</dc:subject>
  <dc:creator>42</dc:creator>
  <cp:lastModifiedBy>42</cp:lastModifiedBy>
  <cp:revision>1</cp:revision>
  <dcterms:created xsi:type="dcterms:W3CDTF">2026-03-30T02:28:29Z</dcterms:created>
  <dcterms:modified xsi:type="dcterms:W3CDTF">2026-03-30T02:28:29Z</dcterms:modified>
</cp:coreProperties>
</file>