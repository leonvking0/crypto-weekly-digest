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the crypto market experienced a rollercoaster ride. BTC rallied to a 6-week high of $76K mid-week driven by landmark SEC/CFTC regulatory guidance, then flash-crashed to $68.8K on Saturday due to Middle East geopolitical crisis (Strait of Hormuz escalation, oil spiking to $110/barrel). Over $1B in liquidations occurred within 24 hours (85% longs). Fear &amp; Greed Index dropped to 10 (Extreme Fear), lowest since 2024. Despite short-term volatility, the regulatory breakthrough (18 tokens classified as digital commodities) lays an extremely positive foundation for the medium-to-long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Overview Deep Dive:
1. BTC experienced a classic "wash" pattern this week. Mid-week rally to $76K (6-week high) driven by regulatory tailwinds, but institutional buyers were absorbing at 2.8x new supply rate while ETFs saw $219M net outflow on Wednesday - showing institutional divergence.
2. ETH was relatively resilient (-0.6%) supported by Glamsterdam upgrade expectations and SEC explicitly classifying ETH as a "digital commodity" rather than a security.
3. Fear &amp; Greed at 10 (Extreme Fear) is the lowest since 2024. Historically, extreme fear zones have been medium-to-long-term buying opportunities.
4. $438M in token unlocks this week added sell pressure: ASTER ($55.9M), LayerZero ($50.3M), Lombard ($34.8M).
5. Positive signals: Metaplanet raised $255M to expand BTC treasury, Bullish reported 24,400 BTC holdings (~$1.67B), corporate buying pace at 3x new supply.
Portfolio implications: PENDLE TVL milestone ($4B) is bullish for fundamentals but price declined 6.4% showing negative short-term sentiment. ENA yield compression to 3.5% APY is a key risk signal - negative funding rates directly compress USDe model's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Stories &amp; Industry Deep Dive:
1. The Strait of Hormuz flash crash is a textbook geopolitical black swan. Trump's ultimatum triggered oil to $110/barrel, causing global risk-off. BTC dropped from $76K to $68.2K with $1B+ liquidated in 24h (85% longs). This shows crypto's sensitivity to geopolitical risk remains high, but historically extreme fear levels have been buying opportunities.
2. The SEC/CFTC joint guidance is arguably the most important US crypto regulatory development ever. The 68-page document classifies BTC, ETH, SOL, XRP and 14 other tokens as "digital commodities," and confirms that mining, staking, airdrops, and wrapped tokens are NOT securities transactions. This fundamentally ends the era of "regulation by enforcement."
3. On L1/L2: Base's dominance (46% L2 TVL, 60%+ fee revenue) shows consumer app aggregation effects accelerating. Solana's Alpenglow upgrade targeting 100-150ms finality would further cement its competitive advantage in high-frequency trading.
4. The S&amp;P 500 officially licensing to Hyperliquid via Trade.xyz is a landmark - first time a major traditional equity index is sanctioned for DEX perpetual trading. DEX reaching 20% global perp market share represents an accelerating structural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&amp; Fundraising Deep Dive:
1. The SEC/CFTC joint guidance is a watershed moment for US crypto regulation. The 68-page document establishes a five-category digital asset taxonomy, explicitly classifying BTC, ETH, SOL, XRP and 14 others as "digital commodities." Key implications:
   - Ends "regulation by enforcement" era, clearing the biggest legal barrier for institutional entry
   - Staking, mining, airdrops, wrapped tokens confirmed NOT securities transactions
   - Paves the road for ETFs, institutional custody products
2. The CFTC's self-custody no-action letter is equally important - it establishes the legal right to self-custody and ensures wallet developers won't be regulated as financial intermediaries.
3. However, the regulatory environment isn't uniformly positive. Prediction markets face state-level opposition: Arizona criminal charges against Kalshi, Nevada restraining order, Argentina blocking Polymarket. This shows federal vs. state jurisdictional conflict is intensifying.
4. On fundraising, Kalshi's $1B raise at $22B valuation is the biggest highlight, signaling massive institutional conviction in prediction markets. Backpack's TGE model innovation (staked tokens convertible to equity) is noteworthy - a new experiment in token-equity fusion.
Portfolio implications: Backpack ($BP) TGE on 3/23 is directly relevant as a holding. The token-to-equity conversion model could set industry precedent.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&amp; Hot Sectors Deep Dive:
1. Security: Total weekly losses ~$31.7M, dominated by Resolv Labs $25M exploit. The USR stablecoin minting vulnerability allowed an attacker to convert 200K USDC into $25M USR, causing an 80% depeg. This again warns of smart contract risks in new stablecoin protocols. The Bitrefill incident confirmed as North Korea's Lazarus Group shows nation-state threats to crypto persist. The new "Coruna" iOS exploit targeting iPhone wallet seed phrases is concerning for mobile-first users.
2. AI x Crypto: Bittensor's 72B parameter decentralized LLM training is a historic milestone - 70 global contributors using commodity hardware proved decentralized compute viability. Grayscale's TAO ETP filing brings institutional legitimacy. Akash's BME hard fork makes AKT deflationary tied to network usage. MoonPay+Ledger's hardware-signed AI agent solves the critical security bottleneck for autonomous fund management.
3. Prediction Markets: Polymarket's $150M MLB exclusive deal is historic - first deep integration of prediction markets with mainstream sports. But multi-state regulatory opposition (Arizona criminal charges, Nevada restraining order, Argentina blocking) shows the compliance risk. The federal vs. state jurisdictional war could be a key variable.
4. Stablecoins: USDC surpassing USDT in YTD transfer volume is a critical inflection point, reflecting regulatory compliance importance for institutional users. Ethena yield compression to ~3.5% is worth monitoring - negative funding rates directly compress the USDe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Catalysts &amp; Outlook Deep Dive:
1. Backpack TGE (3/23) is the most immediately relevant event as a portfolio holding. The "staked tokens convertible to equity" model is an innovative experiment in token-equity fusion that could set industry precedent. Monitor closely for launch dynamics.
2. CLARITY Act potential signing on 4/3 would be one of the most important US crypto legislative milestones ever, providing definitive legal definitions for digital commodity vs. security classification. This would directly impact the entire market.
3. EthCC 9 (Cannes) historically features major technical and ecosystem announcements. Combined with Glamsterdam upgrade expectations, could provide positive catalysts for ETH.
4. Portfolio Management Perspective:
   - PENDLE: $4B TVL is a critical milestone for fundamentals, but price declined 6.4% showing negative short-term sentiment. The divergence between fundamentals and price may present opportunity.
   - ENA: sUSDe yield compression to 3.5% is a key risk signal. Negative funding rates directly compress USDe model revenue. Need to monitor funding rate environment.
   - HYPE: Grayscale ETF filing is a major medium-term positive, but approval timeline uncertain. The S&amp;P 500 licensing deal validates the platform.
   - The Middle East geopolitical crisis is the biggest uncertainty factor. If tensions escalate further, expect continued risk-off across all assets. If tensions de-escalate, the regulatory tailwinds + extreme fear positioning could catalyze a strong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63040"/>
            <a:ext cx="1097280" cy="36576"/>
          </a:xfrm>
          <a:prstGeom prst="rect">
            <a:avLst/>
          </a:prstGeom>
          <a:solidFill>
            <a:srgbClr val="C9A96E"/>
          </a:solidFill>
          <a:ln/>
        </p:spPr>
      </p:sp>
      <p:sp>
        <p:nvSpPr>
          <p:cNvPr id="3" name="Text 1"/>
          <p:cNvSpPr/>
          <p:nvPr/>
        </p:nvSpPr>
        <p:spPr>
          <a:xfrm>
            <a:off x="731520" y="164592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Crypto Weekly Digest</a:t>
            </a:r>
            <a:endParaRPr lang="en-US" sz="4200" dirty="0"/>
          </a:p>
        </p:txBody>
      </p:sp>
      <p:sp>
        <p:nvSpPr>
          <p:cNvPr id="4" name="Text 2"/>
          <p:cNvSpPr/>
          <p:nvPr/>
        </p:nvSpPr>
        <p:spPr>
          <a:xfrm>
            <a:off x="731520" y="2468880"/>
            <a:ext cx="7315200" cy="45720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March 16 — 22, 2026</a:t>
            </a:r>
            <a:endParaRPr lang="en-US" sz="2000" dirty="0"/>
          </a:p>
        </p:txBody>
      </p:sp>
      <p:sp>
        <p:nvSpPr>
          <p:cNvPr id="5" name="Text 3"/>
          <p:cNvSpPr/>
          <p:nvPr/>
        </p:nvSpPr>
        <p:spPr>
          <a:xfrm>
            <a:off x="731520" y="3108960"/>
            <a:ext cx="7315200" cy="36576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Sources: Messari · The Block · CoinGecko · DefiLlama</a:t>
            </a:r>
            <a:endParaRPr lang="en-US" sz="1100" dirty="0"/>
          </a:p>
        </p:txBody>
      </p:sp>
      <p:sp>
        <p:nvSpPr>
          <p:cNvPr id="6" name="Shape 4"/>
          <p:cNvSpPr/>
          <p:nvPr/>
        </p:nvSpPr>
        <p:spPr>
          <a:xfrm>
            <a:off x="0" y="4800600"/>
            <a:ext cx="9144000" cy="342900"/>
          </a:xfrm>
          <a:prstGeom prst="rect">
            <a:avLst/>
          </a:prstGeom>
          <a:solidFill>
            <a:srgbClr val="C9A96E"/>
          </a:solidFill>
          <a:ln/>
        </p:spPr>
      </p:sp>
      <p:sp>
        <p:nvSpPr>
          <p:cNvPr id="7" name="Text 5"/>
          <p:cNvSpPr/>
          <p:nvPr/>
        </p:nvSpPr>
        <p:spPr>
          <a:xfrm>
            <a:off x="0" y="4800600"/>
            <a:ext cx="9144000" cy="342900"/>
          </a:xfrm>
          <a:prstGeom prst="rect">
            <a:avLst/>
          </a:prstGeom>
          <a:noFill/>
          <a:ln/>
        </p:spPr>
        <p:txBody>
          <a:bodyPr wrap="square"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Market Overview</a:t>
            </a:r>
            <a:endParaRPr lang="en-US" sz="2000" dirty="0"/>
          </a:p>
        </p:txBody>
      </p:sp>
      <p:sp>
        <p:nvSpPr>
          <p:cNvPr id="4" name="Shape 2"/>
          <p:cNvSpPr/>
          <p:nvPr/>
        </p:nvSpPr>
        <p:spPr>
          <a:xfrm>
            <a:off x="54864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868680"/>
            <a:ext cx="54864" cy="960120"/>
          </a:xfrm>
          <a:prstGeom prst="rect">
            <a:avLst/>
          </a:prstGeom>
          <a:solidFill>
            <a:srgbClr val="C9A96E"/>
          </a:solidFill>
          <a:ln/>
        </p:spPr>
      </p:sp>
      <p:sp>
        <p:nvSpPr>
          <p:cNvPr id="6" name="Text 4"/>
          <p:cNvSpPr/>
          <p:nvPr/>
        </p:nvSpPr>
        <p:spPr>
          <a:xfrm>
            <a:off x="77724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BTC</a:t>
            </a:r>
            <a:endParaRPr lang="en-US" sz="1200" dirty="0"/>
          </a:p>
        </p:txBody>
      </p:sp>
      <p:sp>
        <p:nvSpPr>
          <p:cNvPr id="7" name="Text 5"/>
          <p:cNvSpPr/>
          <p:nvPr/>
        </p:nvSpPr>
        <p:spPr>
          <a:xfrm>
            <a:off x="77724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$68,811</a:t>
            </a:r>
            <a:endParaRPr lang="en-US" sz="2800" dirty="0"/>
          </a:p>
        </p:txBody>
      </p:sp>
      <p:sp>
        <p:nvSpPr>
          <p:cNvPr id="8" name="Text 6"/>
          <p:cNvSpPr/>
          <p:nvPr/>
        </p:nvSpPr>
        <p:spPr>
          <a:xfrm>
            <a:off x="777240" y="1527048"/>
            <a:ext cx="1828800" cy="228600"/>
          </a:xfrm>
          <a:prstGeom prst="rect">
            <a:avLst/>
          </a:prstGeom>
          <a:noFill/>
          <a:ln/>
        </p:spPr>
        <p:txBody>
          <a:bodyPr wrap="square" lIns="0" tIns="0" rIns="0" bIns="0" rtlCol="0" anchor="ctr"/>
          <a:lstStyle/>
          <a:p>
            <a:pPr indent="0" marL="0">
              <a:buNone/>
            </a:pPr>
            <a:r>
              <a:rPr lang="en-US" sz="1400" b="1" dirty="0">
                <a:solidFill>
                  <a:srgbClr val="C53030"/>
                </a:solidFill>
                <a:latin typeface="Arial" pitchFamily="34" charset="0"/>
                <a:ea typeface="Arial" pitchFamily="34" charset="-122"/>
                <a:cs typeface="Arial" pitchFamily="34" charset="-120"/>
              </a:rPr>
              <a:t>-3.9%</a:t>
            </a:r>
            <a:endParaRPr lang="en-US" sz="1400" dirty="0"/>
          </a:p>
        </p:txBody>
      </p:sp>
      <p:sp>
        <p:nvSpPr>
          <p:cNvPr id="9" name="Shape 7"/>
          <p:cNvSpPr/>
          <p:nvPr/>
        </p:nvSpPr>
        <p:spPr>
          <a:xfrm>
            <a:off x="338328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3383280" y="868680"/>
            <a:ext cx="54864" cy="960120"/>
          </a:xfrm>
          <a:prstGeom prst="rect">
            <a:avLst/>
          </a:prstGeom>
          <a:solidFill>
            <a:srgbClr val="C9A96E"/>
          </a:solidFill>
          <a:ln/>
        </p:spPr>
      </p:sp>
      <p:sp>
        <p:nvSpPr>
          <p:cNvPr id="11" name="Text 9"/>
          <p:cNvSpPr/>
          <p:nvPr/>
        </p:nvSpPr>
        <p:spPr>
          <a:xfrm>
            <a:off x="361188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ETH</a:t>
            </a:r>
            <a:endParaRPr lang="en-US" sz="1200" dirty="0"/>
          </a:p>
        </p:txBody>
      </p:sp>
      <p:sp>
        <p:nvSpPr>
          <p:cNvPr id="12" name="Text 10"/>
          <p:cNvSpPr/>
          <p:nvPr/>
        </p:nvSpPr>
        <p:spPr>
          <a:xfrm>
            <a:off x="361188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$2,082</a:t>
            </a:r>
            <a:endParaRPr lang="en-US" sz="2800" dirty="0"/>
          </a:p>
        </p:txBody>
      </p:sp>
      <p:sp>
        <p:nvSpPr>
          <p:cNvPr id="13" name="Text 11"/>
          <p:cNvSpPr/>
          <p:nvPr/>
        </p:nvSpPr>
        <p:spPr>
          <a:xfrm>
            <a:off x="3611880" y="1527048"/>
            <a:ext cx="1828800" cy="228600"/>
          </a:xfrm>
          <a:prstGeom prst="rect">
            <a:avLst/>
          </a:prstGeom>
          <a:noFill/>
          <a:ln/>
        </p:spPr>
        <p:txBody>
          <a:bodyPr wrap="square" lIns="0" tIns="0" rIns="0" bIns="0" rtlCol="0" anchor="ctr"/>
          <a:lstStyle/>
          <a:p>
            <a:pPr indent="0" marL="0">
              <a:buNone/>
            </a:pPr>
            <a:r>
              <a:rPr lang="en-US" sz="1400" b="1" dirty="0">
                <a:solidFill>
                  <a:srgbClr val="C53030"/>
                </a:solidFill>
                <a:latin typeface="Arial" pitchFamily="34" charset="0"/>
                <a:ea typeface="Arial" pitchFamily="34" charset="-122"/>
                <a:cs typeface="Arial" pitchFamily="34" charset="-120"/>
              </a:rPr>
              <a:t>-0.6%</a:t>
            </a:r>
            <a:endParaRPr lang="en-US" sz="1400" dirty="0"/>
          </a:p>
        </p:txBody>
      </p:sp>
      <p:sp>
        <p:nvSpPr>
          <p:cNvPr id="14" name="Shape 12"/>
          <p:cNvSpPr/>
          <p:nvPr/>
        </p:nvSpPr>
        <p:spPr>
          <a:xfrm>
            <a:off x="621792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6217920" y="868680"/>
            <a:ext cx="54864" cy="960120"/>
          </a:xfrm>
          <a:prstGeom prst="rect">
            <a:avLst/>
          </a:prstGeom>
          <a:solidFill>
            <a:srgbClr val="C53030"/>
          </a:solidFill>
          <a:ln/>
        </p:spPr>
      </p:sp>
      <p:sp>
        <p:nvSpPr>
          <p:cNvPr id="16" name="Text 14"/>
          <p:cNvSpPr/>
          <p:nvPr/>
        </p:nvSpPr>
        <p:spPr>
          <a:xfrm>
            <a:off x="6446520" y="960120"/>
            <a:ext cx="219456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Fear &amp; Greed</a:t>
            </a:r>
            <a:endParaRPr lang="en-US" sz="1200" dirty="0"/>
          </a:p>
        </p:txBody>
      </p:sp>
      <p:sp>
        <p:nvSpPr>
          <p:cNvPr id="17" name="Text 15"/>
          <p:cNvSpPr/>
          <p:nvPr/>
        </p:nvSpPr>
        <p:spPr>
          <a:xfrm>
            <a:off x="6446520" y="1188720"/>
            <a:ext cx="914400" cy="365760"/>
          </a:xfrm>
          <a:prstGeom prst="rect">
            <a:avLst/>
          </a:prstGeom>
          <a:noFill/>
          <a:ln/>
        </p:spPr>
        <p:txBody>
          <a:bodyPr wrap="square" lIns="0" tIns="0" rIns="0" bIns="0" rtlCol="0" anchor="ctr"/>
          <a:lstStyle/>
          <a:p>
            <a:pPr indent="0" marL="0">
              <a:buNone/>
            </a:pPr>
            <a:r>
              <a:rPr lang="en-US" sz="2800" b="1" dirty="0">
                <a:solidFill>
                  <a:srgbClr val="C53030"/>
                </a:solidFill>
                <a:latin typeface="Arial" pitchFamily="34" charset="0"/>
                <a:ea typeface="Arial" pitchFamily="34" charset="-122"/>
                <a:cs typeface="Arial" pitchFamily="34" charset="-120"/>
              </a:rPr>
              <a:t>10</a:t>
            </a:r>
            <a:endParaRPr lang="en-US" sz="2800" dirty="0"/>
          </a:p>
        </p:txBody>
      </p:sp>
      <p:sp>
        <p:nvSpPr>
          <p:cNvPr id="18" name="Text 16"/>
          <p:cNvSpPr/>
          <p:nvPr/>
        </p:nvSpPr>
        <p:spPr>
          <a:xfrm>
            <a:off x="7223760" y="1252728"/>
            <a:ext cx="1371600" cy="274320"/>
          </a:xfrm>
          <a:prstGeom prst="rect">
            <a:avLst/>
          </a:prstGeom>
          <a:noFill/>
          <a:ln/>
        </p:spPr>
        <p:txBody>
          <a:bodyPr wrap="square" lIns="0" tIns="0" rIns="0" bIns="0" rtlCol="0" anchor="ctr"/>
          <a:lstStyle/>
          <a:p>
            <a:pPr indent="0" marL="0">
              <a:buNone/>
            </a:pPr>
            <a:r>
              <a:rPr lang="en-US" sz="1300" dirty="0">
                <a:solidFill>
                  <a:srgbClr val="C53030"/>
                </a:solidFill>
                <a:latin typeface="Arial" pitchFamily="34" charset="0"/>
                <a:ea typeface="Arial" pitchFamily="34" charset="-122"/>
                <a:cs typeface="Arial" pitchFamily="34" charset="-120"/>
              </a:rPr>
              <a:t>Extreme 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8046720" cy="914400"/>
        </p:xfrm>
        <a:graphic>
          <a:graphicData uri="http://schemas.openxmlformats.org/drawingml/2006/table">
            <a:tbl>
              <a:tblPr/>
              <a:tblGrid>
                <a:gridCol w="1188720"/>
                <a:gridCol w="1645920"/>
                <a:gridCol w="1371600"/>
                <a:gridCol w="3840480"/>
              </a:tblGrid>
              <a:tr h="3200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Asset</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7d Chg</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Notes</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SOL</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$87.49</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-0.5%</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SOL ETF AUM crosses $1B</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HYPE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$38.00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Grayscale files HYPE ETF</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PENDLE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$1.19</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-6.4%</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TVL hits $4B milestone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ENA</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$0.10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-9.7%</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sUSDe dynamic unstaking</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DYDX</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$0.08</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Shuts down 16 markets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60520"/>
            <a:ext cx="8046720" cy="36576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Macro: Fed holds rates (3.50-3.75%), Middle East crisis pushes oil to $110 triggering Saturday flash crash; BTC from $76K to $68.8K, $1B+ liquidated in 24h</a:t>
            </a:r>
            <a:endParaRPr lang="en-US" sz="1000" dirty="0"/>
          </a:p>
        </p:txBody>
      </p:sp>
      <p:sp>
        <p:nvSpPr>
          <p:cNvPr id="21" name="Shape 18"/>
          <p:cNvSpPr/>
          <p:nvPr/>
        </p:nvSpPr>
        <p:spPr>
          <a:xfrm>
            <a:off x="0" y="4800600"/>
            <a:ext cx="9144000" cy="342900"/>
          </a:xfrm>
          <a:prstGeom prst="rect">
            <a:avLst/>
          </a:prstGeom>
          <a:solidFill>
            <a:srgbClr val="1A2744"/>
          </a:solidFill>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Digest | 2026.03.16–03.22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Top Stories &amp; Industry</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548640" y="868680"/>
            <a:ext cx="3657600" cy="32004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TOP 5 STORIES</a:t>
            </a:r>
            <a:endParaRPr lang="en-US" sz="1300" dirty="0"/>
          </a:p>
        </p:txBody>
      </p:sp>
      <p:sp>
        <p:nvSpPr>
          <p:cNvPr id="6" name="Shape 4"/>
          <p:cNvSpPr/>
          <p:nvPr/>
        </p:nvSpPr>
        <p:spPr>
          <a:xfrm>
            <a:off x="594360" y="1261872"/>
            <a:ext cx="274320" cy="274320"/>
          </a:xfrm>
          <a:prstGeom prst="ellipse">
            <a:avLst/>
          </a:prstGeom>
          <a:solidFill>
            <a:srgbClr val="C9A96E"/>
          </a:solidFill>
          <a:ln/>
        </p:spPr>
      </p:sp>
      <p:sp>
        <p:nvSpPr>
          <p:cNvPr id="7" name="Text 5"/>
          <p:cNvSpPr/>
          <p:nvPr/>
        </p:nvSpPr>
        <p:spPr>
          <a:xfrm>
            <a:off x="59436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05840" y="1243584"/>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Strait of Hormuz Flash Crash &amp; $1B Liq.</a:t>
            </a:r>
            <a:endParaRPr lang="en-US" sz="1100" dirty="0"/>
          </a:p>
        </p:txBody>
      </p:sp>
      <p:sp>
        <p:nvSpPr>
          <p:cNvPr id="9" name="Text 7"/>
          <p:cNvSpPr/>
          <p:nvPr/>
        </p:nvSpPr>
        <p:spPr>
          <a:xfrm>
            <a:off x="1005840" y="1463040"/>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BTC crashed from $76K to $68.2K; oil at $110 triggered panic</a:t>
            </a:r>
            <a:endParaRPr lang="en-US" sz="900" dirty="0"/>
          </a:p>
        </p:txBody>
      </p:sp>
      <p:sp>
        <p:nvSpPr>
          <p:cNvPr id="10" name="Shape 8"/>
          <p:cNvSpPr/>
          <p:nvPr/>
        </p:nvSpPr>
        <p:spPr>
          <a:xfrm>
            <a:off x="594360" y="1920240"/>
            <a:ext cx="274320" cy="274320"/>
          </a:xfrm>
          <a:prstGeom prst="ellipse">
            <a:avLst/>
          </a:prstGeom>
          <a:solidFill>
            <a:srgbClr val="C9A96E"/>
          </a:solidFill>
          <a:ln/>
        </p:spPr>
      </p:sp>
      <p:sp>
        <p:nvSpPr>
          <p:cNvPr id="11" name="Text 9"/>
          <p:cNvSpPr/>
          <p:nvPr/>
        </p:nvSpPr>
        <p:spPr>
          <a:xfrm>
            <a:off x="594360" y="1920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05840" y="1901952"/>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Joint Regulatory Guidance</a:t>
            </a:r>
            <a:endParaRPr lang="en-US" sz="1100" dirty="0"/>
          </a:p>
        </p:txBody>
      </p:sp>
      <p:sp>
        <p:nvSpPr>
          <p:cNvPr id="13" name="Text 11"/>
          <p:cNvSpPr/>
          <p:nvPr/>
        </p:nvSpPr>
        <p:spPr>
          <a:xfrm>
            <a:off x="1005840" y="2121408"/>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18 tokens classified as digital commodities; ends reg ambiguity</a:t>
            </a:r>
            <a:endParaRPr lang="en-US" sz="900" dirty="0"/>
          </a:p>
        </p:txBody>
      </p:sp>
      <p:sp>
        <p:nvSpPr>
          <p:cNvPr id="14" name="Shape 12"/>
          <p:cNvSpPr/>
          <p:nvPr/>
        </p:nvSpPr>
        <p:spPr>
          <a:xfrm>
            <a:off x="594360" y="2578608"/>
            <a:ext cx="274320" cy="274320"/>
          </a:xfrm>
          <a:prstGeom prst="ellipse">
            <a:avLst/>
          </a:prstGeom>
          <a:solidFill>
            <a:srgbClr val="C9A96E"/>
          </a:solidFill>
          <a:ln/>
        </p:spPr>
      </p:sp>
      <p:sp>
        <p:nvSpPr>
          <p:cNvPr id="15" name="Text 13"/>
          <p:cNvSpPr/>
          <p:nvPr/>
        </p:nvSpPr>
        <p:spPr>
          <a:xfrm>
            <a:off x="59436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05840" y="2560320"/>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Bhutan Sovereign Fund Moves $72M BTC</a:t>
            </a:r>
            <a:endParaRPr lang="en-US" sz="1100" dirty="0"/>
          </a:p>
        </p:txBody>
      </p:sp>
      <p:sp>
        <p:nvSpPr>
          <p:cNvPr id="17" name="Text 15"/>
          <p:cNvSpPr/>
          <p:nvPr/>
        </p:nvSpPr>
        <p:spPr>
          <a:xfrm>
            <a:off x="1005840" y="2779776"/>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Arkham on-chain data reveals sovereign-level position change</a:t>
            </a:r>
            <a:endParaRPr lang="en-US" sz="900" dirty="0"/>
          </a:p>
        </p:txBody>
      </p:sp>
      <p:sp>
        <p:nvSpPr>
          <p:cNvPr id="18" name="Shape 16"/>
          <p:cNvSpPr/>
          <p:nvPr/>
        </p:nvSpPr>
        <p:spPr>
          <a:xfrm>
            <a:off x="594360" y="3236976"/>
            <a:ext cx="274320" cy="274320"/>
          </a:xfrm>
          <a:prstGeom prst="ellipse">
            <a:avLst/>
          </a:prstGeom>
          <a:solidFill>
            <a:srgbClr val="C9A96E"/>
          </a:solidFill>
          <a:ln/>
        </p:spPr>
      </p:sp>
      <p:sp>
        <p:nvSpPr>
          <p:cNvPr id="19" name="Text 17"/>
          <p:cNvSpPr/>
          <p:nvPr/>
        </p:nvSpPr>
        <p:spPr>
          <a:xfrm>
            <a:off x="59436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1005840" y="3218688"/>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20 Millionth Bitcoin Mined</a:t>
            </a:r>
            <a:endParaRPr lang="en-US" sz="1100" dirty="0"/>
          </a:p>
        </p:txBody>
      </p:sp>
      <p:sp>
        <p:nvSpPr>
          <p:cNvPr id="21" name="Text 19"/>
          <p:cNvSpPr/>
          <p:nvPr/>
        </p:nvSpPr>
        <p:spPr>
          <a:xfrm>
            <a:off x="1005840" y="3438144"/>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Only 1M BTC left to mine; BTC dominance steady at 57%</a:t>
            </a:r>
            <a:endParaRPr lang="en-US" sz="900" dirty="0"/>
          </a:p>
        </p:txBody>
      </p:sp>
      <p:sp>
        <p:nvSpPr>
          <p:cNvPr id="22" name="Shape 20"/>
          <p:cNvSpPr/>
          <p:nvPr/>
        </p:nvSpPr>
        <p:spPr>
          <a:xfrm>
            <a:off x="594360" y="3895344"/>
            <a:ext cx="274320" cy="274320"/>
          </a:xfrm>
          <a:prstGeom prst="ellipse">
            <a:avLst/>
          </a:prstGeom>
          <a:solidFill>
            <a:srgbClr val="C9A96E"/>
          </a:solidFill>
          <a:ln/>
        </p:spPr>
      </p:sp>
      <p:sp>
        <p:nvSpPr>
          <p:cNvPr id="23" name="Text 21"/>
          <p:cNvSpPr/>
          <p:nvPr/>
        </p:nvSpPr>
        <p:spPr>
          <a:xfrm>
            <a:off x="59436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2"/>
          <p:cNvSpPr/>
          <p:nvPr/>
        </p:nvSpPr>
        <p:spPr>
          <a:xfrm>
            <a:off x="1005840" y="3877056"/>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Record Token Unlocks in March 2026</a:t>
            </a:r>
            <a:endParaRPr lang="en-US" sz="1100" dirty="0"/>
          </a:p>
        </p:txBody>
      </p:sp>
      <p:sp>
        <p:nvSpPr>
          <p:cNvPr id="25" name="Text 23"/>
          <p:cNvSpPr/>
          <p:nvPr/>
        </p:nvSpPr>
        <p:spPr>
          <a:xfrm>
            <a:off x="1005840" y="4096512"/>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$6B+ monthly; LayerZero $55.5M, Lombard $32.4M this week</a:t>
            </a:r>
            <a:endParaRPr lang="en-US" sz="900" dirty="0"/>
          </a:p>
        </p:txBody>
      </p:sp>
      <p:sp>
        <p:nvSpPr>
          <p:cNvPr id="26" name="Shape 24"/>
          <p:cNvSpPr/>
          <p:nvPr/>
        </p:nvSpPr>
        <p:spPr>
          <a:xfrm>
            <a:off x="4663440" y="82296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7" name="Shape 25"/>
          <p:cNvSpPr/>
          <p:nvPr/>
        </p:nvSpPr>
        <p:spPr>
          <a:xfrm>
            <a:off x="4663440" y="822960"/>
            <a:ext cx="4114800" cy="320040"/>
          </a:xfrm>
          <a:prstGeom prst="rect">
            <a:avLst/>
          </a:prstGeom>
          <a:solidFill>
            <a:srgbClr val="1A2744"/>
          </a:solidFill>
          <a:ln/>
        </p:spPr>
      </p:sp>
      <p:sp>
        <p:nvSpPr>
          <p:cNvPr id="28" name="Text 26"/>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Layer 1 &amp; Layer 2</a:t>
            </a:r>
            <a:endParaRPr lang="en-US" sz="1100" dirty="0"/>
          </a:p>
        </p:txBody>
      </p:sp>
      <p:sp>
        <p:nvSpPr>
          <p:cNvPr id="29" name="Text 27"/>
          <p:cNvSpPr/>
          <p:nvPr/>
        </p:nvSpPr>
        <p:spPr>
          <a:xfrm>
            <a:off x="4846320" y="120700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Aster Chain privacy L1 mainnet genesis launch</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Linea upgrades to Type-1 zkEVM (100% EVM compat.)</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Base dominates L2: 46% TVL, &gt;60% fee revenue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Solana Alpenglow in final testing; RWA crosses $1.7B</a:t>
            </a:r>
            <a:endParaRPr lang="en-US" sz="1000" dirty="0"/>
          </a:p>
        </p:txBody>
      </p:sp>
      <p:sp>
        <p:nvSpPr>
          <p:cNvPr id="30" name="Shape 28"/>
          <p:cNvSpPr/>
          <p:nvPr/>
        </p:nvSpPr>
        <p:spPr>
          <a:xfrm>
            <a:off x="4663440" y="278892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1" name="Shape 29"/>
          <p:cNvSpPr/>
          <p:nvPr/>
        </p:nvSpPr>
        <p:spPr>
          <a:xfrm>
            <a:off x="4663440" y="2788920"/>
            <a:ext cx="4114800" cy="320040"/>
          </a:xfrm>
          <a:prstGeom prst="rect">
            <a:avLst/>
          </a:prstGeom>
          <a:solidFill>
            <a:srgbClr val="1A2744"/>
          </a:solidFill>
          <a:ln/>
        </p:spPr>
      </p:sp>
      <p:sp>
        <p:nvSpPr>
          <p:cNvPr id="32" name="Text 30"/>
          <p:cNvSpPr/>
          <p:nvPr/>
        </p:nvSpPr>
        <p:spPr>
          <a:xfrm>
            <a:off x="4846320" y="278892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DeFi &amp; Perp DEX</a:t>
            </a:r>
            <a:endParaRPr lang="en-US" sz="1100" dirty="0"/>
          </a:p>
        </p:txBody>
      </p:sp>
      <p:sp>
        <p:nvSpPr>
          <p:cNvPr id="33" name="Text 31"/>
          <p:cNvSpPr/>
          <p:nvPr/>
        </p:nvSpPr>
        <p:spPr>
          <a:xfrm>
            <a:off x="4846320" y="317296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Pendle TVL $4B, cumulative volume $10B milestone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DEX perp market share hits 20% globally</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Hyperliquid oil $1.77B/day; S&amp;P 500 officially licensed</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Aave v4 + Lido v3 major upgrades go live</a:t>
            </a:r>
            <a:endParaRPr lang="en-US" sz="1000" dirty="0"/>
          </a:p>
        </p:txBody>
      </p:sp>
      <p:sp>
        <p:nvSpPr>
          <p:cNvPr id="34" name="Shape 32"/>
          <p:cNvSpPr/>
          <p:nvPr/>
        </p:nvSpPr>
        <p:spPr>
          <a:xfrm>
            <a:off x="0" y="4800600"/>
            <a:ext cx="9144000" cy="342900"/>
          </a:xfrm>
          <a:prstGeom prst="rect">
            <a:avLst/>
          </a:prstGeom>
          <a:solidFill>
            <a:srgbClr val="1A2744"/>
          </a:solidFill>
          <a:ln/>
        </p:spPr>
      </p:sp>
      <p:sp>
        <p:nvSpPr>
          <p:cNvPr id="35" name="Text 33"/>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Digest | 2026.03.16–03.22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Regulation &amp; Fundraising</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54864" cy="3749040"/>
          </a:xfrm>
          <a:prstGeom prst="rect">
            <a:avLst/>
          </a:prstGeom>
          <a:solidFill>
            <a:srgbClr val="C9A96E"/>
          </a:solidFill>
          <a:ln/>
        </p:spPr>
      </p:sp>
      <p:sp>
        <p:nvSpPr>
          <p:cNvPr id="6" name="Text 4"/>
          <p:cNvSpPr/>
          <p:nvPr/>
        </p:nvSpPr>
        <p:spPr>
          <a:xfrm>
            <a:off x="64008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Regulation &amp; Policy</a:t>
            </a:r>
            <a:endParaRPr lang="en-US" sz="1400" dirty="0"/>
          </a:p>
        </p:txBody>
      </p:sp>
      <p:sp>
        <p:nvSpPr>
          <p:cNvPr id="7" name="Text 5"/>
          <p:cNvSpPr/>
          <p:nvPr/>
        </p:nvSpPr>
        <p:spPr>
          <a:xfrm>
            <a:off x="640080" y="132588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Joint Guidance</a:t>
            </a:r>
            <a:endParaRPr lang="en-US" sz="1100" dirty="0"/>
          </a:p>
        </p:txBody>
      </p:sp>
      <p:sp>
        <p:nvSpPr>
          <p:cNvPr id="8" name="Text 6"/>
          <p:cNvSpPr/>
          <p:nvPr/>
        </p:nvSpPr>
        <p:spPr>
          <a:xfrm>
            <a:off x="640080" y="153619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68-page taxonomy: 18 tokens as digital commodities</a:t>
            </a:r>
            <a:endParaRPr lang="en-US" sz="1000" dirty="0"/>
          </a:p>
        </p:txBody>
      </p:sp>
      <p:sp>
        <p:nvSpPr>
          <p:cNvPr id="9" name="Text 7"/>
          <p:cNvSpPr/>
          <p:nvPr/>
        </p:nvSpPr>
        <p:spPr>
          <a:xfrm>
            <a:off x="640080" y="192024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 Startup Safe Harbor</a:t>
            </a:r>
            <a:endParaRPr lang="en-US" sz="1100" dirty="0"/>
          </a:p>
        </p:txBody>
      </p:sp>
      <p:sp>
        <p:nvSpPr>
          <p:cNvPr id="10" name="Text 8"/>
          <p:cNvSpPr/>
          <p:nvPr/>
        </p:nvSpPr>
        <p:spPr>
          <a:xfrm>
            <a:off x="640080" y="213055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Grace period for crypto projects to raise and build</a:t>
            </a:r>
            <a:endParaRPr lang="en-US" sz="1000" dirty="0"/>
          </a:p>
        </p:txBody>
      </p:sp>
      <p:sp>
        <p:nvSpPr>
          <p:cNvPr id="11" name="Text 9"/>
          <p:cNvSpPr/>
          <p:nvPr/>
        </p:nvSpPr>
        <p:spPr>
          <a:xfrm>
            <a:off x="640080" y="251460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CFTC Self-Custody No-Action</a:t>
            </a:r>
            <a:endParaRPr lang="en-US" sz="1100" dirty="0"/>
          </a:p>
        </p:txBody>
      </p:sp>
      <p:sp>
        <p:nvSpPr>
          <p:cNvPr id="12" name="Text 10"/>
          <p:cNvSpPr/>
          <p:nvPr/>
        </p:nvSpPr>
        <p:spPr>
          <a:xfrm>
            <a:off x="640080" y="272491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Non-custodial wallets exempt from intermediary rules</a:t>
            </a:r>
            <a:endParaRPr lang="en-US" sz="1000" dirty="0"/>
          </a:p>
        </p:txBody>
      </p:sp>
      <p:sp>
        <p:nvSpPr>
          <p:cNvPr id="13" name="Text 11"/>
          <p:cNvSpPr/>
          <p:nvPr/>
        </p:nvSpPr>
        <p:spPr>
          <a:xfrm>
            <a:off x="640080" y="310896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Arizona Charges Kalshi</a:t>
            </a:r>
            <a:endParaRPr lang="en-US" sz="1100" dirty="0"/>
          </a:p>
        </p:txBody>
      </p:sp>
      <p:sp>
        <p:nvSpPr>
          <p:cNvPr id="14" name="Text 12"/>
          <p:cNvSpPr/>
          <p:nvPr/>
        </p:nvSpPr>
        <p:spPr>
          <a:xfrm>
            <a:off x="640080" y="331927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20 criminal counts; first state-level criminal enforcement</a:t>
            </a:r>
            <a:endParaRPr lang="en-US" sz="1000" dirty="0"/>
          </a:p>
        </p:txBody>
      </p:sp>
      <p:sp>
        <p:nvSpPr>
          <p:cNvPr id="15" name="Text 13"/>
          <p:cNvSpPr/>
          <p:nvPr/>
        </p:nvSpPr>
        <p:spPr>
          <a:xfrm>
            <a:off x="640080" y="370332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Nevada Halts Kalshi Ops</a:t>
            </a:r>
            <a:endParaRPr lang="en-US" sz="1100" dirty="0"/>
          </a:p>
        </p:txBody>
      </p:sp>
      <p:sp>
        <p:nvSpPr>
          <p:cNvPr id="16" name="Text 14"/>
          <p:cNvSpPr/>
          <p:nvPr/>
        </p:nvSpPr>
        <p:spPr>
          <a:xfrm>
            <a:off x="640080" y="391363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14-day restraining order; federal/state jurisdictional war</a:t>
            </a:r>
            <a:endParaRPr lang="en-US" sz="1000" dirty="0"/>
          </a:p>
        </p:txBody>
      </p:sp>
      <p:sp>
        <p:nvSpPr>
          <p:cNvPr id="17" name="Shape 15"/>
          <p:cNvSpPr/>
          <p:nvPr/>
        </p:nvSpPr>
        <p:spPr>
          <a:xfrm>
            <a:off x="466344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663440" y="822960"/>
            <a:ext cx="54864" cy="3749040"/>
          </a:xfrm>
          <a:prstGeom prst="rect">
            <a:avLst/>
          </a:prstGeom>
          <a:solidFill>
            <a:srgbClr val="C9A96E"/>
          </a:solidFill>
          <a:ln/>
        </p:spPr>
      </p:sp>
      <p:sp>
        <p:nvSpPr>
          <p:cNvPr id="19" name="Text 17"/>
          <p:cNvSpPr/>
          <p:nvPr/>
        </p:nvSpPr>
        <p:spPr>
          <a:xfrm>
            <a:off x="493776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Fundraising &amp; M&amp;A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749040" cy="914400"/>
        </p:xfrm>
        <a:graphic>
          <a:graphicData uri="http://schemas.openxmlformats.org/drawingml/2006/table">
            <a:tbl>
              <a:tblPr/>
              <a:tblGrid>
                <a:gridCol w="1188720"/>
                <a:gridCol w="731520"/>
                <a:gridCol w="182880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Project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Notes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Kalshi</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$1B</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Coatue-led; $22B valuation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Cryptio</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$45M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Series B; enterprise accounting</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MetaComp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$35M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Alibaba; Asia-MENA payments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GSR x Architech</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M&amp;A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Tokenomics &amp; liquidity advisory</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Backpack ($BP)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TGE 3/23</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Staked tokens convertible to equity</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1" name="Shape 18"/>
          <p:cNvSpPr/>
          <p:nvPr/>
        </p:nvSpPr>
        <p:spPr>
          <a:xfrm>
            <a:off x="4846320" y="3108960"/>
            <a:ext cx="3749040" cy="640080"/>
          </a:xfrm>
          <a:prstGeom prst="rect">
            <a:avLst/>
          </a:prstGeom>
          <a:solidFill>
            <a:srgbClr val="FFF8E7"/>
          </a:solidFill>
          <a:ln/>
          <a:effectLst>
            <a:outerShdw sx="100000" sy="100000" kx="0" ky="0" algn="bl" rotWithShape="0" blurRad="50800" dist="25400" dir="8100000">
              <a:srgbClr val="000000">
                <a:alpha val="12000"/>
              </a:srgbClr>
            </a:outerShdw>
          </a:effectLst>
        </p:spPr>
      </p:sp>
      <p:sp>
        <p:nvSpPr>
          <p:cNvPr id="22" name="Shape 19"/>
          <p:cNvSpPr/>
          <p:nvPr/>
        </p:nvSpPr>
        <p:spPr>
          <a:xfrm>
            <a:off x="4846320" y="3108960"/>
            <a:ext cx="54864" cy="640080"/>
          </a:xfrm>
          <a:prstGeom prst="rect">
            <a:avLst/>
          </a:prstGeom>
          <a:solidFill>
            <a:srgbClr val="C9A96E"/>
          </a:solidFill>
          <a:ln/>
        </p:spPr>
      </p:sp>
      <p:sp>
        <p:nvSpPr>
          <p:cNvPr id="23" name="Text 20"/>
          <p:cNvSpPr/>
          <p:nvPr/>
        </p:nvSpPr>
        <p:spPr>
          <a:xfrm>
            <a:off x="5074920" y="3154680"/>
            <a:ext cx="3383280" cy="54864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Watch: </a:t>
            </a:r>
            <a:pPr indent="0" marL="0">
              <a:buNone/>
            </a:pPr>
            <a:r>
              <a:rPr lang="en-US" sz="1000" dirty="0">
                <a:solidFill>
                  <a:srgbClr val="2D3748"/>
                </a:solidFill>
                <a:latin typeface="Arial" pitchFamily="34" charset="0"/>
                <a:ea typeface="Arial" pitchFamily="34" charset="-122"/>
                <a:cs typeface="Arial" pitchFamily="34" charset="-120"/>
              </a:rPr>
              <a:t>Kalshi's $1B raise signals massive institutional conviction in prediction markets, but multi-state regulatory opposition highlights compliance risk</a:t>
            </a:r>
            <a:endParaRPr lang="en-US" sz="1000" dirty="0"/>
          </a:p>
        </p:txBody>
      </p:sp>
      <p:sp>
        <p:nvSpPr>
          <p:cNvPr id="24" name="Shape 21"/>
          <p:cNvSpPr/>
          <p:nvPr/>
        </p:nvSpPr>
        <p:spPr>
          <a:xfrm>
            <a:off x="0" y="4800600"/>
            <a:ext cx="9144000" cy="342900"/>
          </a:xfrm>
          <a:prstGeom prst="rect">
            <a:avLst/>
          </a:prstGeom>
          <a:solidFill>
            <a:srgbClr val="1A2744"/>
          </a:solidFill>
          <a:ln/>
        </p:spPr>
      </p:sp>
      <p:sp>
        <p:nvSpPr>
          <p:cNvPr id="25" name="Text 2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Digest | 2026.03.16–03.22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Security &amp; Hot Sectors</a:t>
            </a:r>
            <a:endParaRPr lang="en-US" sz="2000" dirty="0"/>
          </a:p>
        </p:txBody>
      </p:sp>
      <p:sp>
        <p:nvSpPr>
          <p:cNvPr id="4" name="Shape 2"/>
          <p:cNvSpPr/>
          <p:nvPr/>
        </p:nvSpPr>
        <p:spPr>
          <a:xfrm>
            <a:off x="365760" y="822960"/>
            <a:ext cx="4114800" cy="2148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4114800" cy="320040"/>
          </a:xfrm>
          <a:prstGeom prst="rect">
            <a:avLst/>
          </a:prstGeom>
          <a:solidFill>
            <a:srgbClr val="C53030"/>
          </a:solidFill>
          <a:ln/>
        </p:spPr>
      </p:sp>
      <p:sp>
        <p:nvSpPr>
          <p:cNvPr id="6" name="Text 4"/>
          <p:cNvSpPr/>
          <p:nvPr/>
        </p:nvSpPr>
        <p:spPr>
          <a:xfrm>
            <a:off x="548640" y="822960"/>
            <a:ext cx="384048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Security Incidents  |  Weekly Loss: ~$31.7M</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840480" cy="914400"/>
        </p:xfrm>
        <a:graphic>
          <a:graphicData uri="http://schemas.openxmlformats.org/drawingml/2006/table">
            <a:tbl>
              <a:tblPr/>
              <a:tblGrid>
                <a:gridCol w="1371600"/>
                <a:gridCol w="822960"/>
                <a:gridCol w="1645920"/>
              </a:tblGrid>
              <a:tr h="256032">
                <a:tc>
                  <a:txBody>
                    <a:bodyPr/>
                    <a:lstStyle/>
                    <a:p>
                      <a:pPr indent="0" marL="0">
                        <a:buNone/>
                      </a:pPr>
                      <a:r>
                        <a:rPr lang="en-US" sz="900" b="1" dirty="0">
                          <a:solidFill>
                            <a:srgbClr val="2D3748"/>
                          </a:solidFill>
                          <a:latin typeface="Arial" pitchFamily="34" charset="0"/>
                          <a:ea typeface="Arial" pitchFamily="34" charset="-122"/>
                          <a:cs typeface="Arial" pitchFamily="34" charset="-120"/>
                        </a:rPr>
                        <a:t>Incident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algn="r" indent="0" marL="0">
                        <a:buNone/>
                      </a:pPr>
                      <a:r>
                        <a:rPr lang="en-US" sz="900" b="1" dirty="0">
                          <a:solidFill>
                            <a:srgbClr val="2D3748"/>
                          </a:solidFill>
                          <a:latin typeface="Arial" pitchFamily="34" charset="0"/>
                          <a:ea typeface="Arial" pitchFamily="34" charset="-122"/>
                          <a:cs typeface="Arial" pitchFamily="34" charset="-120"/>
                        </a:rPr>
                        <a:t>Loss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indent="0" marL="0">
                        <a:buNone/>
                      </a:pPr>
                      <a:r>
                        <a:rPr lang="en-US" sz="900" b="1" dirty="0">
                          <a:solidFill>
                            <a:srgbClr val="2D3748"/>
                          </a:solidFill>
                          <a:latin typeface="Arial" pitchFamily="34" charset="0"/>
                          <a:ea typeface="Arial" pitchFamily="34" charset="-122"/>
                          <a:cs typeface="Arial" pitchFamily="34" charset="-120"/>
                        </a:rPr>
                        <a:t>Method</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Resolv Labs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$25M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USR minting exploit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Venus Protocol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$3.7M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Price manipulation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Solv Protocol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$2.7M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Targeted breach</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Bitrefill (Lazarus)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N/A</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C53030"/>
                          </a:solidFill>
                          <a:latin typeface="Arial" pitchFamily="34" charset="0"/>
                          <a:ea typeface="Arial" pitchFamily="34" charset="-122"/>
                          <a:cs typeface="Arial" pitchFamily="34" charset="-120"/>
                        </a:rPr>
                        <a:t>NK state-sponsored APT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8" name="Shape 5"/>
          <p:cNvSpPr/>
          <p:nvPr/>
        </p:nvSpPr>
        <p:spPr>
          <a:xfrm>
            <a:off x="365760" y="3200400"/>
            <a:ext cx="41148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6"/>
          <p:cNvSpPr/>
          <p:nvPr/>
        </p:nvSpPr>
        <p:spPr>
          <a:xfrm>
            <a:off x="365760" y="3200400"/>
            <a:ext cx="4114800" cy="320040"/>
          </a:xfrm>
          <a:prstGeom prst="rect">
            <a:avLst/>
          </a:prstGeom>
          <a:solidFill>
            <a:srgbClr val="1A2744"/>
          </a:solidFill>
          <a:ln/>
        </p:spPr>
      </p:sp>
      <p:sp>
        <p:nvSpPr>
          <p:cNvPr id="10" name="Text 7"/>
          <p:cNvSpPr/>
          <p:nvPr/>
        </p:nvSpPr>
        <p:spPr>
          <a:xfrm>
            <a:off x="548640" y="320040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Stablecoins</a:t>
            </a:r>
            <a:endParaRPr lang="en-US" sz="1100" dirty="0"/>
          </a:p>
        </p:txBody>
      </p:sp>
      <p:sp>
        <p:nvSpPr>
          <p:cNvPr id="11" name="Text 8"/>
          <p:cNvSpPr/>
          <p:nvPr/>
        </p:nvSpPr>
        <p:spPr>
          <a:xfrm>
            <a:off x="548640" y="3611880"/>
            <a:ext cx="3749040" cy="82296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USDC surpasses USDT in YTD transfer volume ($2.2T vs $1.3T)</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Stablecoin market cap hits $316B all-time high</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Ethena sUSDe yield compresses to 3.49-3.72% APY</a:t>
            </a:r>
            <a:endParaRPr lang="en-US" sz="1000" dirty="0"/>
          </a:p>
        </p:txBody>
      </p:sp>
      <p:sp>
        <p:nvSpPr>
          <p:cNvPr id="12" name="Shape 9"/>
          <p:cNvSpPr/>
          <p:nvPr/>
        </p:nvSpPr>
        <p:spPr>
          <a:xfrm>
            <a:off x="4663440" y="82296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0"/>
          <p:cNvSpPr/>
          <p:nvPr/>
        </p:nvSpPr>
        <p:spPr>
          <a:xfrm>
            <a:off x="4663440" y="822960"/>
            <a:ext cx="4114800" cy="320040"/>
          </a:xfrm>
          <a:prstGeom prst="rect">
            <a:avLst/>
          </a:prstGeom>
          <a:solidFill>
            <a:srgbClr val="1A2744"/>
          </a:solidFill>
          <a:ln/>
        </p:spPr>
      </p:sp>
      <p:sp>
        <p:nvSpPr>
          <p:cNvPr id="14" name="Text 11"/>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AI × Crypto</a:t>
            </a:r>
            <a:endParaRPr lang="en-US" sz="1100" dirty="0"/>
          </a:p>
        </p:txBody>
      </p:sp>
      <p:sp>
        <p:nvSpPr>
          <p:cNvPr id="15" name="Text 12"/>
          <p:cNvSpPr/>
          <p:nvPr/>
        </p:nvSpPr>
        <p:spPr>
          <a:xfrm>
            <a:off x="4846320" y="123444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Bittensor completes 72B-param decentralized LLM; TAO +56%</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Grayscale files TAO spot ETP (NYSE Arca)</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Akash BME hard fork: deflationary AKT + WASM; +20%</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MoonPay+Ledger launch first hardware-signed AI agent</a:t>
            </a:r>
            <a:endParaRPr lang="en-US" sz="1000" dirty="0"/>
          </a:p>
        </p:txBody>
      </p:sp>
      <p:sp>
        <p:nvSpPr>
          <p:cNvPr id="16" name="Shape 13"/>
          <p:cNvSpPr/>
          <p:nvPr/>
        </p:nvSpPr>
        <p:spPr>
          <a:xfrm>
            <a:off x="4663440" y="2697480"/>
            <a:ext cx="4114800" cy="18745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4"/>
          <p:cNvSpPr/>
          <p:nvPr/>
        </p:nvSpPr>
        <p:spPr>
          <a:xfrm>
            <a:off x="4663440" y="2697480"/>
            <a:ext cx="4114800" cy="320040"/>
          </a:xfrm>
          <a:prstGeom prst="rect">
            <a:avLst/>
          </a:prstGeom>
          <a:solidFill>
            <a:srgbClr val="1A2744"/>
          </a:solidFill>
          <a:ln/>
        </p:spPr>
      </p:sp>
      <p:sp>
        <p:nvSpPr>
          <p:cNvPr id="18" name="Text 15"/>
          <p:cNvSpPr/>
          <p:nvPr/>
        </p:nvSpPr>
        <p:spPr>
          <a:xfrm>
            <a:off x="4846320" y="269748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Prediction Markets</a:t>
            </a:r>
            <a:endParaRPr lang="en-US" sz="1100" dirty="0"/>
          </a:p>
        </p:txBody>
      </p:sp>
      <p:sp>
        <p:nvSpPr>
          <p:cNvPr id="19" name="Text 16"/>
          <p:cNvSpPr/>
          <p:nvPr/>
        </p:nvSpPr>
        <p:spPr>
          <a:xfrm>
            <a:off x="4846320" y="3108960"/>
            <a:ext cx="3749040" cy="13716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Polymarket signs $150M exclusive MLB partnership</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Kalshi raises $1B at $22B valuation</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Arizona criminal charges + Nevada restraining order</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Argentina blocks Polymarket nationwide</a:t>
            </a:r>
            <a:endParaRPr lang="en-US" sz="1000" dirty="0"/>
          </a:p>
        </p:txBody>
      </p:sp>
      <p:sp>
        <p:nvSpPr>
          <p:cNvPr id="20" name="Shape 17"/>
          <p:cNvSpPr/>
          <p:nvPr/>
        </p:nvSpPr>
        <p:spPr>
          <a:xfrm>
            <a:off x="0" y="4800600"/>
            <a:ext cx="9144000" cy="342900"/>
          </a:xfrm>
          <a:prstGeom prst="rect">
            <a:avLst/>
          </a:prstGeom>
          <a:solidFill>
            <a:srgbClr val="1A2744"/>
          </a:solidFill>
          <a:ln/>
        </p:spPr>
      </p:sp>
      <p:sp>
        <p:nvSpPr>
          <p:cNvPr id="21" name="Text 18"/>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Digest | 2026.03.16–03.22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Upcoming Catalysts &amp; Outlook</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822960"/>
                <a:gridCol w="2926080"/>
                <a:gridCol w="1097280"/>
                <a:gridCol w="3383280"/>
              </a:tblGrid>
              <a:tr h="29260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Event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Asset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Expected Impact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3/23</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Backpack ($BP) TGE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BP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Staked tokens convertible to equity</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3/23</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Akash BME Hard Fork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AKT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Deflationary tokenomics + WASM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3/24-26</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Digital Asset Summit (NYC)</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RWA</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Institutional adoption signal</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3/30-4/2</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EthCC 9 (Cannes)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ETH</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Largest European ETH conference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4/3</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CLARITY Act Signing?</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All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Legal commodity/security definition milestone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Apr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Uniswap Fee Switch</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UNI</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Fee revenue on 8 L2 chains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Early Apr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Polkadot 2.1.1 Upgrade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DOT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Dynamic Allocation Pool; end Treasury burns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5" name="Shape 2"/>
          <p:cNvSpPr/>
          <p:nvPr/>
        </p:nvSpPr>
        <p:spPr>
          <a:xfrm>
            <a:off x="457200" y="3337560"/>
            <a:ext cx="8229600" cy="1188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3"/>
          <p:cNvSpPr/>
          <p:nvPr/>
        </p:nvSpPr>
        <p:spPr>
          <a:xfrm>
            <a:off x="457200" y="3337560"/>
            <a:ext cx="54864" cy="1188720"/>
          </a:xfrm>
          <a:prstGeom prst="rect">
            <a:avLst/>
          </a:prstGeom>
          <a:solidFill>
            <a:srgbClr val="C9A96E"/>
          </a:solidFill>
          <a:ln/>
        </p:spPr>
      </p:sp>
      <p:sp>
        <p:nvSpPr>
          <p:cNvPr id="7" name="Text 4"/>
          <p:cNvSpPr/>
          <p:nvPr/>
        </p:nvSpPr>
        <p:spPr>
          <a:xfrm>
            <a:off x="731520" y="3383280"/>
            <a:ext cx="731520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Weekly Summary</a:t>
            </a:r>
            <a:endParaRPr lang="en-US" sz="1300" dirty="0"/>
          </a:p>
        </p:txBody>
      </p:sp>
      <p:sp>
        <p:nvSpPr>
          <p:cNvPr id="8" name="Text 5"/>
          <p:cNvSpPr/>
          <p:nvPr/>
        </p:nvSpPr>
        <p:spPr>
          <a:xfrm>
            <a:off x="731520" y="3657600"/>
            <a:ext cx="7772400" cy="777240"/>
          </a:xfrm>
          <a:prstGeom prst="rect">
            <a:avLst/>
          </a:prstGeom>
          <a:noFill/>
          <a:ln/>
        </p:spPr>
        <p:txBody>
          <a:bodyPr wrap="square" lIns="0" tIns="0" rIns="0" bIns="0" rtlCol="0" anchor="ctr"/>
          <a:lstStyle/>
          <a:p>
            <a:pPr indent="0" marL="0">
              <a:buNone/>
            </a:pPr>
            <a:r>
              <a:rPr lang="en-US" sz="1000" dirty="0">
                <a:solidFill>
                  <a:srgbClr val="2D3748"/>
                </a:solidFill>
                <a:latin typeface="Arial" pitchFamily="34" charset="0"/>
                <a:ea typeface="Arial" pitchFamily="34" charset="-122"/>
                <a:cs typeface="Arial" pitchFamily="34" charset="-120"/>
              </a:rPr>
              <a:t>Market sentiment crashed to Extreme Fear (FGI=10) as BTC flash-crashed from $76K to $68.8K. However, landmark SEC/CFTC regulatory guidance provides an extremely positive medium-term foundation.</a:t>
            </a:r>
            <a:endParaRPr lang="en-US" sz="1000" dirty="0"/>
          </a:p>
          <a:p>
            <a:pPr indent="0" marL="0">
              <a:buNone/>
            </a:pPr>
            <a:r>
              <a:rPr lang="en-US" sz="1000" b="1" dirty="0">
                <a:solidFill>
                  <a:srgbClr val="1A2744"/>
                </a:solidFill>
                <a:latin typeface="Arial" pitchFamily="34" charset="0"/>
                <a:ea typeface="Arial" pitchFamily="34" charset="-122"/>
                <a:cs typeface="Arial" pitchFamily="34" charset="-120"/>
              </a:rPr>
              <a:t>Portfolio Watch: </a:t>
            </a:r>
            <a:pPr indent="0" marL="0">
              <a:buNone/>
            </a:pPr>
            <a:r>
              <a:rPr lang="en-US" sz="1000" dirty="0">
                <a:solidFill>
                  <a:srgbClr val="2D3748"/>
                </a:solidFill>
                <a:latin typeface="Arial" pitchFamily="34" charset="0"/>
                <a:ea typeface="Arial" pitchFamily="34" charset="-122"/>
                <a:cs typeface="Arial" pitchFamily="34" charset="-120"/>
              </a:rPr>
              <a:t>Backpack TGE (3/23), HYPE ETF filing progress, Pendle $4B TVL milestone, ENA yield compression risk, Middle East geopolitical developments.</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Digest | 2026.03.16–03.22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Weekly Digest 2026.03.16–03.22</dc:title>
  <dc:subject>PptxGenJS Presentation</dc:subject>
  <dc:creator>42</dc:creator>
  <cp:lastModifiedBy>42</cp:lastModifiedBy>
  <cp:revision>1</cp:revision>
  <dcterms:created xsi:type="dcterms:W3CDTF">2026-03-22T17:20:52Z</dcterms:created>
  <dcterms:modified xsi:type="dcterms:W3CDTF">2026-03-22T17:20:52Z</dcterms:modified>
</cp:coreProperties>
</file>