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weekly crypto market report covering March 30 – April 5, 2026. This report is prepared for LP distribution and covers market performance, key developments, regulatory updates, security incidents, and upcoming catalysts. This week was dominated by the $285M Drift Protocol exploit (the largest single hack of 2026), significant US regulatory progress (GENIUS Act implementation rules, CLARITY Act compromise), and Aave V4 mainnet launch. The Fear &amp; Greed Index sits at 12 — Extreme Fear — reflecting deep market pessimism despite improving fundamentals. All price data sourced from CoinGecko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BTC traded in a tight $65,000–$70,000 range, briefly testing $69,000 resistance on Thursday before settling at $67,197 (+1.1% WoW). ETH outperformed slightly at +3.0%, oscillating between $2,020–$2,140, though spot ETH ETFs saw $42M in net outflows indicating continued institutional caution.
Alt performance was broadly negative: HYPE -9.0%, ENA -14.4%, PENDLE -12.4%. The yield token sector (PENDLE, ENA) continues to face headwinds as base staking yields compress. DYDX was the sole positive outlier at +7.3%, driven by a technical bounce rather than fundamental improvement.
Fear &amp; Greed Index at 12 marks one of the lowest readings since the FTX collapse era. Historically, extreme fear readings have been contrarian buy signals, but the current macro backdrop (Fed holding rates high, geopolitical tensions from Iran-Israel conflict) provides legitimate reasons for caution.
The Drift Protocol $285M exploit was the week's black swan, directly causing SOL to underperform as the worst major asset. Network monthly active addresses dropped 11%, and the hack raised fundamental questions about DeFi security models — specifically, the vulnerability of oracle-dependent protocols to sophisticated social engineering + oracle manipulation attack vectors.
Spot BTC ETF flows were barely positive (+$22M), suggesting institutional conviction remains low despite BTC holding its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story analysis:
1. Drift Protocol $285M exploit: Executed by North Korea's Lazarus Group after a 6-month social engineering campaign. Attackers posed as a quant trading firm to trick multisig signers into pre-signing transactions, then created a fictitious token and manipulated oracle prices to use it as collateral. This exposes a critical vulnerability in the DeFi security model — on-chain code audits alone are insufficient; off-chain operational security (personnel, key management, multisig processes) is equally critical.
2. GENIUS Act implementation rules represent the first comprehensive US stablecoin regulatory framework. The 12-month operational expense backstop requirement will price out smaller issuers while being manageable for Tether and Circle.
3. CLARITY Act yield compromise is a major positive — banning passive hold yields but allowing activity-based rewards preserves DeFi protocol revenue models. This is better than the outright ban that crashed Circle stock 20% last week.
4. Aave V4's modular architecture is a landmark moment for DeFi institutionalization. BGD Labs exit highlights structural governance tensions in DAOs.
5. Hyperliquid entering global top-10 derivatives venues ($492.7B Q1 volume) is a thesis-confirming milestone for on-chain perpetuals. The platform now competes directly with centralized exchanges. Grayscale's HYPE spot ETF S-1 filing accelerates institutional recognition.
Base continues to dominate L2s with 50% DEX volume share. The "Stablechains" narrative (purpose-built chains for stablecoin settlement) is a significant new development worth monitoring for portfolio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This week represents a watershed moment for US crypto regulatory clarity. Three major developments occurred simultaneously:
1. GENIUS Act implementation rules from Treasury establish the first comprehensive federal stablecoin framework. The 1:1 high-quality liquid asset backing requirement and 12-month operational expense backstop are strict but reasonable for major issuers. Smaller issuers (sub-$10B circulation) will be regulated at state level.
2. CLARITY Act yield compromise resolves the most contentious issue that crashed Circle stock 20% last week. The Tillis-Alsobrooks language bans passive hold yields but allows activity-based rewards — this is structurally bullish for DeFi protocols that offer yield through active participation rather than passive holding.
3. CFTC's new enforcement director explicitly stating they will no longer use litigation to set policy marks the formal end of "regulation by enforcement" in the US. Combined with Kraken securing a Fed master account (first crypto-native bank to do so), the institutional infrastructure for crypto is rapidly maturing.
Charles Schwab opening a BTC/ETH trading waitlist signals that mainstream retail brokerage crypto access is imminent.
Fundraising: ZeroStack's $107M commitment to the 0G ecosystem and Franklin Templeton's acquisition of 250 Digital reflect TradFi's accelerating push into crypto infrastructure. MicroStrategy accumulated 44,377 BTC in March (94% of all corporate net additions), while miners continue liquidating BTC holdings to fund AI/HPC transitions — a structural supply-side shift worth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This was the worst week for crypto security losses in 2026, with total damages exceeding $310M. The Drift Protocol $285M hack is the year's largest single incident and the most sophisticated attack we've seen — combining 6-month social engineering infiltration, oracle price manipulation via a fictitious token, and multisig compromise. Key lesson: DeFi security cannot rely solely on smart contract audits; operational security (personnel vetting, key management, multisig governance) is equally critical.
The Resolv "shadow contagion" is equally concerning from a systemic risk perspective. A single stablecoin de-peg cascaded through Morpho Blue, Euler, and Fluid via collateral chains, demonstrating that DeFi composability risk remains significantly underpriced.
AI x Crypto was the standout sector, with AI tokens rallying 35–73% against an Extreme Fear backdrop. TAO's 73% surge reflects enterprise adoption of decentralized ML subnets. ZeroStack's $107M commitment to 0G represents TradFi institutional capital flowing into decentralized compute — a structural validation of the DePIN thesis. Render's NVIDIA Blackwell integration positions it as the go-to network for high-performance AI inference.
Prediction markets hit $25.7B monthly volume in March. The CFTC suing 3 states over jurisdiction is unprecedented and will define the regulatory landscape for event trading. Polymarket's $9B valuation (ICE $2B investment) signals deep institutional conviction. The platform's expansion into sports (MLB $150M deal, LaLiga) diversifies beyond political/geopolitical markets.
Stablecoins: March transaction volume of $7.5T surpassing the US ACH network is a historic milestone — stablecoins have evolved from crypto-native tools to mainstream payment infrastructure. The USDC/USDT supply divergence (USDC +$2B vs USDT -$3B in Q1) reflects a market preference shift toward transparency and regulatory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 analysis for the next two weeks:
1. HYPE Token Unlock (4/6) — ~2.65% of circulating supply. Directly relevant to our portfolio positioning. In the current Extreme Fear environment, unlock pressure could be amplified. However, Hyperliquid entering global top-10 derivatives venues and Grayscale's ETF S-1 filing provide positive narrative offsets. Monitor sell pressure vs. holder conviction.
2. CLARITY Act Committee Markup (mid-April) — The final shape of the stablecoin yield framework will have deep implications for Circle, Coinbase, and the broader DeFi ecosystem. The current compromise (ban passive yields, allow activity-based rewards) is constructive, but the committee process could introduce amendments. Watch for any changes to the Tillis-Alsobrooks language.
3. 91 ETF Applications Follow-up — The SEC's March 27 deadline for 91 crypto ETF filings (including SOL, XRP, LTC, DOGE spot ETFs) means approval/rejection dynamics will play out over the coming weeks. Any positive developments would be structurally transformative for altcoin markets.
Overall assessment: The market sits at FGI=12 — deep Extreme Fear — but fundamental signals are improving rapidly. Regulatory clarity is accelerating (GENIUS Act, CLARITY Act, CFTC policy pivot, Schwab crypto access). TradFi institutional entry continues (Franklin Templeton, Schwab, ZeroStack). DeFi protocols are maturing (Aave V4 institutionalization). AI x Crypto is decoupling from broader market weakness.
The disconnect between deep pessimism in sentiment and accelerating fundamental improvement is historically a late-cycle fear signature. Maintain current positioning; the HYPE unlock on 4/6 and Drift hack fallout are the primary near-term risks. Consider opportunistic additions if sentiment remains depressed while regulatory catalysts deliver positively.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Market Weekly</a:t>
            </a:r>
            <a:endParaRPr lang="en-US" sz="4200" dirty="0"/>
          </a:p>
        </p:txBody>
      </p:sp>
      <p:sp>
        <p:nvSpPr>
          <p:cNvPr id="4" name="Text 2"/>
          <p:cNvSpPr/>
          <p:nvPr/>
        </p:nvSpPr>
        <p:spPr>
          <a:xfrm>
            <a:off x="731520" y="2468880"/>
            <a:ext cx="7315200" cy="45720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March 30 – April 5, 2026</a:t>
            </a:r>
            <a:endParaRPr lang="en-US" sz="2000" dirty="0"/>
          </a:p>
        </p:txBody>
      </p:sp>
      <p:sp>
        <p:nvSpPr>
          <p:cNvPr id="5" name="Text 3"/>
          <p:cNvSpPr/>
          <p:nvPr/>
        </p:nvSpPr>
        <p:spPr>
          <a:xfrm>
            <a:off x="731520" y="3108960"/>
            <a:ext cx="7315200" cy="36576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CoinGlass · DefiLlama</a:t>
            </a:r>
            <a:endParaRPr lang="en-US" sz="1100" dirty="0"/>
          </a:p>
        </p:txBody>
      </p:sp>
      <p:sp>
        <p:nvSpPr>
          <p:cNvPr id="6" name="Shape 4"/>
          <p:cNvSpPr/>
          <p:nvPr/>
        </p:nvSpPr>
        <p:spPr>
          <a:xfrm>
            <a:off x="0" y="4800600"/>
            <a:ext cx="9144000" cy="342900"/>
          </a:xfrm>
          <a:prstGeom prst="rect">
            <a:avLst/>
          </a:prstGeom>
          <a:solidFill>
            <a:srgbClr val="C9A96E"/>
          </a:solidFill>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p:spPr>
      </p:sp>
      <p:sp>
        <p:nvSpPr>
          <p:cNvPr id="6" name="Text 4"/>
          <p:cNvSpPr/>
          <p:nvPr/>
        </p:nvSpPr>
        <p:spPr>
          <a:xfrm>
            <a:off x="77724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7724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$67,197</a:t>
            </a:r>
            <a:endParaRPr lang="en-US" sz="2800" dirty="0"/>
          </a:p>
        </p:txBody>
      </p:sp>
      <p:sp>
        <p:nvSpPr>
          <p:cNvPr id="8" name="Text 6"/>
          <p:cNvSpPr/>
          <p:nvPr/>
        </p:nvSpPr>
        <p:spPr>
          <a:xfrm>
            <a:off x="777240" y="1527048"/>
            <a:ext cx="1828800" cy="228600"/>
          </a:xfrm>
          <a:prstGeom prst="rect">
            <a:avLst/>
          </a:prstGeom>
          <a:noFill/>
          <a:ln/>
        </p:spPr>
        <p:txBody>
          <a:bodyPr wrap="square" lIns="0" tIns="0" rIns="0" bIns="0" rtlCol="0" anchor="ctr"/>
          <a:lstStyle/>
          <a:p>
            <a:pPr indent="0" marL="0">
              <a:buNone/>
            </a:pPr>
            <a:r>
              <a:rPr lang="en-US" sz="1400" b="1" dirty="0">
                <a:solidFill>
                  <a:srgbClr val="2F855A"/>
                </a:solidFill>
                <a:latin typeface="Arial" pitchFamily="34" charset="0"/>
                <a:ea typeface="Arial" pitchFamily="34" charset="-122"/>
                <a:cs typeface="Arial" pitchFamily="34" charset="-120"/>
              </a:rPr>
              <a:t>+1.1%</a:t>
            </a:r>
            <a:endParaRPr lang="en-US" sz="1400" dirty="0"/>
          </a:p>
        </p:txBody>
      </p:sp>
      <p:sp>
        <p:nvSpPr>
          <p:cNvPr id="9" name="Shape 7"/>
          <p:cNvSpPr/>
          <p:nvPr/>
        </p:nvSpPr>
        <p:spPr>
          <a:xfrm>
            <a:off x="338328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p:spPr>
      </p:sp>
      <p:sp>
        <p:nvSpPr>
          <p:cNvPr id="11" name="Text 9"/>
          <p:cNvSpPr/>
          <p:nvPr/>
        </p:nvSpPr>
        <p:spPr>
          <a:xfrm>
            <a:off x="361188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1188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$2,050</a:t>
            </a:r>
            <a:endParaRPr lang="en-US" sz="2800" dirty="0"/>
          </a:p>
        </p:txBody>
      </p:sp>
      <p:sp>
        <p:nvSpPr>
          <p:cNvPr id="13" name="Text 11"/>
          <p:cNvSpPr/>
          <p:nvPr/>
        </p:nvSpPr>
        <p:spPr>
          <a:xfrm>
            <a:off x="3611880" y="1527048"/>
            <a:ext cx="1828800" cy="228600"/>
          </a:xfrm>
          <a:prstGeom prst="rect">
            <a:avLst/>
          </a:prstGeom>
          <a:noFill/>
          <a:ln/>
        </p:spPr>
        <p:txBody>
          <a:bodyPr wrap="square" lIns="0" tIns="0" rIns="0" bIns="0" rtlCol="0" anchor="ctr"/>
          <a:lstStyle/>
          <a:p>
            <a:pPr indent="0" marL="0">
              <a:buNone/>
            </a:pPr>
            <a:r>
              <a:rPr lang="en-US" sz="1400" b="1" dirty="0">
                <a:solidFill>
                  <a:srgbClr val="2F855A"/>
                </a:solidFill>
                <a:latin typeface="Arial" pitchFamily="34" charset="0"/>
                <a:ea typeface="Arial" pitchFamily="34" charset="-122"/>
                <a:cs typeface="Arial" pitchFamily="34" charset="-120"/>
              </a:rPr>
              <a:t>+3.0%</a:t>
            </a:r>
            <a:endParaRPr lang="en-US" sz="1400" dirty="0"/>
          </a:p>
        </p:txBody>
      </p:sp>
      <p:sp>
        <p:nvSpPr>
          <p:cNvPr id="14" name="Shape 12"/>
          <p:cNvSpPr/>
          <p:nvPr/>
        </p:nvSpPr>
        <p:spPr>
          <a:xfrm>
            <a:off x="621792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p:spPr>
      </p:sp>
      <p:sp>
        <p:nvSpPr>
          <p:cNvPr id="16" name="Text 14"/>
          <p:cNvSpPr/>
          <p:nvPr/>
        </p:nvSpPr>
        <p:spPr>
          <a:xfrm>
            <a:off x="6446520" y="960120"/>
            <a:ext cx="219456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Fear &amp; Greed Index</a:t>
            </a:r>
            <a:endParaRPr lang="en-US" sz="1200" dirty="0"/>
          </a:p>
        </p:txBody>
      </p:sp>
      <p:sp>
        <p:nvSpPr>
          <p:cNvPr id="17" name="Text 15"/>
          <p:cNvSpPr/>
          <p:nvPr/>
        </p:nvSpPr>
        <p:spPr>
          <a:xfrm>
            <a:off x="6446520" y="1188720"/>
            <a:ext cx="914400" cy="365760"/>
          </a:xfrm>
          <a:prstGeom prst="rect">
            <a:avLst/>
          </a:prstGeom>
          <a:noFill/>
          <a:ln/>
        </p:spPr>
        <p:txBody>
          <a:bodyPr wrap="square" lIns="0" tIns="0" rIns="0" bIns="0" rtlCol="0" anchor="ctr"/>
          <a:lstStyle/>
          <a:p>
            <a:pPr indent="0" marL="0">
              <a:buNone/>
            </a:pPr>
            <a:r>
              <a:rPr lang="en-US" sz="2800" b="1" dirty="0">
                <a:solidFill>
                  <a:srgbClr val="C53030"/>
                </a:solidFill>
                <a:latin typeface="Arial" pitchFamily="34" charset="0"/>
                <a:ea typeface="Arial" pitchFamily="34" charset="-122"/>
                <a:cs typeface="Arial" pitchFamily="34" charset="-120"/>
              </a:rPr>
              <a:t>12</a:t>
            </a:r>
            <a:endParaRPr lang="en-US" sz="2800" dirty="0"/>
          </a:p>
        </p:txBody>
      </p:sp>
      <p:sp>
        <p:nvSpPr>
          <p:cNvPr id="18" name="Text 16"/>
          <p:cNvSpPr/>
          <p:nvPr/>
        </p:nvSpPr>
        <p:spPr>
          <a:xfrm>
            <a:off x="7223760" y="1252728"/>
            <a:ext cx="1371600" cy="274320"/>
          </a:xfrm>
          <a:prstGeom prst="rect">
            <a:avLst/>
          </a:prstGeom>
          <a:noFill/>
          <a:ln/>
        </p:spPr>
        <p:txBody>
          <a:bodyPr wrap="square" lIns="0" tIns="0" rIns="0" bIns="0" rtlCol="0" anchor="ctr"/>
          <a:lstStyle/>
          <a:p>
            <a:pPr indent="0" marL="0">
              <a:buNone/>
            </a:pPr>
            <a:r>
              <a:rPr lang="en-US" sz="1300" dirty="0">
                <a:solidFill>
                  <a:srgbClr val="C53030"/>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188720"/>
                <a:gridCol w="1645920"/>
                <a:gridCol w="1371600"/>
                <a:gridCol w="384048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Asset</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7d Change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Notes</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SOL</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$79.45</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-2.8%</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Drift hack impact; -11% MAA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HYPE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$35.47</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Q1 vol $492.7B; global top 10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PENDLE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$0.98</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-12.4%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Yield sector under pressure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ENA</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$0.08</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-14.4%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Broad alt weakness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DYDX</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$0.10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+7.3%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Technical bounce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36576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Macro: Fed holds 3.50–3.75%, inflation forecast raised; Drift $285M hack rattles Solana ecosystem; sentiment at Extreme Fear (FGI=12).</a:t>
            </a:r>
            <a:endParaRPr lang="en-US" sz="1000" dirty="0"/>
          </a:p>
        </p:txBody>
      </p:sp>
      <p:sp>
        <p:nvSpPr>
          <p:cNvPr id="21" name="Shape 18"/>
          <p:cNvSpPr/>
          <p:nvPr/>
        </p:nvSpPr>
        <p:spPr>
          <a:xfrm>
            <a:off x="0" y="4800600"/>
            <a:ext cx="9144000" cy="342900"/>
          </a:xfrm>
          <a:prstGeom prst="rect">
            <a:avLst/>
          </a:prstGeom>
          <a:solidFill>
            <a:srgbClr val="1A2744"/>
          </a:solidFill>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2026.03.30–04.05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 Developments</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TOP 5 STORIES</a:t>
            </a:r>
            <a:endParaRPr lang="en-US" sz="1300" dirty="0"/>
          </a:p>
        </p:txBody>
      </p:sp>
      <p:sp>
        <p:nvSpPr>
          <p:cNvPr id="6" name="Shape 4"/>
          <p:cNvSpPr/>
          <p:nvPr/>
        </p:nvSpPr>
        <p:spPr>
          <a:xfrm>
            <a:off x="594360" y="1261872"/>
            <a:ext cx="274320" cy="274320"/>
          </a:xfrm>
          <a:prstGeom prst="ellipse">
            <a:avLst/>
          </a:prstGeom>
          <a:solidFill>
            <a:srgbClr val="C9A96E"/>
          </a:solidFill>
          <a:ln/>
        </p:spPr>
      </p:sp>
      <p:sp>
        <p:nvSpPr>
          <p:cNvPr id="7" name="Text 5"/>
          <p:cNvSpPr/>
          <p:nvPr/>
        </p:nvSpPr>
        <p:spPr>
          <a:xfrm>
            <a:off x="5943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05840" y="1243584"/>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Drift Protocol $285M exploit</a:t>
            </a:r>
            <a:endParaRPr lang="en-US" sz="1100" dirty="0"/>
          </a:p>
        </p:txBody>
      </p:sp>
      <p:sp>
        <p:nvSpPr>
          <p:cNvPr id="9" name="Text 7"/>
          <p:cNvSpPr/>
          <p:nvPr/>
        </p:nvSpPr>
        <p:spPr>
          <a:xfrm>
            <a:off x="1005840" y="1463040"/>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Lazarus Group; social engineering + oracle manipulation; 12 min</a:t>
            </a:r>
            <a:endParaRPr lang="en-US" sz="900" dirty="0"/>
          </a:p>
        </p:txBody>
      </p:sp>
      <p:sp>
        <p:nvSpPr>
          <p:cNvPr id="10" name="Shape 8"/>
          <p:cNvSpPr/>
          <p:nvPr/>
        </p:nvSpPr>
        <p:spPr>
          <a:xfrm>
            <a:off x="594360" y="1920240"/>
            <a:ext cx="274320" cy="274320"/>
          </a:xfrm>
          <a:prstGeom prst="ellipse">
            <a:avLst/>
          </a:prstGeom>
          <a:solidFill>
            <a:srgbClr val="C9A96E"/>
          </a:solidFill>
          <a:ln/>
        </p:spPr>
      </p:sp>
      <p:sp>
        <p:nvSpPr>
          <p:cNvPr id="11" name="Text 9"/>
          <p:cNvSpPr/>
          <p:nvPr/>
        </p:nvSpPr>
        <p:spPr>
          <a:xfrm>
            <a:off x="594360"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05840" y="1901952"/>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US Treasury: GENIUS Act rules</a:t>
            </a:r>
            <a:endParaRPr lang="en-US" sz="1100" dirty="0"/>
          </a:p>
        </p:txBody>
      </p:sp>
      <p:sp>
        <p:nvSpPr>
          <p:cNvPr id="13" name="Text 11"/>
          <p:cNvSpPr/>
          <p:nvPr/>
        </p:nvSpPr>
        <p:spPr>
          <a:xfrm>
            <a:off x="1005840" y="2121408"/>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1:1 reserves + 12-month operational backstop for stablecoins</a:t>
            </a:r>
            <a:endParaRPr lang="en-US" sz="900" dirty="0"/>
          </a:p>
        </p:txBody>
      </p:sp>
      <p:sp>
        <p:nvSpPr>
          <p:cNvPr id="14" name="Shape 12"/>
          <p:cNvSpPr/>
          <p:nvPr/>
        </p:nvSpPr>
        <p:spPr>
          <a:xfrm>
            <a:off x="594360" y="2578608"/>
            <a:ext cx="274320" cy="274320"/>
          </a:xfrm>
          <a:prstGeom prst="ellipse">
            <a:avLst/>
          </a:prstGeom>
          <a:solidFill>
            <a:srgbClr val="C9A96E"/>
          </a:solidFill>
          <a:ln/>
        </p:spPr>
      </p:sp>
      <p:sp>
        <p:nvSpPr>
          <p:cNvPr id="15" name="Text 13"/>
          <p:cNvSpPr/>
          <p:nvPr/>
        </p:nvSpPr>
        <p:spPr>
          <a:xfrm>
            <a:off x="59436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05840" y="2560320"/>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CLARITY Act yield compromise nears</a:t>
            </a:r>
            <a:endParaRPr lang="en-US" sz="1100" dirty="0"/>
          </a:p>
        </p:txBody>
      </p:sp>
      <p:sp>
        <p:nvSpPr>
          <p:cNvPr id="17" name="Text 15"/>
          <p:cNvSpPr/>
          <p:nvPr/>
        </p:nvSpPr>
        <p:spPr>
          <a:xfrm>
            <a:off x="1005840" y="2779776"/>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Bans passive yield; allows activity-based rewards</a:t>
            </a:r>
            <a:endParaRPr lang="en-US" sz="900" dirty="0"/>
          </a:p>
        </p:txBody>
      </p:sp>
      <p:sp>
        <p:nvSpPr>
          <p:cNvPr id="18" name="Shape 16"/>
          <p:cNvSpPr/>
          <p:nvPr/>
        </p:nvSpPr>
        <p:spPr>
          <a:xfrm>
            <a:off x="594360" y="3236976"/>
            <a:ext cx="274320" cy="274320"/>
          </a:xfrm>
          <a:prstGeom prst="ellipse">
            <a:avLst/>
          </a:prstGeom>
          <a:solidFill>
            <a:srgbClr val="C9A96E"/>
          </a:solidFill>
          <a:ln/>
        </p:spPr>
      </p:sp>
      <p:sp>
        <p:nvSpPr>
          <p:cNvPr id="19" name="Text 17"/>
          <p:cNvSpPr/>
          <p:nvPr/>
        </p:nvSpPr>
        <p:spPr>
          <a:xfrm>
            <a:off x="59436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005840" y="3218688"/>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Aave V4 mainnet + BGD Labs exit</a:t>
            </a:r>
            <a:endParaRPr lang="en-US" sz="1100" dirty="0"/>
          </a:p>
        </p:txBody>
      </p:sp>
      <p:sp>
        <p:nvSpPr>
          <p:cNvPr id="21" name="Text 19"/>
          <p:cNvSpPr/>
          <p:nvPr/>
        </p:nvSpPr>
        <p:spPr>
          <a:xfrm>
            <a:off x="1005840" y="3438144"/>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Modular hub-and-spoke; Prime/Core/Plus liquidity hubs</a:t>
            </a:r>
            <a:endParaRPr lang="en-US" sz="900" dirty="0"/>
          </a:p>
        </p:txBody>
      </p:sp>
      <p:sp>
        <p:nvSpPr>
          <p:cNvPr id="22" name="Shape 20"/>
          <p:cNvSpPr/>
          <p:nvPr/>
        </p:nvSpPr>
        <p:spPr>
          <a:xfrm>
            <a:off x="594360" y="3895344"/>
            <a:ext cx="274320" cy="274320"/>
          </a:xfrm>
          <a:prstGeom prst="ellipse">
            <a:avLst/>
          </a:prstGeom>
          <a:solidFill>
            <a:srgbClr val="C9A96E"/>
          </a:solidFill>
          <a:ln/>
        </p:spPr>
      </p:sp>
      <p:sp>
        <p:nvSpPr>
          <p:cNvPr id="23" name="Text 21"/>
          <p:cNvSpPr/>
          <p:nvPr/>
        </p:nvSpPr>
        <p:spPr>
          <a:xfrm>
            <a:off x="5943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1005840" y="3877056"/>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Solana Alpenglow: 98% validator approval</a:t>
            </a:r>
            <a:endParaRPr lang="en-US" sz="1100" dirty="0"/>
          </a:p>
        </p:txBody>
      </p:sp>
      <p:sp>
        <p:nvSpPr>
          <p:cNvPr id="25" name="Text 23"/>
          <p:cNvSpPr/>
          <p:nvPr/>
        </p:nvSpPr>
        <p:spPr>
          <a:xfrm>
            <a:off x="1005840" y="4096512"/>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Finality from ~400ms to 100–150ms</a:t>
            </a:r>
            <a:endParaRPr lang="en-US" sz="900" dirty="0"/>
          </a:p>
        </p:txBody>
      </p:sp>
      <p:sp>
        <p:nvSpPr>
          <p:cNvPr id="26" name="Shape 24"/>
          <p:cNvSpPr/>
          <p:nvPr/>
        </p:nvSpPr>
        <p:spPr>
          <a:xfrm>
            <a:off x="4663440" y="82296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Layer 1 &amp; Layer 2</a:t>
            </a:r>
            <a:endParaRPr lang="en-US" sz="1100" dirty="0"/>
          </a:p>
        </p:txBody>
      </p:sp>
      <p:sp>
        <p:nvSpPr>
          <p:cNvPr id="29" name="Text 27"/>
          <p:cNvSpPr/>
          <p:nvPr/>
        </p:nvSpPr>
        <p:spPr>
          <a:xfrm>
            <a:off x="4846320" y="120700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Base: 50% L2 DEX volume, $4.15B TVL, 3.3B txns YTD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"Stablechains" narrative: a16z leads $10M for Better Money</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Monad TVL &gt;$350M; L1 FDV reset trend (Messari thesis)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Cosmos setback: Leap Wallet shuts down (4/3)</a:t>
            </a:r>
            <a:endParaRPr lang="en-US" sz="1000" dirty="0"/>
          </a:p>
        </p:txBody>
      </p:sp>
      <p:sp>
        <p:nvSpPr>
          <p:cNvPr id="30" name="Shape 28"/>
          <p:cNvSpPr/>
          <p:nvPr/>
        </p:nvSpPr>
        <p:spPr>
          <a:xfrm>
            <a:off x="4663440" y="278892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DeFi &amp; Perp DEXes</a:t>
            </a:r>
            <a:endParaRPr lang="en-US" sz="1100" dirty="0"/>
          </a:p>
        </p:txBody>
      </p:sp>
      <p:sp>
        <p:nvSpPr>
          <p:cNvPr id="33" name="Text 31"/>
          <p:cNvSpPr/>
          <p:nvPr/>
        </p:nvSpPr>
        <p:spPr>
          <a:xfrm>
            <a:off x="4846320" y="317296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Aave V4: modular hub-and-spoke; Lido + Ethena partners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Lido V3 stVaults: EarnETH + EarnUSD multi-yield products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Hyperliquid: Q1 $492.7B vol; enters global top-10 deriv</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DeFi TVL ~$92–93B; RWA sector grows to ~$17B</a:t>
            </a:r>
            <a:endParaRPr lang="en-US" sz="1000" dirty="0"/>
          </a:p>
        </p:txBody>
      </p:sp>
      <p:sp>
        <p:nvSpPr>
          <p:cNvPr id="34" name="Shape 32"/>
          <p:cNvSpPr/>
          <p:nvPr/>
        </p:nvSpPr>
        <p:spPr>
          <a:xfrm>
            <a:off x="0" y="4800600"/>
            <a:ext cx="9144000" cy="342900"/>
          </a:xfrm>
          <a:prstGeom prst="rect">
            <a:avLst/>
          </a:prstGeom>
          <a:solidFill>
            <a:srgbClr val="1A2744"/>
          </a:solidFill>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2026.03.30–04.05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p:spPr>
      </p:sp>
      <p:sp>
        <p:nvSpPr>
          <p:cNvPr id="6" name="Text 4"/>
          <p:cNvSpPr/>
          <p:nvPr/>
        </p:nvSpPr>
        <p:spPr>
          <a:xfrm>
            <a:off x="64008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Regulation &amp; Policy</a:t>
            </a:r>
            <a:endParaRPr lang="en-US" sz="1400" dirty="0"/>
          </a:p>
        </p:txBody>
      </p:sp>
      <p:sp>
        <p:nvSpPr>
          <p:cNvPr id="7" name="Text 5"/>
          <p:cNvSpPr/>
          <p:nvPr/>
        </p:nvSpPr>
        <p:spPr>
          <a:xfrm>
            <a:off x="640080" y="132588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GENIUS Act Implementation</a:t>
            </a:r>
            <a:endParaRPr lang="en-US" sz="1100" dirty="0"/>
          </a:p>
        </p:txBody>
      </p:sp>
      <p:sp>
        <p:nvSpPr>
          <p:cNvPr id="8" name="Text 6"/>
          <p:cNvSpPr/>
          <p:nvPr/>
        </p:nvSpPr>
        <p:spPr>
          <a:xfrm>
            <a:off x="640080" y="153619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Treasury 4/1: 1:1 reserves + 12-month op backstop</a:t>
            </a:r>
            <a:endParaRPr lang="en-US" sz="1000" dirty="0"/>
          </a:p>
        </p:txBody>
      </p:sp>
      <p:sp>
        <p:nvSpPr>
          <p:cNvPr id="9" name="Text 7"/>
          <p:cNvSpPr/>
          <p:nvPr/>
        </p:nvSpPr>
        <p:spPr>
          <a:xfrm>
            <a:off x="640080" y="192024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CLARITY Act Compromise</a:t>
            </a:r>
            <a:endParaRPr lang="en-US" sz="1100" dirty="0"/>
          </a:p>
        </p:txBody>
      </p:sp>
      <p:sp>
        <p:nvSpPr>
          <p:cNvPr id="10" name="Text 8"/>
          <p:cNvSpPr/>
          <p:nvPr/>
        </p:nvSpPr>
        <p:spPr>
          <a:xfrm>
            <a:off x="640080" y="213055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Bans passive yield; allows activity rewards; markup Apr</a:t>
            </a:r>
            <a:endParaRPr lang="en-US" sz="1000" dirty="0"/>
          </a:p>
        </p:txBody>
      </p:sp>
      <p:sp>
        <p:nvSpPr>
          <p:cNvPr id="11" name="Text 9"/>
          <p:cNvSpPr/>
          <p:nvPr/>
        </p:nvSpPr>
        <p:spPr>
          <a:xfrm>
            <a:off x="640080" y="251460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CFTC Policy Pivot</a:t>
            </a:r>
            <a:endParaRPr lang="en-US" sz="1100" dirty="0"/>
          </a:p>
        </p:txBody>
      </p:sp>
      <p:sp>
        <p:nvSpPr>
          <p:cNvPr id="12" name="Text 10"/>
          <p:cNvSpPr/>
          <p:nvPr/>
        </p:nvSpPr>
        <p:spPr>
          <a:xfrm>
            <a:off x="640080" y="272491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New enforcement dir: no more regulation by litigation</a:t>
            </a:r>
            <a:endParaRPr lang="en-US" sz="1000" dirty="0"/>
          </a:p>
        </p:txBody>
      </p:sp>
      <p:sp>
        <p:nvSpPr>
          <p:cNvPr id="13" name="Text 11"/>
          <p:cNvSpPr/>
          <p:nvPr/>
        </p:nvSpPr>
        <p:spPr>
          <a:xfrm>
            <a:off x="640080" y="310896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Banking Infrastructure</a:t>
            </a:r>
            <a:endParaRPr lang="en-US" sz="1100" dirty="0"/>
          </a:p>
        </p:txBody>
      </p:sp>
      <p:sp>
        <p:nvSpPr>
          <p:cNvPr id="14" name="Text 12"/>
          <p:cNvSpPr/>
          <p:nvPr/>
        </p:nvSpPr>
        <p:spPr>
          <a:xfrm>
            <a:off x="640080" y="331927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Kraken: Fed master acct; Ripple/Crypto.com: OCC charters</a:t>
            </a:r>
            <a:endParaRPr lang="en-US" sz="1000" dirty="0"/>
          </a:p>
        </p:txBody>
      </p:sp>
      <p:sp>
        <p:nvSpPr>
          <p:cNvPr id="15" name="Text 13"/>
          <p:cNvSpPr/>
          <p:nvPr/>
        </p:nvSpPr>
        <p:spPr>
          <a:xfrm>
            <a:off x="640080" y="370332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Schwab Opens Crypto Trading</a:t>
            </a:r>
            <a:endParaRPr lang="en-US" sz="1100" dirty="0"/>
          </a:p>
        </p:txBody>
      </p:sp>
      <p:sp>
        <p:nvSpPr>
          <p:cNvPr id="16" name="Text 14"/>
          <p:cNvSpPr/>
          <p:nvPr/>
        </p:nvSpPr>
        <p:spPr>
          <a:xfrm>
            <a:off x="640080" y="391363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4/4 waitlist for BTC/ETH; full launch expected Q2</a:t>
            </a:r>
            <a:endParaRPr lang="en-US" sz="1000" dirty="0"/>
          </a:p>
        </p:txBody>
      </p:sp>
      <p:sp>
        <p:nvSpPr>
          <p:cNvPr id="17" name="Shape 15"/>
          <p:cNvSpPr/>
          <p:nvPr/>
        </p:nvSpPr>
        <p:spPr>
          <a:xfrm>
            <a:off x="466344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p:spPr>
      </p:sp>
      <p:sp>
        <p:nvSpPr>
          <p:cNvPr id="19" name="Text 17"/>
          <p:cNvSpPr/>
          <p:nvPr/>
        </p:nvSpPr>
        <p:spPr>
          <a:xfrm>
            <a:off x="493776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822960"/>
                <a:gridCol w="173736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Project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ZeroStack/0G</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$107M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Ecosystem; 21% supply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Midas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$50M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Series A; RWA liquidity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Keyrock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Series C</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Val $1.1B; Ripple backed</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Franklin/250D</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M&amp;A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Forms Franklin Crypto</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MicroStrategy</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44,377 BTC</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Mar; 94% of corp net adds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08960"/>
            <a:ext cx="3749040" cy="640080"/>
          </a:xfrm>
          <a:prstGeom prst="rect">
            <a:avLst/>
          </a:prstGeom>
          <a:solidFill>
            <a:srgbClr val="FFF8E7"/>
          </a:solidFill>
          <a:ln/>
          <a:effectLst>
            <a:outerShdw sx="100000" sy="100000" kx="0" ky="0" algn="bl" rotWithShape="0" blurRad="50800" dist="25400" dir="8100000">
              <a:srgbClr val="000000">
                <a:alpha val="12000"/>
              </a:srgbClr>
            </a:outerShdw>
          </a:effectLst>
        </p:spPr>
      </p:sp>
      <p:sp>
        <p:nvSpPr>
          <p:cNvPr id="22" name="Shape 19"/>
          <p:cNvSpPr/>
          <p:nvPr/>
        </p:nvSpPr>
        <p:spPr>
          <a:xfrm>
            <a:off x="4846320" y="3108960"/>
            <a:ext cx="54864" cy="640080"/>
          </a:xfrm>
          <a:prstGeom prst="rect">
            <a:avLst/>
          </a:prstGeom>
          <a:solidFill>
            <a:srgbClr val="C9A96E"/>
          </a:solidFill>
          <a:ln/>
        </p:spPr>
      </p:sp>
      <p:sp>
        <p:nvSpPr>
          <p:cNvPr id="23" name="Text 20"/>
          <p:cNvSpPr/>
          <p:nvPr/>
        </p:nvSpPr>
        <p:spPr>
          <a:xfrm>
            <a:off x="5074920" y="3154680"/>
            <a:ext cx="3383280" cy="54864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Key: </a:t>
            </a:r>
            <a:pPr indent="0" marL="0">
              <a:buNone/>
            </a:pPr>
            <a:r>
              <a:rPr lang="en-US" sz="1000" dirty="0">
                <a:solidFill>
                  <a:srgbClr val="2D3748"/>
                </a:solidFill>
                <a:latin typeface="Arial" pitchFamily="34" charset="0"/>
                <a:ea typeface="Arial" pitchFamily="34" charset="-122"/>
                <a:cs typeface="Arial" pitchFamily="34" charset="-120"/>
              </a:rPr>
              <a:t>Miners accelerate BTC sales for AI pivot: MARA sold 15,133 BTC; Riot sold $290M in BTC for HPC buildout</a:t>
            </a:r>
            <a:endParaRPr lang="en-US" sz="1000" dirty="0"/>
          </a:p>
        </p:txBody>
      </p:sp>
      <p:sp>
        <p:nvSpPr>
          <p:cNvPr id="24" name="Shape 21"/>
          <p:cNvSpPr/>
          <p:nvPr/>
        </p:nvSpPr>
        <p:spPr>
          <a:xfrm>
            <a:off x="0" y="4800600"/>
            <a:ext cx="9144000" cy="342900"/>
          </a:xfrm>
          <a:prstGeom prst="rect">
            <a:avLst/>
          </a:prstGeom>
          <a:solidFill>
            <a:srgbClr val="1A2744"/>
          </a:solidFill>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2026.03.30–04.05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Sector Highlights</a:t>
            </a:r>
            <a:endParaRPr lang="en-US" sz="2000" dirty="0"/>
          </a:p>
        </p:txBody>
      </p:sp>
      <p:sp>
        <p:nvSpPr>
          <p:cNvPr id="4" name="Shape 2"/>
          <p:cNvSpPr/>
          <p:nvPr/>
        </p:nvSpPr>
        <p:spPr>
          <a:xfrm>
            <a:off x="365760" y="822960"/>
            <a:ext cx="4114800" cy="2148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p:spPr>
      </p:sp>
      <p:sp>
        <p:nvSpPr>
          <p:cNvPr id="6" name="Text 4"/>
          <p:cNvSpPr/>
          <p:nvPr/>
        </p:nvSpPr>
        <p:spPr>
          <a:xfrm>
            <a:off x="548640" y="822960"/>
            <a:ext cx="38404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Security Incidents  |  Weekly Loss: &gt;$310M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280160"/>
                <a:gridCol w="914400"/>
                <a:gridCol w="1645920"/>
              </a:tblGrid>
              <a:tr h="256032">
                <a:tc>
                  <a:txBody>
                    <a:bodyPr/>
                    <a:lstStyle/>
                    <a:p>
                      <a:pPr indent="0" marL="0">
                        <a:buNone/>
                      </a:pPr>
                      <a:r>
                        <a:rPr lang="en-US" sz="900" b="1" dirty="0">
                          <a:solidFill>
                            <a:srgbClr val="2D3748"/>
                          </a:solidFill>
                          <a:latin typeface="Arial" pitchFamily="34" charset="0"/>
                          <a:ea typeface="Arial" pitchFamily="34" charset="-122"/>
                          <a:cs typeface="Arial" pitchFamily="34" charset="-120"/>
                        </a:rPr>
                        <a:t>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latin typeface="Arial" pitchFamily="34" charset="0"/>
                          <a:ea typeface="Arial" pitchFamily="34" charset="-122"/>
                          <a:cs typeface="Arial" pitchFamily="34" charset="-120"/>
                        </a:rPr>
                        <a:t>Loss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latin typeface="Arial" pitchFamily="34" charset="0"/>
                          <a:ea typeface="Arial" pitchFamily="34" charset="-122"/>
                          <a:cs typeface="Arial" pitchFamily="34" charset="-120"/>
                        </a:rPr>
                        <a:t>Vector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Drift Protocol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b="1" dirty="0">
                          <a:solidFill>
                            <a:srgbClr val="C53030"/>
                          </a:solidFill>
                          <a:latin typeface="Arial" pitchFamily="34" charset="0"/>
                          <a:ea typeface="Arial" pitchFamily="34" charset="-122"/>
                          <a:cs typeface="Arial" pitchFamily="34" charset="-120"/>
                        </a:rPr>
                        <a:t>$285M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C53030"/>
                          </a:solidFill>
                          <a:latin typeface="Arial" pitchFamily="34" charset="0"/>
                          <a:ea typeface="Arial" pitchFamily="34" charset="-122"/>
                          <a:cs typeface="Arial" pitchFamily="34" charset="-120"/>
                        </a:rPr>
                        <a:t>Social eng + oracle manip</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Resolv contagion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$25M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AWS key + cascading bad debt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SIREN rug pull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&gt;$100M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50% supply concentration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Venus Protocol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$2.18M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Hybrid on/off-chain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4663440" y="82296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6"/>
          <p:cNvSpPr/>
          <p:nvPr/>
        </p:nvSpPr>
        <p:spPr>
          <a:xfrm>
            <a:off x="4663440" y="822960"/>
            <a:ext cx="4114800" cy="320040"/>
          </a:xfrm>
          <a:prstGeom prst="rect">
            <a:avLst/>
          </a:prstGeom>
          <a:solidFill>
            <a:srgbClr val="1A2744"/>
          </a:solidFill>
          <a:ln/>
        </p:spPr>
      </p:sp>
      <p:sp>
        <p:nvSpPr>
          <p:cNvPr id="10" name="Text 7"/>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 Crypto</a:t>
            </a:r>
            <a:endParaRPr lang="en-US" sz="1100" dirty="0"/>
          </a:p>
        </p:txBody>
      </p:sp>
      <p:sp>
        <p:nvSpPr>
          <p:cNvPr id="11" name="Text 8"/>
          <p:cNvSpPr/>
          <p:nvPr/>
        </p:nvSpPr>
        <p:spPr>
          <a:xfrm>
            <a:off x="4846320" y="123444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AI tokens rally: FET/Virtuals +35–45%, TAO +73%</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ZeroStack commits $107M to 0G AI ecosystem</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Render integrates NVIDIA Blackwell B200 architecture</a:t>
            </a:r>
            <a:endParaRPr lang="en-US" sz="1000" dirty="0"/>
          </a:p>
        </p:txBody>
      </p:sp>
      <p:sp>
        <p:nvSpPr>
          <p:cNvPr id="12" name="Shape 9"/>
          <p:cNvSpPr/>
          <p:nvPr/>
        </p:nvSpPr>
        <p:spPr>
          <a:xfrm>
            <a:off x="4663440" y="269748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0"/>
          <p:cNvSpPr/>
          <p:nvPr/>
        </p:nvSpPr>
        <p:spPr>
          <a:xfrm>
            <a:off x="4663440" y="2697480"/>
            <a:ext cx="4114800" cy="320040"/>
          </a:xfrm>
          <a:prstGeom prst="rect">
            <a:avLst/>
          </a:prstGeom>
          <a:solidFill>
            <a:srgbClr val="1A2744"/>
          </a:solidFill>
          <a:ln/>
        </p:spPr>
      </p:sp>
      <p:sp>
        <p:nvSpPr>
          <p:cNvPr id="14" name="Text 11"/>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Prediction Markets</a:t>
            </a:r>
            <a:endParaRPr lang="en-US" sz="1100" dirty="0"/>
          </a:p>
        </p:txBody>
      </p:sp>
      <p:sp>
        <p:nvSpPr>
          <p:cNvPr id="15" name="Text 12"/>
          <p:cNvSpPr/>
          <p:nvPr/>
        </p:nvSpPr>
        <p:spPr>
          <a:xfrm>
            <a:off x="4846320" y="310896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March total: $25.7B (+10.6%); Kalshi $13.1B leads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Polymarket: $9B valuation; ICE $2B investment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CFTC sues 3 states over federal jurisdiction claims</a:t>
            </a:r>
            <a:endParaRPr lang="en-US" sz="1000" dirty="0"/>
          </a:p>
        </p:txBody>
      </p:sp>
      <p:sp>
        <p:nvSpPr>
          <p:cNvPr id="16" name="Shape 13"/>
          <p:cNvSpPr/>
          <p:nvPr/>
        </p:nvSpPr>
        <p:spPr>
          <a:xfrm>
            <a:off x="365760" y="3200400"/>
            <a:ext cx="41148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4"/>
          <p:cNvSpPr/>
          <p:nvPr/>
        </p:nvSpPr>
        <p:spPr>
          <a:xfrm>
            <a:off x="365760" y="3200400"/>
            <a:ext cx="4114800" cy="320040"/>
          </a:xfrm>
          <a:prstGeom prst="rect">
            <a:avLst/>
          </a:prstGeom>
          <a:solidFill>
            <a:srgbClr val="1A2744"/>
          </a:solidFill>
          <a:ln/>
        </p:spPr>
      </p:sp>
      <p:sp>
        <p:nvSpPr>
          <p:cNvPr id="18" name="Text 15"/>
          <p:cNvSpPr/>
          <p:nvPr/>
        </p:nvSpPr>
        <p:spPr>
          <a:xfrm>
            <a:off x="548640" y="320040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Stablecoins</a:t>
            </a:r>
            <a:endParaRPr lang="en-US" sz="1100" dirty="0"/>
          </a:p>
        </p:txBody>
      </p:sp>
      <p:sp>
        <p:nvSpPr>
          <p:cNvPr id="19" name="Text 16"/>
          <p:cNvSpPr/>
          <p:nvPr/>
        </p:nvSpPr>
        <p:spPr>
          <a:xfrm>
            <a:off x="548640" y="3611880"/>
            <a:ext cx="3749040" cy="8229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MCap ~$325B; Mar vol $7.5T surpasses US ACH network</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USDC supply +$2B vs USDT -$3B; divergence accelerates</a:t>
            </a:r>
            <a:endParaRPr lang="en-US" sz="1000" dirty="0"/>
          </a:p>
        </p:txBody>
      </p:sp>
      <p:sp>
        <p:nvSpPr>
          <p:cNvPr id="20" name="Shape 17"/>
          <p:cNvSpPr/>
          <p:nvPr/>
        </p:nvSpPr>
        <p:spPr>
          <a:xfrm>
            <a:off x="0" y="4800600"/>
            <a:ext cx="9144000" cy="342900"/>
          </a:xfrm>
          <a:prstGeom prst="rect">
            <a:avLst/>
          </a:prstGeom>
          <a:solidFill>
            <a:srgbClr val="1A2744"/>
          </a:solidFill>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2026.03.30–04.05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Upcoming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926080"/>
                <a:gridCol w="1097280"/>
                <a:gridCol w="3383280"/>
              </a:tblGrid>
              <a:tr h="29260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Expected Impact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HYPE Token Unlock (~2.65%)</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HYPE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 portfolio relevant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4/12</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APT Unlock (11.3M tokens)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APT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 ~0.68%</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4/15-16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Paris Blockchain Week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Market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MiCA discussion; institutional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Mid-Apr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CLARITY Act Committee Markup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Stables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Stablecoin yield framework</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91 ETF Applications Follow-up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Multi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SOL/XRP/LTC approval dynamics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LayerZero Unlock (25.7M ZRO)</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ZRO</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Hong Kong Web3 Festival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Market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Asia’s premier industry summit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457200" y="333756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3"/>
          <p:cNvSpPr/>
          <p:nvPr/>
        </p:nvSpPr>
        <p:spPr>
          <a:xfrm>
            <a:off x="457200" y="3337560"/>
            <a:ext cx="54864" cy="1188720"/>
          </a:xfrm>
          <a:prstGeom prst="rect">
            <a:avLst/>
          </a:prstGeom>
          <a:solidFill>
            <a:srgbClr val="C9A96E"/>
          </a:solidFill>
          <a:ln/>
        </p:spPr>
      </p:sp>
      <p:sp>
        <p:nvSpPr>
          <p:cNvPr id="7" name="Text 4"/>
          <p:cNvSpPr/>
          <p:nvPr/>
        </p:nvSpPr>
        <p:spPr>
          <a:xfrm>
            <a:off x="731520" y="3383280"/>
            <a:ext cx="73152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Weekly Summary</a:t>
            </a:r>
            <a:endParaRPr lang="en-US" sz="1300" dirty="0"/>
          </a:p>
        </p:txBody>
      </p:sp>
      <p:sp>
        <p:nvSpPr>
          <p:cNvPr id="8" name="Text 5"/>
          <p:cNvSpPr/>
          <p:nvPr/>
        </p:nvSpPr>
        <p:spPr>
          <a:xfrm>
            <a:off x="731520" y="3657600"/>
            <a:ext cx="7772400" cy="777240"/>
          </a:xfrm>
          <a:prstGeom prst="rect">
            <a:avLst/>
          </a:prstGeom>
          <a:noFill/>
          <a:ln/>
        </p:spPr>
        <p:txBody>
          <a:bodyPr wrap="square" lIns="0" tIns="0" rIns="0" bIns="0" rtlCol="0" anchor="ctr"/>
          <a:lstStyle/>
          <a:p>
            <a:pPr indent="0" marL="0">
              <a:buNone/>
            </a:pPr>
            <a:r>
              <a:rPr lang="en-US" sz="1000" dirty="0">
                <a:solidFill>
                  <a:srgbClr val="2D3748"/>
                </a:solidFill>
                <a:latin typeface="Arial" pitchFamily="34" charset="0"/>
                <a:ea typeface="Arial" pitchFamily="34" charset="-122"/>
                <a:cs typeface="Arial" pitchFamily="34" charset="-120"/>
              </a:rPr>
              <a:t>Extreme Fear (FGI=12). BTC range-bound $65–70K; alts broadly down. Drift $285M hack is 2026’s largest security event. Regulatory framework accelerating (GENIUS Act, CLARITY Act, Schwab crypto).</a:t>
            </a:r>
            <a:endParaRPr lang="en-US" sz="1000" dirty="0"/>
          </a:p>
          <a:p>
            <a:pPr indent="0" marL="0">
              <a:buNone/>
            </a:pPr>
            <a:r>
              <a:rPr lang="en-US" sz="1000" b="1" dirty="0">
                <a:solidFill>
                  <a:srgbClr val="1A2744"/>
                </a:solidFill>
                <a:latin typeface="Arial" pitchFamily="34" charset="0"/>
                <a:ea typeface="Arial" pitchFamily="34" charset="-122"/>
                <a:cs typeface="Arial" pitchFamily="34" charset="-120"/>
              </a:rPr>
              <a:t>Key watches: </a:t>
            </a:r>
            <a:pPr indent="0" marL="0">
              <a:buNone/>
            </a:pPr>
            <a:r>
              <a:rPr lang="en-US" sz="1000" dirty="0">
                <a:solidFill>
                  <a:srgbClr val="2D3748"/>
                </a:solidFill>
                <a:latin typeface="Arial" pitchFamily="34" charset="0"/>
                <a:ea typeface="Arial" pitchFamily="34" charset="-122"/>
                <a:cs typeface="Arial" pitchFamily="34" charset="-120"/>
              </a:rPr>
              <a:t>4/6 HYPE unlock (portfolio), CLARITY markup, AI sector momentum, Drift fallout trajectory.</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2026.03.30–04.05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Weekly Report — Mar 30–Apr 5, 2026</dc:title>
  <dc:subject>PptxGenJS Presentation</dc:subject>
  <dc:creator>42</dc:creator>
  <cp:lastModifiedBy>42</cp:lastModifiedBy>
  <cp:revision>1</cp:revision>
  <dcterms:created xsi:type="dcterms:W3CDTF">2026-04-05T17:23:36Z</dcterms:created>
  <dcterms:modified xsi:type="dcterms:W3CDTF">2026-04-05T17:23:36Z</dcterms:modified>
</cp:coreProperties>
</file>