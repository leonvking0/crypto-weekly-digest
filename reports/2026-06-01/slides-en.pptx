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第一页重点不是介绍格式，而是先给听众一个总框架。第一，本周市场的主线是风险偏好快速收缩，价格下跌只是结果，背后更关键的是 13 天现货 BTC ETF 持续净流出，说明边际买盘在撤退。第二，监管与基础设施层面并不弱，SEC 的 Project Crypto、MoneyGram 的 MGUSD、以及 Coinbase 获准推进美国永续框架，说明基本面和政策面并未同步恶化，市场更像是先在价格上做了去杠杆。第三，接下来要关注的是这种“价格弱但制度建设继续推进”的背离能否带来中期配置机会，尤其是稳定币、链上衍生品和 AI Agent 支付 rails 这些高确定性方向。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第二页最重要的是解释为什么市场会在一周内集体下杀。第一，ETF 连续流出和 $1.8B 清算构成了典型的流动性负反馈，BTC 虽然仍有 56% 的主导率，但这并不表示强势，而是资金先回流到相对安全的龙头。第二，ETH 和 SOL 的跌幅显著大于 BTC，反映市场对高 beta 叙事和公链估值的容忍度下降，尤其 ETH 还叠加了 L2 分流的老问题。第三，ENA 和 PENDLE 相对抗跌很重要，这说明市场并没有无差别抛售一切，而是在继续保留对收益型稳定币和利率交易资产的偏好，后续若情绪修复，这类资产通常会比纯 beta 先修复。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第三页要把“新闻”转化成“结构变化”。第一，Project Crypto 和美国永续框架落地，是本周最有长期意义的制度变量，意味着美国正在从单纯执法走向规则重写，这会改变交易所、DeFi 前端和资产发行方的估值折价。第二，Movement、Base、Solana、Hyperliquid 这些案例共同说明资金正在奖励能直接承载真实交易和支付流量的链与应用，而不是单纯追逐新公链故事。第三，DeFi 部分要强调收益基础设施在继续机构化，Ether.fi 配置 RWA、Veda 接口化收益、Hyperliquid 扩大专业交易份额，说明“链上金融中台”比传统治理代币更接近本轮真正的产业升级方向。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第四页需要把政策与融资放在一起讲，因为两者本质上都在定义资本往哪里去。第一，SEC 与 CFTC 的动作说明美国正尝试为 token 分类、稳定币、永续衍生品分别建立更清晰的边界，短期可能不会马上抬价格，但会直接影响合规交易量和机构准入。第二，欧盟 MiCA 与香港全链路监管形成对比，一个是在清理旧登记体系留下的合规缺口，一个是在主动扩大牌照覆盖面，本质上都是全球监管竞争的延续。第三，融资案例里最值得强调的是 Ethena 与 Robinhood/WonderFi：前者代表合成美元和收益产品仍有机构需求，后者代表传统券商平台还在积极吃下合规市场入口，这两个方向都比单纯 meme 或 beta 项目更有持续性。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第五页不能只把安全事件当作事故清单。第一，Gnosis Pay、Stake DAO、edgeX 这几起事件分别对应权限模块、密钥管理、低流通操纵三个老问题，说明行业的主要风险仍集中在运营和治理层，而不只是代码 bug。第二，Zcash 虽然没有实际资金损失，但漏洞披露后价格闪崩，提醒我们“信任损失”本身就是资产损失，尤其在老牌隐私币和小众资产上更明显。第三，稳定币、AI 和预测市场放在同一页，是为了说明尽管价格很差，但真实产品创新没停：MoneyGram 在做稳定币分发入口，Travala 在做 agent 支付闭环，Polymarket 和 Hyperliquid 在争夺“信息定价 + 交易执行”这一层，这些方向更像未来两年的基础设施争夺战。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第六页要把短期催化和中期判断分开。第一，最近两周最直接的市场变量是 6 月 9 日 GENIUS Act 意见窗口截止，如果细则继续朝许可型稳定币框架推进，会增强支付和链上美元赛道的可见度。第二，$RAIN、$HOME、APT 和 dYdX 的供给事件意味着即使行业叙事改善，部分资产也可能继续受解锁压制，所以短线交易和中线配置要分开看。第三，整体判断上，本周更像一次去杠杆和风险再定价，而不是行业基本面拐头向下。后续若 ETF 资金止血、监管友好信号继续累积，最先受益的很可能不是高 beta 公链，而是稳定币、链上衍生品和 AI 支付基础设施这些已出现真实需求验证的板块。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p:bgPr>
    </p:bg>
    <p:spTree>
      <p:nvGrpSpPr>
        <p:cNvPr id="1" name=""/>
        <p:cNvGrpSpPr/>
        <p:nvPr/>
      </p:nvGrpSpPr>
      <p:grpSpPr>
        <a:xfrm>
          <a:off x="0" y="0"/>
          <a:ext cx="0" cy="0"/>
          <a:chOff x="0" y="0"/>
          <a:chExt cx="0" cy="0"/>
        </a:xfrm>
      </p:grpSpPr>
      <p:sp>
        <p:nvSpPr>
          <p:cNvPr id="2" name="Shape 0"/>
          <p:cNvSpPr/>
          <p:nvPr/>
        </p:nvSpPr>
        <p:spPr>
          <a:xfrm>
            <a:off x="731520" y="1417320"/>
            <a:ext cx="1005840" cy="36576"/>
          </a:xfrm>
          <a:prstGeom prst="rect">
            <a:avLst/>
          </a:prstGeom>
          <a:solidFill>
            <a:srgbClr val="C9A96E"/>
          </a:solidFill>
          <a:ln w="12700">
            <a:solidFill>
              <a:srgbClr val="C9A96E"/>
            </a:solidFill>
            <a:prstDash val="solid"/>
          </a:ln>
        </p:spPr>
      </p:sp>
      <p:sp>
        <p:nvSpPr>
          <p:cNvPr id="3" name="Text 1"/>
          <p:cNvSpPr/>
          <p:nvPr/>
        </p:nvSpPr>
        <p:spPr>
          <a:xfrm>
            <a:off x="731520" y="1645920"/>
            <a:ext cx="749808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Crypto Market Weekly Report</a:t>
            </a:r>
            <a:endParaRPr lang="en-US" sz="3000" dirty="0"/>
          </a:p>
        </p:txBody>
      </p:sp>
      <p:sp>
        <p:nvSpPr>
          <p:cNvPr id="4" name="Text 2"/>
          <p:cNvSpPr/>
          <p:nvPr/>
        </p:nvSpPr>
        <p:spPr>
          <a:xfrm>
            <a:off x="731520" y="2331720"/>
            <a:ext cx="7498080" cy="365760"/>
          </a:xfrm>
          <a:prstGeom prst="rect">
            <a:avLst/>
          </a:prstGeom>
          <a:noFill/>
          <a:ln/>
        </p:spPr>
        <p:txBody>
          <a:bodyPr wrap="square" lIns="0" tIns="0" rIns="0" bIns="0" rtlCol="0" anchor="ctr"/>
          <a:lstStyle/>
          <a:p>
            <a:pPr indent="0" marL="0">
              <a:buNone/>
            </a:pPr>
            <a:r>
              <a:rPr lang="en-US" sz="2000" dirty="0">
                <a:solidFill>
                  <a:srgbClr val="C9A96E"/>
                </a:solidFill>
                <a:latin typeface="Arial" pitchFamily="34" charset="0"/>
                <a:ea typeface="Arial" pitchFamily="34" charset="-122"/>
                <a:cs typeface="Arial" pitchFamily="34" charset="-120"/>
              </a:rPr>
              <a:t>June 1 – June 7, 2026</a:t>
            </a:r>
            <a:endParaRPr lang="en-US" sz="2000" dirty="0"/>
          </a:p>
        </p:txBody>
      </p:sp>
      <p:sp>
        <p:nvSpPr>
          <p:cNvPr id="5" name="Text 3"/>
          <p:cNvSpPr/>
          <p:nvPr/>
        </p:nvSpPr>
        <p:spPr>
          <a:xfrm>
            <a:off x="731520" y="2926080"/>
            <a:ext cx="7772400" cy="320040"/>
          </a:xfrm>
          <a:prstGeom prst="rect">
            <a:avLst/>
          </a:prstGeom>
          <a:noFill/>
          <a:ln/>
        </p:spPr>
        <p:txBody>
          <a:bodyPr wrap="square" lIns="0" tIns="0" rIns="0" bIns="0" rtlCol="0" anchor="ctr"/>
          <a:lstStyle/>
          <a:p>
            <a:pPr indent="0" marL="0">
              <a:buNone/>
            </a:pPr>
            <a:r>
              <a:rPr lang="en-US" sz="1100" dirty="0">
                <a:solidFill>
                  <a:srgbClr val="8C95A6"/>
                </a:solidFill>
                <a:latin typeface="Arial" pitchFamily="34" charset="0"/>
                <a:ea typeface="Arial" pitchFamily="34" charset="-122"/>
                <a:cs typeface="Arial" pitchFamily="34" charset="-120"/>
              </a:rPr>
              <a:t>Sources: Messari · The Block · CoinGecko · CoinDesk · Crypto.news</a:t>
            </a:r>
            <a:endParaRPr lang="en-US" sz="1100" dirty="0"/>
          </a:p>
        </p:txBody>
      </p:sp>
      <p:sp>
        <p:nvSpPr>
          <p:cNvPr id="6" name="Shape 4"/>
          <p:cNvSpPr/>
          <p:nvPr/>
        </p:nvSpPr>
        <p:spPr>
          <a:xfrm>
            <a:off x="0" y="4800600"/>
            <a:ext cx="9144000" cy="342900"/>
          </a:xfrm>
          <a:prstGeom prst="rect">
            <a:avLst/>
          </a:prstGeom>
          <a:solidFill>
            <a:srgbClr val="C9A96E"/>
          </a:solidFill>
          <a:ln w="12700">
            <a:solidFill>
              <a:srgbClr val="C9A96E"/>
            </a:solidFill>
            <a:prstDash val="solid"/>
          </a:ln>
        </p:spPr>
      </p:sp>
      <p:sp>
        <p:nvSpPr>
          <p:cNvPr id="7" name="Text 5"/>
          <p:cNvSpPr/>
          <p:nvPr/>
        </p:nvSpPr>
        <p:spPr>
          <a:xfrm>
            <a:off x="0" y="4800600"/>
            <a:ext cx="9144000" cy="342900"/>
          </a:xfrm>
          <a:prstGeom prst="rect">
            <a:avLst/>
          </a:prstGeom>
          <a:noFill/>
          <a:ln/>
        </p:spPr>
        <p:txBody>
          <a:bodyPr wrap="square" rtlCol="0" anchor="ctr"/>
          <a:lstStyle/>
          <a:p>
            <a:pPr algn="ctr" indent="0" marL="0">
              <a:buNone/>
            </a:pPr>
            <a:r>
              <a:rPr lang="en-US" sz="900" b="1" dirty="0">
                <a:solidFill>
                  <a:srgbClr val="0F1A2E"/>
                </a:solidFill>
                <a:latin typeface="Arial" pitchFamily="34" charset="0"/>
                <a:ea typeface="Arial" pitchFamily="34" charset="-122"/>
                <a:cs typeface="Arial" pitchFamily="34" charset="-120"/>
              </a:rPr>
              <a:t>CONFIDENTIAL — FOR LP DISTRIBUTION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Market Overview</a:t>
            </a:r>
            <a:endParaRPr lang="en-US" sz="2000" dirty="0"/>
          </a:p>
        </p:txBody>
      </p:sp>
      <p:sp>
        <p:nvSpPr>
          <p:cNvPr id="4" name="Shape 2"/>
          <p:cNvSpPr/>
          <p:nvPr/>
        </p:nvSpPr>
        <p:spPr>
          <a:xfrm>
            <a:off x="548640" y="868680"/>
            <a:ext cx="2560320" cy="96012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548640" y="868680"/>
            <a:ext cx="54864" cy="960120"/>
          </a:xfrm>
          <a:prstGeom prst="rect">
            <a:avLst/>
          </a:prstGeom>
          <a:solidFill>
            <a:srgbClr val="C9A96E"/>
          </a:solidFill>
          <a:ln w="12700">
            <a:solidFill>
              <a:srgbClr val="C9A96E"/>
            </a:solidFill>
            <a:prstDash val="solid"/>
          </a:ln>
        </p:spPr>
      </p:sp>
      <p:sp>
        <p:nvSpPr>
          <p:cNvPr id="6" name="Text 4"/>
          <p:cNvSpPr/>
          <p:nvPr/>
        </p:nvSpPr>
        <p:spPr>
          <a:xfrm>
            <a:off x="768096" y="960120"/>
            <a:ext cx="2011680" cy="182880"/>
          </a:xfrm>
          <a:prstGeom prst="rect">
            <a:avLst/>
          </a:prstGeom>
          <a:noFill/>
          <a:ln/>
        </p:spPr>
        <p:txBody>
          <a:bodyPr wrap="square" lIns="0" tIns="0" rIns="0" bIns="0" rtlCol="0" anchor="ctr"/>
          <a:lstStyle/>
          <a:p>
            <a:pPr indent="0" marL="0">
              <a:buNone/>
            </a:pPr>
            <a:r>
              <a:rPr lang="en-US" sz="1200" b="1" dirty="0">
                <a:solidFill>
                  <a:srgbClr val="8C95A6"/>
                </a:solidFill>
              </a:rPr>
              <a:t>BTC</a:t>
            </a:r>
            <a:endParaRPr lang="en-US" sz="1200" dirty="0"/>
          </a:p>
        </p:txBody>
      </p:sp>
      <p:sp>
        <p:nvSpPr>
          <p:cNvPr id="7" name="Text 5"/>
          <p:cNvSpPr/>
          <p:nvPr/>
        </p:nvSpPr>
        <p:spPr>
          <a:xfrm>
            <a:off x="768096" y="1207008"/>
            <a:ext cx="2011680" cy="256032"/>
          </a:xfrm>
          <a:prstGeom prst="rect">
            <a:avLst/>
          </a:prstGeom>
          <a:noFill/>
          <a:ln/>
        </p:spPr>
        <p:txBody>
          <a:bodyPr wrap="square" lIns="0" tIns="0" rIns="0" bIns="0" rtlCol="0" anchor="ctr"/>
          <a:lstStyle/>
          <a:p>
            <a:pPr indent="0" marL="0">
              <a:buNone/>
            </a:pPr>
            <a:r>
              <a:rPr lang="en-US" sz="2500" b="1" dirty="0">
                <a:solidFill>
                  <a:srgbClr val="2D3748"/>
                </a:solidFill>
              </a:rPr>
              <a:t>$62,037</a:t>
            </a:r>
            <a:endParaRPr lang="en-US" sz="2500" dirty="0"/>
          </a:p>
        </p:txBody>
      </p:sp>
      <p:sp>
        <p:nvSpPr>
          <p:cNvPr id="8" name="Text 6"/>
          <p:cNvSpPr/>
          <p:nvPr/>
        </p:nvSpPr>
        <p:spPr>
          <a:xfrm>
            <a:off x="768096" y="1527048"/>
            <a:ext cx="2011680" cy="182880"/>
          </a:xfrm>
          <a:prstGeom prst="rect">
            <a:avLst/>
          </a:prstGeom>
          <a:noFill/>
          <a:ln/>
        </p:spPr>
        <p:txBody>
          <a:bodyPr wrap="square" lIns="0" tIns="0" rIns="0" bIns="0" rtlCol="0" anchor="ctr"/>
          <a:lstStyle/>
          <a:p>
            <a:pPr indent="0" marL="0">
              <a:buNone/>
            </a:pPr>
            <a:r>
              <a:rPr lang="en-US" sz="1300" b="1" dirty="0">
                <a:solidFill>
                  <a:srgbClr val="C53030"/>
                </a:solidFill>
              </a:rPr>
              <a:t>-15.6%</a:t>
            </a:r>
            <a:endParaRPr lang="en-US" sz="1300" dirty="0"/>
          </a:p>
        </p:txBody>
      </p:sp>
      <p:sp>
        <p:nvSpPr>
          <p:cNvPr id="9" name="Shape 7"/>
          <p:cNvSpPr/>
          <p:nvPr/>
        </p:nvSpPr>
        <p:spPr>
          <a:xfrm>
            <a:off x="3383280" y="868680"/>
            <a:ext cx="2560320" cy="96012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10" name="Shape 8"/>
          <p:cNvSpPr/>
          <p:nvPr/>
        </p:nvSpPr>
        <p:spPr>
          <a:xfrm>
            <a:off x="3383280" y="868680"/>
            <a:ext cx="54864" cy="960120"/>
          </a:xfrm>
          <a:prstGeom prst="rect">
            <a:avLst/>
          </a:prstGeom>
          <a:solidFill>
            <a:srgbClr val="C9A96E"/>
          </a:solidFill>
          <a:ln w="12700">
            <a:solidFill>
              <a:srgbClr val="C9A96E"/>
            </a:solidFill>
            <a:prstDash val="solid"/>
          </a:ln>
        </p:spPr>
      </p:sp>
      <p:sp>
        <p:nvSpPr>
          <p:cNvPr id="11" name="Text 9"/>
          <p:cNvSpPr/>
          <p:nvPr/>
        </p:nvSpPr>
        <p:spPr>
          <a:xfrm>
            <a:off x="3602736" y="960120"/>
            <a:ext cx="2011680" cy="182880"/>
          </a:xfrm>
          <a:prstGeom prst="rect">
            <a:avLst/>
          </a:prstGeom>
          <a:noFill/>
          <a:ln/>
        </p:spPr>
        <p:txBody>
          <a:bodyPr wrap="square" lIns="0" tIns="0" rIns="0" bIns="0" rtlCol="0" anchor="ctr"/>
          <a:lstStyle/>
          <a:p>
            <a:pPr indent="0" marL="0">
              <a:buNone/>
            </a:pPr>
            <a:r>
              <a:rPr lang="en-US" sz="1200" b="1" dirty="0">
                <a:solidFill>
                  <a:srgbClr val="8C95A6"/>
                </a:solidFill>
              </a:rPr>
              <a:t>ETH</a:t>
            </a:r>
            <a:endParaRPr lang="en-US" sz="1200" dirty="0"/>
          </a:p>
        </p:txBody>
      </p:sp>
      <p:sp>
        <p:nvSpPr>
          <p:cNvPr id="12" name="Text 10"/>
          <p:cNvSpPr/>
          <p:nvPr/>
        </p:nvSpPr>
        <p:spPr>
          <a:xfrm>
            <a:off x="3602736" y="1207008"/>
            <a:ext cx="2011680" cy="256032"/>
          </a:xfrm>
          <a:prstGeom prst="rect">
            <a:avLst/>
          </a:prstGeom>
          <a:noFill/>
          <a:ln/>
        </p:spPr>
        <p:txBody>
          <a:bodyPr wrap="square" lIns="0" tIns="0" rIns="0" bIns="0" rtlCol="0" anchor="ctr"/>
          <a:lstStyle/>
          <a:p>
            <a:pPr indent="0" marL="0">
              <a:buNone/>
            </a:pPr>
            <a:r>
              <a:rPr lang="en-US" sz="2500" b="1" dirty="0">
                <a:solidFill>
                  <a:srgbClr val="2D3748"/>
                </a:solidFill>
              </a:rPr>
              <a:t>$1,627</a:t>
            </a:r>
            <a:endParaRPr lang="en-US" sz="2500" dirty="0"/>
          </a:p>
        </p:txBody>
      </p:sp>
      <p:sp>
        <p:nvSpPr>
          <p:cNvPr id="13" name="Text 11"/>
          <p:cNvSpPr/>
          <p:nvPr/>
        </p:nvSpPr>
        <p:spPr>
          <a:xfrm>
            <a:off x="3602736" y="1527048"/>
            <a:ext cx="2011680" cy="182880"/>
          </a:xfrm>
          <a:prstGeom prst="rect">
            <a:avLst/>
          </a:prstGeom>
          <a:noFill/>
          <a:ln/>
        </p:spPr>
        <p:txBody>
          <a:bodyPr wrap="square" lIns="0" tIns="0" rIns="0" bIns="0" rtlCol="0" anchor="ctr"/>
          <a:lstStyle/>
          <a:p>
            <a:pPr indent="0" marL="0">
              <a:buNone/>
            </a:pPr>
            <a:r>
              <a:rPr lang="en-US" sz="1300" b="1" dirty="0">
                <a:solidFill>
                  <a:srgbClr val="C53030"/>
                </a:solidFill>
              </a:rPr>
              <a:t>-18.8%</a:t>
            </a:r>
            <a:endParaRPr lang="en-US" sz="1300" dirty="0"/>
          </a:p>
        </p:txBody>
      </p:sp>
      <p:sp>
        <p:nvSpPr>
          <p:cNvPr id="14" name="Shape 12"/>
          <p:cNvSpPr/>
          <p:nvPr/>
        </p:nvSpPr>
        <p:spPr>
          <a:xfrm>
            <a:off x="6217920" y="868680"/>
            <a:ext cx="2560320" cy="96012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15" name="Shape 13"/>
          <p:cNvSpPr/>
          <p:nvPr/>
        </p:nvSpPr>
        <p:spPr>
          <a:xfrm>
            <a:off x="6217920" y="868680"/>
            <a:ext cx="54864" cy="960120"/>
          </a:xfrm>
          <a:prstGeom prst="rect">
            <a:avLst/>
          </a:prstGeom>
          <a:solidFill>
            <a:srgbClr val="C53030"/>
          </a:solidFill>
          <a:ln w="12700">
            <a:solidFill>
              <a:srgbClr val="C53030"/>
            </a:solidFill>
            <a:prstDash val="solid"/>
          </a:ln>
        </p:spPr>
      </p:sp>
      <p:sp>
        <p:nvSpPr>
          <p:cNvPr id="16" name="Text 14"/>
          <p:cNvSpPr/>
          <p:nvPr/>
        </p:nvSpPr>
        <p:spPr>
          <a:xfrm>
            <a:off x="6437376" y="960120"/>
            <a:ext cx="2011680" cy="182880"/>
          </a:xfrm>
          <a:prstGeom prst="rect">
            <a:avLst/>
          </a:prstGeom>
          <a:noFill/>
          <a:ln/>
        </p:spPr>
        <p:txBody>
          <a:bodyPr wrap="square" lIns="0" tIns="0" rIns="0" bIns="0" rtlCol="0" anchor="ctr"/>
          <a:lstStyle/>
          <a:p>
            <a:pPr indent="0" marL="0">
              <a:buNone/>
            </a:pPr>
            <a:r>
              <a:rPr lang="en-US" sz="1200" b="1" dirty="0">
                <a:solidFill>
                  <a:srgbClr val="8C95A6"/>
                </a:solidFill>
              </a:rPr>
              <a:t>Fear &amp; Greed</a:t>
            </a:r>
            <a:endParaRPr lang="en-US" sz="1200" dirty="0"/>
          </a:p>
        </p:txBody>
      </p:sp>
      <p:sp>
        <p:nvSpPr>
          <p:cNvPr id="17" name="Text 15"/>
          <p:cNvSpPr/>
          <p:nvPr/>
        </p:nvSpPr>
        <p:spPr>
          <a:xfrm>
            <a:off x="6437376" y="1207008"/>
            <a:ext cx="2011680" cy="256032"/>
          </a:xfrm>
          <a:prstGeom prst="rect">
            <a:avLst/>
          </a:prstGeom>
          <a:noFill/>
          <a:ln/>
        </p:spPr>
        <p:txBody>
          <a:bodyPr wrap="square" lIns="0" tIns="0" rIns="0" bIns="0" rtlCol="0" anchor="ctr"/>
          <a:lstStyle/>
          <a:p>
            <a:pPr indent="0" marL="0">
              <a:buNone/>
            </a:pPr>
            <a:r>
              <a:rPr lang="en-US" sz="2500" b="1" dirty="0">
                <a:solidFill>
                  <a:srgbClr val="2D3748"/>
                </a:solidFill>
              </a:rPr>
              <a:t>12</a:t>
            </a:r>
            <a:endParaRPr lang="en-US" sz="2500" dirty="0"/>
          </a:p>
        </p:txBody>
      </p:sp>
      <p:sp>
        <p:nvSpPr>
          <p:cNvPr id="18" name="Text 16"/>
          <p:cNvSpPr/>
          <p:nvPr/>
        </p:nvSpPr>
        <p:spPr>
          <a:xfrm>
            <a:off x="6437376" y="1527048"/>
            <a:ext cx="2011680" cy="182880"/>
          </a:xfrm>
          <a:prstGeom prst="rect">
            <a:avLst/>
          </a:prstGeom>
          <a:noFill/>
          <a:ln/>
        </p:spPr>
        <p:txBody>
          <a:bodyPr wrap="square" lIns="0" tIns="0" rIns="0" bIns="0" rtlCol="0" anchor="ctr"/>
          <a:lstStyle/>
          <a:p>
            <a:pPr indent="0" marL="0">
              <a:buNone/>
            </a:pPr>
            <a:r>
              <a:rPr lang="en-US" sz="1300" b="1" dirty="0">
                <a:solidFill>
                  <a:srgbClr val="2F855A"/>
                </a:solidFill>
              </a:rPr>
              <a:t>Extreme Fear</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8046720" cy="914400"/>
        </p:xfrm>
        <a:graphic>
          <a:graphicData uri="http://schemas.openxmlformats.org/drawingml/2006/table">
            <a:tbl>
              <a:tblPr/>
              <a:tblGrid>
                <a:gridCol w="1097280"/>
                <a:gridCol w="1645920"/>
                <a:gridCol w="1280160"/>
                <a:gridCol w="4023360"/>
              </a:tblGrid>
              <a:tr h="320040">
                <a:tc>
                  <a:txBody>
                    <a:bodyPr/>
                    <a:lstStyle/>
                    <a:p>
                      <a:pPr algn="ctr" indent="0" marL="0">
                        <a:buNone/>
                      </a:pPr>
                      <a:r>
                        <a:rPr lang="en-US" sz="1100" b="1" dirty="0">
                          <a:solidFill>
                            <a:srgbClr val="FFFFFF"/>
                          </a:solidFill>
                        </a:rPr>
                        <a:t>Asset</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rPr>
                        <a:t>Price</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rPr>
                        <a:t>7d Change</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rPr>
                        <a:t>Notes</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83464">
                <a:tc>
                  <a:txBody>
                    <a:bodyPr/>
                    <a:lstStyle/>
                    <a:p>
                      <a:pPr algn="ctr" indent="0" marL="0">
                        <a:buNone/>
                      </a:pPr>
                      <a:r>
                        <a:rPr lang="en-US" sz="1000" b="1" dirty="0">
                          <a:solidFill>
                            <a:srgbClr val="2D3748"/>
                          </a:solidFill>
                        </a:rPr>
                        <a:t>BTC</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rPr>
                        <a:t>$62,037</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C53030"/>
                          </a:solidFill>
                        </a:rPr>
                        <a:t>-15.6%</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13 straight ETF outflow days; holding $61K-$62K</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83464">
                <a:tc>
                  <a:txBody>
                    <a:bodyPr/>
                    <a:lstStyle/>
                    <a:p>
                      <a:pPr algn="ctr" indent="0" marL="0">
                        <a:buNone/>
                      </a:pPr>
                      <a:r>
                        <a:rPr lang="en-US" sz="1000" b="1" dirty="0">
                          <a:solidFill>
                            <a:srgbClr val="2D3748"/>
                          </a:solidFill>
                        </a:rPr>
                        <a:t>ETH</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rPr>
                        <a:t>$1,627</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C53030"/>
                          </a:solidFill>
                        </a:rPr>
                        <a:t>-18.8%</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L2 value leakage narrative; $1,600 under pressure</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83464">
                <a:tc>
                  <a:txBody>
                    <a:bodyPr/>
                    <a:lstStyle/>
                    <a:p>
                      <a:pPr algn="ctr" indent="0" marL="0">
                        <a:buNone/>
                      </a:pPr>
                      <a:r>
                        <a:rPr lang="en-US" sz="1000" b="1" dirty="0">
                          <a:solidFill>
                            <a:srgbClr val="2D3748"/>
                          </a:solidFill>
                        </a:rPr>
                        <a:t>SOL</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rPr>
                        <a:t>$65.11</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C53030"/>
                          </a:solidFill>
                        </a:rPr>
                        <a:t>-20.5%</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Unlock and deleveraging pushed fresh 2026 lows</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83464">
                <a:tc>
                  <a:txBody>
                    <a:bodyPr/>
                    <a:lstStyle/>
                    <a:p>
                      <a:pPr algn="ctr" indent="0" marL="0">
                        <a:buNone/>
                      </a:pPr>
                      <a:r>
                        <a:rPr lang="en-US" sz="1000" b="1" dirty="0">
                          <a:solidFill>
                            <a:srgbClr val="2D3748"/>
                          </a:solidFill>
                        </a:rPr>
                        <a:t>HYPE</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rPr>
                        <a:t>$58.44</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C53030"/>
                          </a:solidFill>
                        </a:rPr>
                        <a:t>-14.1%</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Strong fundamentals, high-beta drawdown</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83464">
                <a:tc>
                  <a:txBody>
                    <a:bodyPr/>
                    <a:lstStyle/>
                    <a:p>
                      <a:pPr algn="ctr" indent="0" marL="0">
                        <a:buNone/>
                      </a:pPr>
                      <a:r>
                        <a:rPr lang="en-US" sz="1000" b="1" dirty="0">
                          <a:solidFill>
                            <a:srgbClr val="2D3748"/>
                          </a:solidFill>
                        </a:rPr>
                        <a:t>ENA</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rPr>
                        <a:t>$0.09</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2F855A"/>
                          </a:solidFill>
                        </a:rPr>
                        <a:t>+3.9%</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Held up on Coinbase/Ethena partnership</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83464">
                <a:tc>
                  <a:txBody>
                    <a:bodyPr/>
                    <a:lstStyle/>
                    <a:p>
                      <a:pPr algn="ctr" indent="0" marL="0">
                        <a:buNone/>
                      </a:pPr>
                      <a:r>
                        <a:rPr lang="en-US" sz="1000" b="1" dirty="0">
                          <a:solidFill>
                            <a:srgbClr val="2D3748"/>
                          </a:solidFill>
                        </a:rPr>
                        <a:t>PENDLE</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rPr>
                        <a:t>$1.25</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C53030"/>
                          </a:solidFill>
                        </a:rPr>
                        <a:t>-7.1%</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Yield theme outperformed broader alts</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83464">
                <a:tc>
                  <a:txBody>
                    <a:bodyPr/>
                    <a:lstStyle/>
                    <a:p>
                      <a:pPr algn="ctr" indent="0" marL="0">
                        <a:buNone/>
                      </a:pPr>
                      <a:r>
                        <a:rPr lang="en-US" sz="1000" b="1" dirty="0">
                          <a:solidFill>
                            <a:srgbClr val="2D3748"/>
                          </a:solidFill>
                        </a:rPr>
                        <a:t>DYDX</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rPr>
                        <a:t>$0.14</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C53030"/>
                          </a:solidFill>
                        </a:rPr>
                        <a:t>-24.2%</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Largest loss among tracked assets</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0" name="Text 17"/>
          <p:cNvSpPr/>
          <p:nvPr/>
        </p:nvSpPr>
        <p:spPr>
          <a:xfrm>
            <a:off x="548640" y="4160520"/>
            <a:ext cx="8046720" cy="411480"/>
          </a:xfrm>
          <a:prstGeom prst="rect">
            <a:avLst/>
          </a:prstGeom>
          <a:noFill/>
          <a:ln/>
        </p:spPr>
        <p:txBody>
          <a:bodyPr wrap="square" lIns="0" tIns="0" rIns="0" bIns="0" rtlCol="0" anchor="ctr"/>
          <a:lstStyle/>
          <a:p>
            <a:pPr indent="0" marL="0">
              <a:buNone/>
            </a:pPr>
            <a:r>
              <a:rPr lang="en-US" sz="1000" i="1" dirty="0">
                <a:solidFill>
                  <a:srgbClr val="8C95A6"/>
                </a:solidFill>
              </a:rPr>
              <a:t>Total market cap at $2.23T, BTC dominance 56.0%, 24h volume $78.4B. Thirteen straight spot BTC ETF outflow days and a $1.8B liquidation wave drove sentiment back to Extreme Fear.</a:t>
            </a:r>
            <a:endParaRPr lang="en-US" sz="1000" dirty="0"/>
          </a:p>
        </p:txBody>
      </p:sp>
      <p:sp>
        <p:nvSpPr>
          <p:cNvPr id="21" name="Shape 18"/>
          <p:cNvSpPr/>
          <p:nvPr/>
        </p:nvSpPr>
        <p:spPr>
          <a:xfrm>
            <a:off x="0" y="4800600"/>
            <a:ext cx="9144000" cy="342900"/>
          </a:xfrm>
          <a:prstGeom prst="rect">
            <a:avLst/>
          </a:prstGeom>
          <a:solidFill>
            <a:srgbClr val="1A2744"/>
          </a:solidFill>
          <a:ln w="12700">
            <a:solidFill>
              <a:srgbClr val="1A2744"/>
            </a:solidFill>
            <a:prstDash val="solid"/>
          </a:ln>
        </p:spPr>
      </p:sp>
      <p:sp>
        <p:nvSpPr>
          <p:cNvPr id="22" name="Text 19"/>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2026.06.01–06.07</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Top Stories &amp; Industry</a:t>
            </a:r>
            <a:endParaRPr lang="en-US" sz="2000" dirty="0"/>
          </a:p>
        </p:txBody>
      </p:sp>
      <p:sp>
        <p:nvSpPr>
          <p:cNvPr id="4" name="Shape 2"/>
          <p:cNvSpPr/>
          <p:nvPr/>
        </p:nvSpPr>
        <p:spPr>
          <a:xfrm>
            <a:off x="365760" y="822960"/>
            <a:ext cx="4114800" cy="374904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5" name="Text 3"/>
          <p:cNvSpPr/>
          <p:nvPr/>
        </p:nvSpPr>
        <p:spPr>
          <a:xfrm>
            <a:off x="548640" y="868680"/>
            <a:ext cx="3657600" cy="274320"/>
          </a:xfrm>
          <a:prstGeom prst="rect">
            <a:avLst/>
          </a:prstGeom>
          <a:noFill/>
          <a:ln/>
        </p:spPr>
        <p:txBody>
          <a:bodyPr wrap="square" lIns="0" tIns="0" rIns="0" bIns="0" rtlCol="0" anchor="ctr"/>
          <a:lstStyle/>
          <a:p>
            <a:pPr indent="0" marL="0">
              <a:buNone/>
            </a:pPr>
            <a:r>
              <a:rPr lang="en-US" sz="1300" b="1" dirty="0">
                <a:solidFill>
                  <a:srgbClr val="1A2744"/>
                </a:solidFill>
              </a:rPr>
              <a:t>TOP 5 STORIES</a:t>
            </a:r>
            <a:endParaRPr lang="en-US" sz="1300" dirty="0"/>
          </a:p>
        </p:txBody>
      </p:sp>
      <p:sp>
        <p:nvSpPr>
          <p:cNvPr id="6" name="Shape 4"/>
          <p:cNvSpPr/>
          <p:nvPr/>
        </p:nvSpPr>
        <p:spPr>
          <a:xfrm>
            <a:off x="594360" y="1243584"/>
            <a:ext cx="274320" cy="274320"/>
          </a:xfrm>
          <a:prstGeom prst="ellipse">
            <a:avLst/>
          </a:prstGeom>
          <a:solidFill>
            <a:srgbClr val="C9A96E"/>
          </a:solidFill>
          <a:ln w="12700">
            <a:solidFill>
              <a:srgbClr val="C9A96E"/>
            </a:solidFill>
            <a:prstDash val="solid"/>
          </a:ln>
        </p:spPr>
      </p:sp>
      <p:sp>
        <p:nvSpPr>
          <p:cNvPr id="7" name="Text 5"/>
          <p:cNvSpPr/>
          <p:nvPr/>
        </p:nvSpPr>
        <p:spPr>
          <a:xfrm>
            <a:off x="594360" y="12435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8" name="Text 6"/>
          <p:cNvSpPr/>
          <p:nvPr/>
        </p:nvSpPr>
        <p:spPr>
          <a:xfrm>
            <a:off x="1005840" y="1225296"/>
            <a:ext cx="3200400" cy="210312"/>
          </a:xfrm>
          <a:prstGeom prst="rect">
            <a:avLst/>
          </a:prstGeom>
          <a:noFill/>
          <a:ln/>
        </p:spPr>
        <p:txBody>
          <a:bodyPr wrap="square" lIns="0" tIns="0" rIns="0" bIns="0" rtlCol="0" anchor="ctr"/>
          <a:lstStyle/>
          <a:p>
            <a:pPr indent="0" marL="0">
              <a:buNone/>
            </a:pPr>
            <a:r>
              <a:rPr lang="en-US" sz="1020" b="1" dirty="0">
                <a:solidFill>
                  <a:srgbClr val="2D3748"/>
                </a:solidFill>
              </a:rPr>
              <a:t>Market selloff pushes Fear &amp; Greed to 12</a:t>
            </a:r>
            <a:endParaRPr lang="en-US" sz="1020" dirty="0"/>
          </a:p>
        </p:txBody>
      </p:sp>
      <p:sp>
        <p:nvSpPr>
          <p:cNvPr id="9" name="Text 7"/>
          <p:cNvSpPr/>
          <p:nvPr/>
        </p:nvSpPr>
        <p:spPr>
          <a:xfrm>
            <a:off x="1005840" y="1444752"/>
            <a:ext cx="3200400" cy="210312"/>
          </a:xfrm>
          <a:prstGeom prst="rect">
            <a:avLst/>
          </a:prstGeom>
          <a:noFill/>
          <a:ln/>
        </p:spPr>
        <p:txBody>
          <a:bodyPr wrap="square" lIns="0" tIns="0" rIns="0" bIns="0" rtlCol="0" anchor="ctr"/>
          <a:lstStyle/>
          <a:p>
            <a:pPr indent="0" marL="0">
              <a:buNone/>
            </a:pPr>
            <a:r>
              <a:rPr lang="en-US" sz="850" dirty="0">
                <a:solidFill>
                  <a:srgbClr val="8C95A6"/>
                </a:solidFill>
              </a:rPr>
              <a:t>ETF outflows and a $1.8B liquidation dominated sentiment</a:t>
            </a:r>
            <a:endParaRPr lang="en-US" sz="850" dirty="0"/>
          </a:p>
        </p:txBody>
      </p:sp>
      <p:sp>
        <p:nvSpPr>
          <p:cNvPr id="10" name="Shape 8"/>
          <p:cNvSpPr/>
          <p:nvPr/>
        </p:nvSpPr>
        <p:spPr>
          <a:xfrm>
            <a:off x="594360" y="1901952"/>
            <a:ext cx="274320" cy="274320"/>
          </a:xfrm>
          <a:prstGeom prst="ellipse">
            <a:avLst/>
          </a:prstGeom>
          <a:solidFill>
            <a:srgbClr val="C9A96E"/>
          </a:solidFill>
          <a:ln w="12700">
            <a:solidFill>
              <a:srgbClr val="C9A96E"/>
            </a:solidFill>
            <a:prstDash val="solid"/>
          </a:ln>
        </p:spPr>
      </p:sp>
      <p:sp>
        <p:nvSpPr>
          <p:cNvPr id="11" name="Text 9"/>
          <p:cNvSpPr/>
          <p:nvPr/>
        </p:nvSpPr>
        <p:spPr>
          <a:xfrm>
            <a:off x="594360" y="19019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2" name="Text 10"/>
          <p:cNvSpPr/>
          <p:nvPr/>
        </p:nvSpPr>
        <p:spPr>
          <a:xfrm>
            <a:off x="1005840" y="1883664"/>
            <a:ext cx="3200400" cy="210312"/>
          </a:xfrm>
          <a:prstGeom prst="rect">
            <a:avLst/>
          </a:prstGeom>
          <a:noFill/>
          <a:ln/>
        </p:spPr>
        <p:txBody>
          <a:bodyPr wrap="square" lIns="0" tIns="0" rIns="0" bIns="0" rtlCol="0" anchor="ctr"/>
          <a:lstStyle/>
          <a:p>
            <a:pPr indent="0" marL="0">
              <a:buNone/>
            </a:pPr>
            <a:r>
              <a:rPr lang="en-US" sz="1020" b="1" dirty="0">
                <a:solidFill>
                  <a:srgbClr val="2D3748"/>
                </a:solidFill>
              </a:rPr>
              <a:t>SEC launches Project Crypto</a:t>
            </a:r>
            <a:endParaRPr lang="en-US" sz="1020" dirty="0"/>
          </a:p>
        </p:txBody>
      </p:sp>
      <p:sp>
        <p:nvSpPr>
          <p:cNvPr id="13" name="Text 11"/>
          <p:cNvSpPr/>
          <p:nvPr/>
        </p:nvSpPr>
        <p:spPr>
          <a:xfrm>
            <a:off x="1005840" y="2103120"/>
            <a:ext cx="3200400" cy="210312"/>
          </a:xfrm>
          <a:prstGeom prst="rect">
            <a:avLst/>
          </a:prstGeom>
          <a:noFill/>
          <a:ln/>
        </p:spPr>
        <p:txBody>
          <a:bodyPr wrap="square" lIns="0" tIns="0" rIns="0" bIns="0" rtlCol="0" anchor="ctr"/>
          <a:lstStyle/>
          <a:p>
            <a:pPr indent="0" marL="0">
              <a:buNone/>
            </a:pPr>
            <a:r>
              <a:rPr lang="en-US" sz="850" dirty="0">
                <a:solidFill>
                  <a:srgbClr val="8C95A6"/>
                </a:solidFill>
              </a:rPr>
              <a:t>Paul Atkins begins token taxonomy and rule rewrite</a:t>
            </a:r>
            <a:endParaRPr lang="en-US" sz="850" dirty="0"/>
          </a:p>
        </p:txBody>
      </p:sp>
      <p:sp>
        <p:nvSpPr>
          <p:cNvPr id="14" name="Shape 12"/>
          <p:cNvSpPr/>
          <p:nvPr/>
        </p:nvSpPr>
        <p:spPr>
          <a:xfrm>
            <a:off x="594360" y="2560320"/>
            <a:ext cx="274320" cy="274320"/>
          </a:xfrm>
          <a:prstGeom prst="ellipse">
            <a:avLst/>
          </a:prstGeom>
          <a:solidFill>
            <a:srgbClr val="C9A96E"/>
          </a:solidFill>
          <a:ln w="12700">
            <a:solidFill>
              <a:srgbClr val="C9A96E"/>
            </a:solidFill>
            <a:prstDash val="solid"/>
          </a:ln>
        </p:spPr>
      </p:sp>
      <p:sp>
        <p:nvSpPr>
          <p:cNvPr id="15" name="Text 13"/>
          <p:cNvSpPr/>
          <p:nvPr/>
        </p:nvSpPr>
        <p:spPr>
          <a:xfrm>
            <a:off x="594360" y="25603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6" name="Text 14"/>
          <p:cNvSpPr/>
          <p:nvPr/>
        </p:nvSpPr>
        <p:spPr>
          <a:xfrm>
            <a:off x="1005840" y="2542032"/>
            <a:ext cx="3200400" cy="210312"/>
          </a:xfrm>
          <a:prstGeom prst="rect">
            <a:avLst/>
          </a:prstGeom>
          <a:noFill/>
          <a:ln/>
        </p:spPr>
        <p:txBody>
          <a:bodyPr wrap="square" lIns="0" tIns="0" rIns="0" bIns="0" rtlCol="0" anchor="ctr"/>
          <a:lstStyle/>
          <a:p>
            <a:pPr indent="0" marL="0">
              <a:buNone/>
            </a:pPr>
            <a:r>
              <a:rPr lang="en-US" sz="1020" b="1" dirty="0">
                <a:solidFill>
                  <a:srgbClr val="2D3748"/>
                </a:solidFill>
              </a:rPr>
              <a:t>CFTC clears US perpetual framework</a:t>
            </a:r>
            <a:endParaRPr lang="en-US" sz="1020" dirty="0"/>
          </a:p>
        </p:txBody>
      </p:sp>
      <p:sp>
        <p:nvSpPr>
          <p:cNvPr id="17" name="Text 15"/>
          <p:cNvSpPr/>
          <p:nvPr/>
        </p:nvSpPr>
        <p:spPr>
          <a:xfrm>
            <a:off x="1005840" y="2761488"/>
            <a:ext cx="3200400" cy="210312"/>
          </a:xfrm>
          <a:prstGeom prst="rect">
            <a:avLst/>
          </a:prstGeom>
          <a:noFill/>
          <a:ln/>
        </p:spPr>
        <p:txBody>
          <a:bodyPr wrap="square" lIns="0" tIns="0" rIns="0" bIns="0" rtlCol="0" anchor="ctr"/>
          <a:lstStyle/>
          <a:p>
            <a:pPr indent="0" marL="0">
              <a:buNone/>
            </a:pPr>
            <a:r>
              <a:rPr lang="en-US" sz="850" dirty="0">
                <a:solidFill>
                  <a:srgbClr val="8C95A6"/>
                </a:solidFill>
              </a:rPr>
              <a:t>Coinbase / Kraken benefit; derivatives structure shifts</a:t>
            </a:r>
            <a:endParaRPr lang="en-US" sz="850" dirty="0"/>
          </a:p>
        </p:txBody>
      </p:sp>
      <p:sp>
        <p:nvSpPr>
          <p:cNvPr id="18" name="Shape 16"/>
          <p:cNvSpPr/>
          <p:nvPr/>
        </p:nvSpPr>
        <p:spPr>
          <a:xfrm>
            <a:off x="594360" y="3218688"/>
            <a:ext cx="274320" cy="274320"/>
          </a:xfrm>
          <a:prstGeom prst="ellipse">
            <a:avLst/>
          </a:prstGeom>
          <a:solidFill>
            <a:srgbClr val="C9A96E"/>
          </a:solidFill>
          <a:ln w="12700">
            <a:solidFill>
              <a:srgbClr val="C9A96E"/>
            </a:solidFill>
            <a:prstDash val="solid"/>
          </a:ln>
        </p:spPr>
      </p:sp>
      <p:sp>
        <p:nvSpPr>
          <p:cNvPr id="19" name="Text 17"/>
          <p:cNvSpPr/>
          <p:nvPr/>
        </p:nvSpPr>
        <p:spPr>
          <a:xfrm>
            <a:off x="594360" y="32186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0" name="Text 18"/>
          <p:cNvSpPr/>
          <p:nvPr/>
        </p:nvSpPr>
        <p:spPr>
          <a:xfrm>
            <a:off x="1005840" y="3200400"/>
            <a:ext cx="3200400" cy="210312"/>
          </a:xfrm>
          <a:prstGeom prst="rect">
            <a:avLst/>
          </a:prstGeom>
          <a:noFill/>
          <a:ln/>
        </p:spPr>
        <p:txBody>
          <a:bodyPr wrap="square" lIns="0" tIns="0" rIns="0" bIns="0" rtlCol="0" anchor="ctr"/>
          <a:lstStyle/>
          <a:p>
            <a:pPr indent="0" marL="0">
              <a:buNone/>
            </a:pPr>
            <a:r>
              <a:rPr lang="en-US" sz="1020" b="1" dirty="0">
                <a:solidFill>
                  <a:srgbClr val="2D3748"/>
                </a:solidFill>
              </a:rPr>
              <a:t>MoneyGram launches MGUSD</a:t>
            </a:r>
            <a:endParaRPr lang="en-US" sz="1020" dirty="0"/>
          </a:p>
        </p:txBody>
      </p:sp>
      <p:sp>
        <p:nvSpPr>
          <p:cNvPr id="21" name="Text 19"/>
          <p:cNvSpPr/>
          <p:nvPr/>
        </p:nvSpPr>
        <p:spPr>
          <a:xfrm>
            <a:off x="1005840" y="3419856"/>
            <a:ext cx="3200400" cy="210312"/>
          </a:xfrm>
          <a:prstGeom prst="rect">
            <a:avLst/>
          </a:prstGeom>
          <a:noFill/>
          <a:ln/>
        </p:spPr>
        <p:txBody>
          <a:bodyPr wrap="square" lIns="0" tIns="0" rIns="0" bIns="0" rtlCol="0" anchor="ctr"/>
          <a:lstStyle/>
          <a:p>
            <a:pPr indent="0" marL="0">
              <a:buNone/>
            </a:pPr>
            <a:r>
              <a:rPr lang="en-US" sz="850" dirty="0">
                <a:solidFill>
                  <a:srgbClr val="8C95A6"/>
                </a:solidFill>
              </a:rPr>
              <a:t>Stablecoins enter mainstream payments via self-custody wallet</a:t>
            </a:r>
            <a:endParaRPr lang="en-US" sz="850" dirty="0"/>
          </a:p>
        </p:txBody>
      </p:sp>
      <p:sp>
        <p:nvSpPr>
          <p:cNvPr id="22" name="Shape 20"/>
          <p:cNvSpPr/>
          <p:nvPr/>
        </p:nvSpPr>
        <p:spPr>
          <a:xfrm>
            <a:off x="594360" y="3877056"/>
            <a:ext cx="274320" cy="274320"/>
          </a:xfrm>
          <a:prstGeom prst="ellipse">
            <a:avLst/>
          </a:prstGeom>
          <a:solidFill>
            <a:srgbClr val="C9A96E"/>
          </a:solidFill>
          <a:ln w="12700">
            <a:solidFill>
              <a:srgbClr val="C9A96E"/>
            </a:solidFill>
            <a:prstDash val="solid"/>
          </a:ln>
        </p:spPr>
      </p:sp>
      <p:sp>
        <p:nvSpPr>
          <p:cNvPr id="23" name="Text 21"/>
          <p:cNvSpPr/>
          <p:nvPr/>
        </p:nvSpPr>
        <p:spPr>
          <a:xfrm>
            <a:off x="594360" y="38770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4" name="Text 22"/>
          <p:cNvSpPr/>
          <p:nvPr/>
        </p:nvSpPr>
        <p:spPr>
          <a:xfrm>
            <a:off x="1005840" y="3858768"/>
            <a:ext cx="3200400" cy="210312"/>
          </a:xfrm>
          <a:prstGeom prst="rect">
            <a:avLst/>
          </a:prstGeom>
          <a:noFill/>
          <a:ln/>
        </p:spPr>
        <p:txBody>
          <a:bodyPr wrap="square" lIns="0" tIns="0" rIns="0" bIns="0" rtlCol="0" anchor="ctr"/>
          <a:lstStyle/>
          <a:p>
            <a:pPr indent="0" marL="0">
              <a:buNone/>
            </a:pPr>
            <a:r>
              <a:rPr lang="en-US" sz="1020" b="1" dirty="0">
                <a:solidFill>
                  <a:srgbClr val="2D3748"/>
                </a:solidFill>
              </a:rPr>
              <a:t>IREN raises $3.65B to pivot into AI compute</a:t>
            </a:r>
            <a:endParaRPr lang="en-US" sz="1020" dirty="0"/>
          </a:p>
        </p:txBody>
      </p:sp>
      <p:sp>
        <p:nvSpPr>
          <p:cNvPr id="25" name="Text 23"/>
          <p:cNvSpPr/>
          <p:nvPr/>
        </p:nvSpPr>
        <p:spPr>
          <a:xfrm>
            <a:off x="1005840" y="4078224"/>
            <a:ext cx="3200400" cy="210312"/>
          </a:xfrm>
          <a:prstGeom prst="rect">
            <a:avLst/>
          </a:prstGeom>
          <a:noFill/>
          <a:ln/>
        </p:spPr>
        <p:txBody>
          <a:bodyPr wrap="square" lIns="0" tIns="0" rIns="0" bIns="0" rtlCol="0" anchor="ctr"/>
          <a:lstStyle/>
          <a:p>
            <a:pPr indent="0" marL="0">
              <a:buNone/>
            </a:pPr>
            <a:r>
              <a:rPr lang="en-US" sz="850" dirty="0">
                <a:solidFill>
                  <a:srgbClr val="8C95A6"/>
                </a:solidFill>
              </a:rPr>
              <a:t>Miner-to-AI infrastructure transition gains institutional support</a:t>
            </a:r>
            <a:endParaRPr lang="en-US" sz="850" dirty="0"/>
          </a:p>
        </p:txBody>
      </p:sp>
      <p:sp>
        <p:nvSpPr>
          <p:cNvPr id="26" name="Shape 24"/>
          <p:cNvSpPr/>
          <p:nvPr/>
        </p:nvSpPr>
        <p:spPr>
          <a:xfrm>
            <a:off x="4663440" y="822960"/>
            <a:ext cx="4114800" cy="178308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27" name="Shape 25"/>
          <p:cNvSpPr/>
          <p:nvPr/>
        </p:nvSpPr>
        <p:spPr>
          <a:xfrm>
            <a:off x="4663440" y="822960"/>
            <a:ext cx="4114800" cy="320040"/>
          </a:xfrm>
          <a:prstGeom prst="rect">
            <a:avLst/>
          </a:prstGeom>
          <a:solidFill>
            <a:srgbClr val="1A2744"/>
          </a:solidFill>
          <a:ln w="12700">
            <a:solidFill>
              <a:srgbClr val="1A2744"/>
            </a:solidFill>
            <a:prstDash val="solid"/>
          </a:ln>
        </p:spPr>
      </p:sp>
      <p:sp>
        <p:nvSpPr>
          <p:cNvPr id="28" name="Text 26"/>
          <p:cNvSpPr/>
          <p:nvPr/>
        </p:nvSpPr>
        <p:spPr>
          <a:xfrm>
            <a:off x="4846320" y="822960"/>
            <a:ext cx="3657600" cy="320040"/>
          </a:xfrm>
          <a:prstGeom prst="rect">
            <a:avLst/>
          </a:prstGeom>
          <a:noFill/>
          <a:ln/>
        </p:spPr>
        <p:txBody>
          <a:bodyPr wrap="square" lIns="0" tIns="0" rIns="0" bIns="0" rtlCol="0" anchor="ctr"/>
          <a:lstStyle/>
          <a:p>
            <a:pPr indent="0" marL="0">
              <a:buNone/>
            </a:pPr>
            <a:r>
              <a:rPr lang="en-US" sz="1100" b="1" dirty="0">
                <a:solidFill>
                  <a:srgbClr val="FFFFFF"/>
                </a:solidFill>
              </a:rPr>
              <a:t>Layer 1 &amp; Layer 2</a:t>
            </a:r>
            <a:endParaRPr lang="en-US" sz="1100" dirty="0"/>
          </a:p>
        </p:txBody>
      </p:sp>
      <p:sp>
        <p:nvSpPr>
          <p:cNvPr id="29" name="Text 27"/>
          <p:cNvSpPr/>
          <p:nvPr/>
        </p:nvSpPr>
        <p:spPr>
          <a:xfrm>
            <a:off x="4846320" y="1207008"/>
            <a:ext cx="3703320" cy="1280160"/>
          </a:xfrm>
          <a:prstGeom prst="rect">
            <a:avLst/>
          </a:prstGeom>
          <a:noFill/>
          <a:ln/>
        </p:spPr>
        <p:txBody>
          <a:bodyPr wrap="square" lIns="0" tIns="0" rIns="0" bIns="0" rtlCol="0" anchor="ctr"/>
          <a:lstStyle/>
          <a:p>
            <a:pPr marL="342900" indent="-342900">
              <a:spcAft>
                <a:spcPts val="400"/>
              </a:spcAft>
              <a:buSzPct val="100000"/>
              <a:buChar char="•"/>
            </a:pPr>
            <a:r>
              <a:rPr lang="en-US" sz="930" dirty="0">
                <a:solidFill>
                  <a:srgbClr val="2D3748"/>
                </a:solidFill>
              </a:rPr>
              <a:t>Movement relaunched from Ethereum L2 into a standalone L1 with Circle rails</a:t>
            </a:r>
            <a:endParaRPr lang="en-US" sz="930" dirty="0"/>
          </a:p>
          <a:p>
            <a:pPr marL="342900" indent="-342900">
              <a:spcAft>
                <a:spcPts val="400"/>
              </a:spcAft>
              <a:buSzPct val="100000"/>
              <a:buChar char="•"/>
            </a:pPr>
            <a:r>
              <a:rPr lang="en-US" sz="930" dirty="0">
                <a:solidFill>
                  <a:srgbClr val="2D3748"/>
                </a:solidFill>
              </a:rPr>
              <a:t>Base activated Azul and captured roughly 60% of L2 transaction volume</a:t>
            </a:r>
            <a:endParaRPr lang="en-US" sz="930" dirty="0"/>
          </a:p>
          <a:p>
            <a:pPr marL="342900" indent="-342900">
              <a:spcAft>
                <a:spcPts val="400"/>
              </a:spcAft>
              <a:buSzPct val="100000"/>
              <a:buChar char="•"/>
            </a:pPr>
            <a:r>
              <a:rPr lang="en-US" sz="930" dirty="0">
                <a:solidFill>
                  <a:srgbClr val="2D3748"/>
                </a:solidFill>
              </a:rPr>
              <a:t>Solana shipped native subscriptions and allowances for on-chain payments</a:t>
            </a:r>
            <a:endParaRPr lang="en-US" sz="930" dirty="0"/>
          </a:p>
          <a:p>
            <a:pPr marL="342900" indent="-342900">
              <a:spcAft>
                <a:spcPts val="400"/>
              </a:spcAft>
              <a:buSzPct val="100000"/>
              <a:buChar char="•"/>
            </a:pPr>
            <a:r>
              <a:rPr lang="en-US" sz="930" dirty="0">
                <a:solidFill>
                  <a:srgbClr val="2D3748"/>
                </a:solidFill>
              </a:rPr>
              <a:t>Sui suffered two outage events after an upgrade, highlighting stability risk</a:t>
            </a:r>
            <a:endParaRPr lang="en-US" sz="930" dirty="0"/>
          </a:p>
        </p:txBody>
      </p:sp>
      <p:sp>
        <p:nvSpPr>
          <p:cNvPr id="30" name="Shape 28"/>
          <p:cNvSpPr/>
          <p:nvPr/>
        </p:nvSpPr>
        <p:spPr>
          <a:xfrm>
            <a:off x="4663440" y="2788920"/>
            <a:ext cx="4114800" cy="178308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31" name="Shape 29"/>
          <p:cNvSpPr/>
          <p:nvPr/>
        </p:nvSpPr>
        <p:spPr>
          <a:xfrm>
            <a:off x="4663440" y="2788920"/>
            <a:ext cx="4114800" cy="320040"/>
          </a:xfrm>
          <a:prstGeom prst="rect">
            <a:avLst/>
          </a:prstGeom>
          <a:solidFill>
            <a:srgbClr val="1A2744"/>
          </a:solidFill>
          <a:ln w="12700">
            <a:solidFill>
              <a:srgbClr val="1A2744"/>
            </a:solidFill>
            <a:prstDash val="solid"/>
          </a:ln>
        </p:spPr>
      </p:sp>
      <p:sp>
        <p:nvSpPr>
          <p:cNvPr id="32" name="Text 30"/>
          <p:cNvSpPr/>
          <p:nvPr/>
        </p:nvSpPr>
        <p:spPr>
          <a:xfrm>
            <a:off x="4846320" y="2788920"/>
            <a:ext cx="3657600" cy="320040"/>
          </a:xfrm>
          <a:prstGeom prst="rect">
            <a:avLst/>
          </a:prstGeom>
          <a:noFill/>
          <a:ln/>
        </p:spPr>
        <p:txBody>
          <a:bodyPr wrap="square" lIns="0" tIns="0" rIns="0" bIns="0" rtlCol="0" anchor="ctr"/>
          <a:lstStyle/>
          <a:p>
            <a:pPr indent="0" marL="0">
              <a:buNone/>
            </a:pPr>
            <a:r>
              <a:rPr lang="en-US" sz="1100" b="1" dirty="0">
                <a:solidFill>
                  <a:srgbClr val="FFFFFF"/>
                </a:solidFill>
              </a:rPr>
              <a:t>DeFi &amp; Perp DEXes</a:t>
            </a:r>
            <a:endParaRPr lang="en-US" sz="1100" dirty="0"/>
          </a:p>
        </p:txBody>
      </p:sp>
      <p:sp>
        <p:nvSpPr>
          <p:cNvPr id="33" name="Text 31"/>
          <p:cNvSpPr/>
          <p:nvPr/>
        </p:nvSpPr>
        <p:spPr>
          <a:xfrm>
            <a:off x="4846320" y="3172968"/>
            <a:ext cx="3703320" cy="1280160"/>
          </a:xfrm>
          <a:prstGeom prst="rect">
            <a:avLst/>
          </a:prstGeom>
          <a:noFill/>
          <a:ln/>
        </p:spPr>
        <p:txBody>
          <a:bodyPr wrap="square" lIns="0" tIns="0" rIns="0" bIns="0" rtlCol="0" anchor="ctr"/>
          <a:lstStyle/>
          <a:p>
            <a:pPr marL="342900" indent="-342900">
              <a:spcAft>
                <a:spcPts val="400"/>
              </a:spcAft>
              <a:buSzPct val="100000"/>
              <a:buChar char="•"/>
            </a:pPr>
            <a:r>
              <a:rPr lang="en-US" sz="930" dirty="0">
                <a:solidFill>
                  <a:srgbClr val="2D3748"/>
                </a:solidFill>
              </a:rPr>
              <a:t>Ether.fi allocated $100M into a Plume RWA vault, deepening institutional yield</a:t>
            </a:r>
            <a:endParaRPr lang="en-US" sz="930" dirty="0"/>
          </a:p>
          <a:p>
            <a:pPr marL="342900" indent="-342900">
              <a:spcAft>
                <a:spcPts val="400"/>
              </a:spcAft>
              <a:buSzPct val="100000"/>
              <a:buChar char="•"/>
            </a:pPr>
            <a:r>
              <a:rPr lang="en-US" sz="930" dirty="0">
                <a:solidFill>
                  <a:srgbClr val="2D3748"/>
                </a:solidFill>
              </a:rPr>
              <a:t>Hyperion unwound $29M after USDH sunset, exposing fragile stacked-yield design</a:t>
            </a:r>
            <a:endParaRPr lang="en-US" sz="930" dirty="0"/>
          </a:p>
          <a:p>
            <a:pPr marL="342900" indent="-342900">
              <a:spcAft>
                <a:spcPts val="400"/>
              </a:spcAft>
              <a:buSzPct val="100000"/>
              <a:buChar char="•"/>
            </a:pPr>
            <a:r>
              <a:rPr lang="en-US" sz="930" dirty="0">
                <a:solidFill>
                  <a:srgbClr val="2D3748"/>
                </a:solidFill>
              </a:rPr>
              <a:t>Veda x Privy productized yield infrastructure for developers</a:t>
            </a:r>
            <a:endParaRPr lang="en-US" sz="930" dirty="0"/>
          </a:p>
          <a:p>
            <a:pPr marL="342900" indent="-342900">
              <a:spcAft>
                <a:spcPts val="400"/>
              </a:spcAft>
              <a:buSzPct val="100000"/>
              <a:buChar char="•"/>
            </a:pPr>
            <a:r>
              <a:rPr lang="en-US" sz="930" dirty="0">
                <a:solidFill>
                  <a:srgbClr val="2D3748"/>
                </a:solidFill>
              </a:rPr>
              <a:t>Hyperliquid reached 7.5% global perp share, confirming pro traders moving on-chain</a:t>
            </a:r>
            <a:endParaRPr lang="en-US" sz="930" dirty="0"/>
          </a:p>
        </p:txBody>
      </p:sp>
      <p:sp>
        <p:nvSpPr>
          <p:cNvPr id="34" name="Shape 32"/>
          <p:cNvSpPr/>
          <p:nvPr/>
        </p:nvSpPr>
        <p:spPr>
          <a:xfrm>
            <a:off x="0" y="4800600"/>
            <a:ext cx="9144000" cy="342900"/>
          </a:xfrm>
          <a:prstGeom prst="rect">
            <a:avLst/>
          </a:prstGeom>
          <a:solidFill>
            <a:srgbClr val="1A2744"/>
          </a:solidFill>
          <a:ln w="12700">
            <a:solidFill>
              <a:srgbClr val="1A2744"/>
            </a:solidFill>
            <a:prstDash val="solid"/>
          </a:ln>
        </p:spPr>
      </p:sp>
      <p:sp>
        <p:nvSpPr>
          <p:cNvPr id="35" name="Text 33"/>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2026.06.01–06.07</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Regulation &amp; Fundraising</a:t>
            </a:r>
            <a:endParaRPr lang="en-US" sz="2000" dirty="0"/>
          </a:p>
        </p:txBody>
      </p:sp>
      <p:sp>
        <p:nvSpPr>
          <p:cNvPr id="4" name="Shape 2"/>
          <p:cNvSpPr/>
          <p:nvPr/>
        </p:nvSpPr>
        <p:spPr>
          <a:xfrm>
            <a:off x="365760" y="822960"/>
            <a:ext cx="4114800" cy="374904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365760" y="822960"/>
            <a:ext cx="54864" cy="3749040"/>
          </a:xfrm>
          <a:prstGeom prst="rect">
            <a:avLst/>
          </a:prstGeom>
          <a:solidFill>
            <a:srgbClr val="C9A96E"/>
          </a:solidFill>
          <a:ln w="12700">
            <a:solidFill>
              <a:srgbClr val="C9A96E"/>
            </a:solidFill>
            <a:prstDash val="solid"/>
          </a:ln>
        </p:spPr>
      </p:sp>
      <p:sp>
        <p:nvSpPr>
          <p:cNvPr id="6" name="Text 4"/>
          <p:cNvSpPr/>
          <p:nvPr/>
        </p:nvSpPr>
        <p:spPr>
          <a:xfrm>
            <a:off x="640080" y="868680"/>
            <a:ext cx="3657600" cy="274320"/>
          </a:xfrm>
          <a:prstGeom prst="rect">
            <a:avLst/>
          </a:prstGeom>
          <a:noFill/>
          <a:ln/>
        </p:spPr>
        <p:txBody>
          <a:bodyPr wrap="square" lIns="0" tIns="0" rIns="0" bIns="0" rtlCol="0" anchor="ctr"/>
          <a:lstStyle/>
          <a:p>
            <a:pPr indent="0" marL="0">
              <a:buNone/>
            </a:pPr>
            <a:r>
              <a:rPr lang="en-US" sz="1400" b="1" dirty="0">
                <a:solidFill>
                  <a:srgbClr val="1A2744"/>
                </a:solidFill>
              </a:rPr>
              <a:t>Regulation &amp; Policy</a:t>
            </a:r>
            <a:endParaRPr lang="en-US" sz="1400" dirty="0"/>
          </a:p>
        </p:txBody>
      </p:sp>
      <p:sp>
        <p:nvSpPr>
          <p:cNvPr id="7" name="Text 5"/>
          <p:cNvSpPr/>
          <p:nvPr/>
        </p:nvSpPr>
        <p:spPr>
          <a:xfrm>
            <a:off x="640080" y="1307592"/>
            <a:ext cx="3657600" cy="201168"/>
          </a:xfrm>
          <a:prstGeom prst="rect">
            <a:avLst/>
          </a:prstGeom>
          <a:noFill/>
          <a:ln/>
        </p:spPr>
        <p:txBody>
          <a:bodyPr wrap="square" lIns="0" tIns="0" rIns="0" bIns="0" rtlCol="0" anchor="ctr"/>
          <a:lstStyle/>
          <a:p>
            <a:pPr indent="0" marL="0">
              <a:buNone/>
            </a:pPr>
            <a:r>
              <a:rPr lang="en-US" sz="1030" b="1" dirty="0">
                <a:solidFill>
                  <a:srgbClr val="2D3748"/>
                </a:solidFill>
              </a:rPr>
              <a:t>SEC Project Crypto</a:t>
            </a:r>
            <a:endParaRPr lang="en-US" sz="1030" dirty="0"/>
          </a:p>
        </p:txBody>
      </p:sp>
      <p:sp>
        <p:nvSpPr>
          <p:cNvPr id="8" name="Text 6"/>
          <p:cNvSpPr/>
          <p:nvPr/>
        </p:nvSpPr>
        <p:spPr>
          <a:xfrm>
            <a:off x="640080" y="1517904"/>
            <a:ext cx="3657600" cy="219456"/>
          </a:xfrm>
          <a:prstGeom prst="rect">
            <a:avLst/>
          </a:prstGeom>
          <a:noFill/>
          <a:ln/>
        </p:spPr>
        <p:txBody>
          <a:bodyPr wrap="square" lIns="0" tIns="0" rIns="0" bIns="0" rtlCol="0" anchor="ctr"/>
          <a:lstStyle/>
          <a:p>
            <a:pPr indent="0" marL="0">
              <a:buNone/>
            </a:pPr>
            <a:r>
              <a:rPr lang="en-US" sz="890" dirty="0">
                <a:solidFill>
                  <a:srgbClr val="8C95A6"/>
                </a:solidFill>
              </a:rPr>
              <a:t>Agency-wide rewrite to define token taxonomy and DLT legal certainty</a:t>
            </a:r>
            <a:endParaRPr lang="en-US" sz="890" dirty="0"/>
          </a:p>
        </p:txBody>
      </p:sp>
      <p:sp>
        <p:nvSpPr>
          <p:cNvPr id="9" name="Text 7"/>
          <p:cNvSpPr/>
          <p:nvPr/>
        </p:nvSpPr>
        <p:spPr>
          <a:xfrm>
            <a:off x="640080" y="1901952"/>
            <a:ext cx="3657600" cy="201168"/>
          </a:xfrm>
          <a:prstGeom prst="rect">
            <a:avLst/>
          </a:prstGeom>
          <a:noFill/>
          <a:ln/>
        </p:spPr>
        <p:txBody>
          <a:bodyPr wrap="square" lIns="0" tIns="0" rIns="0" bIns="0" rtlCol="0" anchor="ctr"/>
          <a:lstStyle/>
          <a:p>
            <a:pPr indent="0" marL="0">
              <a:buNone/>
            </a:pPr>
            <a:r>
              <a:rPr lang="en-US" sz="1030" b="1" dirty="0">
                <a:solidFill>
                  <a:srgbClr val="2D3748"/>
                </a:solidFill>
              </a:rPr>
              <a:t>US perpetual framework</a:t>
            </a:r>
            <a:endParaRPr lang="en-US" sz="1030" dirty="0"/>
          </a:p>
        </p:txBody>
      </p:sp>
      <p:sp>
        <p:nvSpPr>
          <p:cNvPr id="10" name="Text 8"/>
          <p:cNvSpPr/>
          <p:nvPr/>
        </p:nvSpPr>
        <p:spPr>
          <a:xfrm>
            <a:off x="640080" y="2112264"/>
            <a:ext cx="3657600" cy="219456"/>
          </a:xfrm>
          <a:prstGeom prst="rect">
            <a:avLst/>
          </a:prstGeom>
          <a:noFill/>
          <a:ln/>
        </p:spPr>
        <p:txBody>
          <a:bodyPr wrap="square" lIns="0" tIns="0" rIns="0" bIns="0" rtlCol="0" anchor="ctr"/>
          <a:lstStyle/>
          <a:p>
            <a:pPr indent="0" marL="0">
              <a:buNone/>
            </a:pPr>
            <a:r>
              <a:rPr lang="en-US" sz="890" dirty="0">
                <a:solidFill>
                  <a:srgbClr val="8C95A6"/>
                </a:solidFill>
              </a:rPr>
              <a:t>CFTC formalized the first US crypto perpetual regime; Coinbase/Kraken moving fast</a:t>
            </a:r>
            <a:endParaRPr lang="en-US" sz="890" dirty="0"/>
          </a:p>
        </p:txBody>
      </p:sp>
      <p:sp>
        <p:nvSpPr>
          <p:cNvPr id="11" name="Text 9"/>
          <p:cNvSpPr/>
          <p:nvPr/>
        </p:nvSpPr>
        <p:spPr>
          <a:xfrm>
            <a:off x="640080" y="2496312"/>
            <a:ext cx="3657600" cy="201168"/>
          </a:xfrm>
          <a:prstGeom prst="rect">
            <a:avLst/>
          </a:prstGeom>
          <a:noFill/>
          <a:ln/>
        </p:spPr>
        <p:txBody>
          <a:bodyPr wrap="square" lIns="0" tIns="0" rIns="0" bIns="0" rtlCol="0" anchor="ctr"/>
          <a:lstStyle/>
          <a:p>
            <a:pPr indent="0" marL="0">
              <a:buNone/>
            </a:pPr>
            <a:r>
              <a:rPr lang="en-US" sz="1030" b="1" dirty="0">
                <a:solidFill>
                  <a:srgbClr val="2D3748"/>
                </a:solidFill>
              </a:rPr>
              <a:t>Clarity Act lobbying</a:t>
            </a:r>
            <a:endParaRPr lang="en-US" sz="1030" dirty="0"/>
          </a:p>
        </p:txBody>
      </p:sp>
      <p:sp>
        <p:nvSpPr>
          <p:cNvPr id="12" name="Text 10"/>
          <p:cNvSpPr/>
          <p:nvPr/>
        </p:nvSpPr>
        <p:spPr>
          <a:xfrm>
            <a:off x="640080" y="2706624"/>
            <a:ext cx="3657600" cy="219456"/>
          </a:xfrm>
          <a:prstGeom prst="rect">
            <a:avLst/>
          </a:prstGeom>
          <a:noFill/>
          <a:ln/>
        </p:spPr>
        <p:txBody>
          <a:bodyPr wrap="square" lIns="0" tIns="0" rIns="0" bIns="0" rtlCol="0" anchor="ctr"/>
          <a:lstStyle/>
          <a:p>
            <a:pPr indent="0" marL="0">
              <a:buNone/>
            </a:pPr>
            <a:r>
              <a:rPr lang="en-US" sz="890" dirty="0">
                <a:solidFill>
                  <a:srgbClr val="8C95A6"/>
                </a:solidFill>
              </a:rPr>
              <a:t>Developer exemption for non-custodial software became a focal point</a:t>
            </a:r>
            <a:endParaRPr lang="en-US" sz="890" dirty="0"/>
          </a:p>
        </p:txBody>
      </p:sp>
      <p:sp>
        <p:nvSpPr>
          <p:cNvPr id="13" name="Text 11"/>
          <p:cNvSpPr/>
          <p:nvPr/>
        </p:nvSpPr>
        <p:spPr>
          <a:xfrm>
            <a:off x="640080" y="3090672"/>
            <a:ext cx="3657600" cy="201168"/>
          </a:xfrm>
          <a:prstGeom prst="rect">
            <a:avLst/>
          </a:prstGeom>
          <a:noFill/>
          <a:ln/>
        </p:spPr>
        <p:txBody>
          <a:bodyPr wrap="square" lIns="0" tIns="0" rIns="0" bIns="0" rtlCol="0" anchor="ctr"/>
          <a:lstStyle/>
          <a:p>
            <a:pPr indent="0" marL="0">
              <a:buNone/>
            </a:pPr>
            <a:r>
              <a:rPr lang="en-US" sz="1030" b="1" dirty="0">
                <a:solidFill>
                  <a:srgbClr val="2D3748"/>
                </a:solidFill>
              </a:rPr>
              <a:t>MiCA deadline pressure</a:t>
            </a:r>
            <a:endParaRPr lang="en-US" sz="1030" dirty="0"/>
          </a:p>
        </p:txBody>
      </p:sp>
      <p:sp>
        <p:nvSpPr>
          <p:cNvPr id="14" name="Text 12"/>
          <p:cNvSpPr/>
          <p:nvPr/>
        </p:nvSpPr>
        <p:spPr>
          <a:xfrm>
            <a:off x="640080" y="3300984"/>
            <a:ext cx="3657600" cy="219456"/>
          </a:xfrm>
          <a:prstGeom prst="rect">
            <a:avLst/>
          </a:prstGeom>
          <a:noFill/>
          <a:ln/>
        </p:spPr>
        <p:txBody>
          <a:bodyPr wrap="square" lIns="0" tIns="0" rIns="0" bIns="0" rtlCol="0" anchor="ctr"/>
          <a:lstStyle/>
          <a:p>
            <a:pPr indent="0" marL="0">
              <a:buNone/>
            </a:pPr>
            <a:r>
              <a:rPr lang="en-US" sz="890" dirty="0">
                <a:solidFill>
                  <a:srgbClr val="8C95A6"/>
                </a:solidFill>
              </a:rPr>
              <a:t>Only ~18% of VASPs converted; USDT faces EU market-access pressure</a:t>
            </a:r>
            <a:endParaRPr lang="en-US" sz="890" dirty="0"/>
          </a:p>
        </p:txBody>
      </p:sp>
      <p:sp>
        <p:nvSpPr>
          <p:cNvPr id="15" name="Text 13"/>
          <p:cNvSpPr/>
          <p:nvPr/>
        </p:nvSpPr>
        <p:spPr>
          <a:xfrm>
            <a:off x="640080" y="3685032"/>
            <a:ext cx="3657600" cy="201168"/>
          </a:xfrm>
          <a:prstGeom prst="rect">
            <a:avLst/>
          </a:prstGeom>
          <a:noFill/>
          <a:ln/>
        </p:spPr>
        <p:txBody>
          <a:bodyPr wrap="square" lIns="0" tIns="0" rIns="0" bIns="0" rtlCol="0" anchor="ctr"/>
          <a:lstStyle/>
          <a:p>
            <a:pPr indent="0" marL="0">
              <a:buNone/>
            </a:pPr>
            <a:r>
              <a:rPr lang="en-US" sz="1030" b="1" dirty="0">
                <a:solidFill>
                  <a:srgbClr val="2D3748"/>
                </a:solidFill>
              </a:rPr>
              <a:t>Hong Kong full-chain coverage</a:t>
            </a:r>
            <a:endParaRPr lang="en-US" sz="1030" dirty="0"/>
          </a:p>
        </p:txBody>
      </p:sp>
      <p:sp>
        <p:nvSpPr>
          <p:cNvPr id="16" name="Text 14"/>
          <p:cNvSpPr/>
          <p:nvPr/>
        </p:nvSpPr>
        <p:spPr>
          <a:xfrm>
            <a:off x="640080" y="3895344"/>
            <a:ext cx="3657600" cy="219456"/>
          </a:xfrm>
          <a:prstGeom prst="rect">
            <a:avLst/>
          </a:prstGeom>
          <a:noFill/>
          <a:ln/>
        </p:spPr>
        <p:txBody>
          <a:bodyPr wrap="square" lIns="0" tIns="0" rIns="0" bIns="0" rtlCol="0" anchor="ctr"/>
          <a:lstStyle/>
          <a:p>
            <a:pPr indent="0" marL="0">
              <a:buNone/>
            </a:pPr>
            <a:r>
              <a:rPr lang="en-US" sz="890" dirty="0">
                <a:solidFill>
                  <a:srgbClr val="8C95A6"/>
                </a:solidFill>
              </a:rPr>
              <a:t>Licensing extends from exchanges into custody, advisory, and asset management</a:t>
            </a:r>
            <a:endParaRPr lang="en-US" sz="890" dirty="0"/>
          </a:p>
        </p:txBody>
      </p:sp>
      <p:sp>
        <p:nvSpPr>
          <p:cNvPr id="17" name="Shape 15"/>
          <p:cNvSpPr/>
          <p:nvPr/>
        </p:nvSpPr>
        <p:spPr>
          <a:xfrm>
            <a:off x="4663440" y="822960"/>
            <a:ext cx="4114800" cy="374904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18" name="Shape 16"/>
          <p:cNvSpPr/>
          <p:nvPr/>
        </p:nvSpPr>
        <p:spPr>
          <a:xfrm>
            <a:off x="4663440" y="822960"/>
            <a:ext cx="54864" cy="3749040"/>
          </a:xfrm>
          <a:prstGeom prst="rect">
            <a:avLst/>
          </a:prstGeom>
          <a:solidFill>
            <a:srgbClr val="C9A96E"/>
          </a:solidFill>
          <a:ln w="12700">
            <a:solidFill>
              <a:srgbClr val="C9A96E"/>
            </a:solidFill>
            <a:prstDash val="solid"/>
          </a:ln>
        </p:spPr>
      </p:sp>
      <p:sp>
        <p:nvSpPr>
          <p:cNvPr id="19" name="Text 17"/>
          <p:cNvSpPr/>
          <p:nvPr/>
        </p:nvSpPr>
        <p:spPr>
          <a:xfrm>
            <a:off x="4937760" y="868680"/>
            <a:ext cx="3657600" cy="274320"/>
          </a:xfrm>
          <a:prstGeom prst="rect">
            <a:avLst/>
          </a:prstGeom>
          <a:noFill/>
          <a:ln/>
        </p:spPr>
        <p:txBody>
          <a:bodyPr wrap="square" lIns="0" tIns="0" rIns="0" bIns="0" rtlCol="0" anchor="ctr"/>
          <a:lstStyle/>
          <a:p>
            <a:pPr indent="0" marL="0">
              <a:buNone/>
            </a:pPr>
            <a:r>
              <a:rPr lang="en-US" sz="1400" b="1" dirty="0">
                <a:solidFill>
                  <a:srgbClr val="1A2744"/>
                </a:solidFill>
              </a:rPr>
              <a:t>Fundraising &amp; M&amp;A</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325880"/>
          <a:ext cx="3749040" cy="914400"/>
        </p:xfrm>
        <a:graphic>
          <a:graphicData uri="http://schemas.openxmlformats.org/drawingml/2006/table">
            <a:tbl>
              <a:tblPr/>
              <a:tblGrid>
                <a:gridCol w="1188720"/>
                <a:gridCol w="868680"/>
                <a:gridCol w="1691640"/>
              </a:tblGrid>
              <a:tr h="274320">
                <a:tc>
                  <a:txBody>
                    <a:bodyPr/>
                    <a:lstStyle/>
                    <a:p>
                      <a:pPr indent="0" marL="0">
                        <a:buNone/>
                      </a:pPr>
                      <a:r>
                        <a:rPr lang="en-US" sz="950" b="1" dirty="0">
                          <a:solidFill>
                            <a:srgbClr val="FFFFFF"/>
                          </a:solidFill>
                        </a:rPr>
                        <a:t>Project</a:t>
                      </a:r>
                      <a:endParaRPr lang="en-US" sz="9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r" indent="0" marL="0">
                        <a:buNone/>
                      </a:pPr>
                      <a:r>
                        <a:rPr lang="en-US" sz="950" b="1" dirty="0">
                          <a:solidFill>
                            <a:srgbClr val="FFFFFF"/>
                          </a:solidFill>
                        </a:rPr>
                        <a:t>Amount</a:t>
                      </a:r>
                      <a:endParaRPr lang="en-US" sz="9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950" b="1" dirty="0">
                          <a:solidFill>
                            <a:srgbClr val="FFFFFF"/>
                          </a:solidFill>
                        </a:rPr>
                        <a:t>Notes</a:t>
                      </a:r>
                      <a:endParaRPr lang="en-US" sz="9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65176">
                <a:tc>
                  <a:txBody>
                    <a:bodyPr/>
                    <a:lstStyle/>
                    <a:p>
                      <a:pPr indent="0" marL="0">
                        <a:buNone/>
                      </a:pPr>
                      <a:r>
                        <a:rPr lang="en-US" sz="900" b="1" dirty="0">
                          <a:solidFill>
                            <a:srgbClr val="2D3748"/>
                          </a:solidFill>
                        </a:rPr>
                        <a:t>Robinhood / WonderFi</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2D3748"/>
                          </a:solidFill>
                        </a:rPr>
                        <a:t>$250M</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30" dirty="0">
                          <a:solidFill>
                            <a:srgbClr val="8C95A6"/>
                          </a:solidFill>
                        </a:rPr>
                        <a:t>Canadian regulated footprint</a:t>
                      </a:r>
                      <a:endParaRPr lang="en-US" sz="83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65176">
                <a:tc>
                  <a:txBody>
                    <a:bodyPr/>
                    <a:lstStyle/>
                    <a:p>
                      <a:pPr indent="0" marL="0">
                        <a:buNone/>
                      </a:pPr>
                      <a:r>
                        <a:rPr lang="en-US" sz="900" b="1" dirty="0">
                          <a:solidFill>
                            <a:srgbClr val="2D3748"/>
                          </a:solidFill>
                        </a:rPr>
                        <a:t>Ethena</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2D3748"/>
                          </a:solidFill>
                        </a:rPr>
                        <a:t>$182.5M</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30" dirty="0">
                          <a:solidFill>
                            <a:srgbClr val="8C95A6"/>
                          </a:solidFill>
                        </a:rPr>
                        <a:t>Binance Labs and Brevan Howard joined</a:t>
                      </a:r>
                      <a:endParaRPr lang="en-US" sz="83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65176">
                <a:tc>
                  <a:txBody>
                    <a:bodyPr/>
                    <a:lstStyle/>
                    <a:p>
                      <a:pPr indent="0" marL="0">
                        <a:buNone/>
                      </a:pPr>
                      <a:r>
                        <a:rPr lang="en-US" sz="900" b="1" dirty="0">
                          <a:solidFill>
                            <a:srgbClr val="2D3748"/>
                          </a:solidFill>
                        </a:rPr>
                        <a:t>SignalPlus</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2D3748"/>
                          </a:solidFill>
                        </a:rPr>
                        <a:t>$101M</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30" dirty="0">
                          <a:solidFill>
                            <a:srgbClr val="8C95A6"/>
                          </a:solidFill>
                        </a:rPr>
                        <a:t>Institutional derivatives infra</a:t>
                      </a:r>
                      <a:endParaRPr lang="en-US" sz="83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65176">
                <a:tc>
                  <a:txBody>
                    <a:bodyPr/>
                    <a:lstStyle/>
                    <a:p>
                      <a:pPr indent="0" marL="0">
                        <a:buNone/>
                      </a:pPr>
                      <a:r>
                        <a:rPr lang="en-US" sz="900" b="1" dirty="0">
                          <a:solidFill>
                            <a:srgbClr val="2D3748"/>
                          </a:solidFill>
                        </a:rPr>
                        <a:t>Cosmos Labs</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2D3748"/>
                          </a:solidFill>
                        </a:rPr>
                        <a:t>M&amp;A</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30" dirty="0">
                          <a:solidFill>
                            <a:srgbClr val="8C95A6"/>
                          </a:solidFill>
                        </a:rPr>
                        <a:t>Acquired Mintscan explorer</a:t>
                      </a:r>
                      <a:endParaRPr lang="en-US" sz="83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65176">
                <a:tc>
                  <a:txBody>
                    <a:bodyPr/>
                    <a:lstStyle/>
                    <a:p>
                      <a:pPr indent="0" marL="0">
                        <a:buNone/>
                      </a:pPr>
                      <a:r>
                        <a:rPr lang="en-US" sz="900" b="1" dirty="0">
                          <a:solidFill>
                            <a:srgbClr val="2D3748"/>
                          </a:solidFill>
                        </a:rPr>
                        <a:t>Squads</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2D3748"/>
                          </a:solidFill>
                        </a:rPr>
                        <a:t>$18M</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30" dirty="0">
                          <a:solidFill>
                            <a:srgbClr val="8C95A6"/>
                          </a:solidFill>
                        </a:rPr>
                        <a:t>Solana treasury / stablecoin stack</a:t>
                      </a:r>
                      <a:endParaRPr lang="en-US" sz="83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1" name="Shape 18"/>
          <p:cNvSpPr/>
          <p:nvPr/>
        </p:nvSpPr>
        <p:spPr>
          <a:xfrm>
            <a:off x="4846320" y="3154680"/>
            <a:ext cx="3749040" cy="713232"/>
          </a:xfrm>
          <a:prstGeom prst="rect">
            <a:avLst/>
          </a:prstGeom>
          <a:solidFill>
            <a:srgbClr val="FFF7E8"/>
          </a:solidFill>
          <a:ln w="12700">
            <a:solidFill>
              <a:srgbClr val="FFF7E8"/>
            </a:solidFill>
            <a:prstDash val="solid"/>
          </a:ln>
          <a:effectLst>
            <a:outerShdw sx="100000" sy="100000" kx="0" ky="0" algn="bl" rotWithShape="0" blurRad="50800" dist="25400" dir="8100000">
              <a:srgbClr val="000000">
                <a:alpha val="12000"/>
              </a:srgbClr>
            </a:outerShdw>
          </a:effectLst>
        </p:spPr>
      </p:sp>
      <p:sp>
        <p:nvSpPr>
          <p:cNvPr id="22" name="Shape 19"/>
          <p:cNvSpPr/>
          <p:nvPr/>
        </p:nvSpPr>
        <p:spPr>
          <a:xfrm>
            <a:off x="4846320" y="3154680"/>
            <a:ext cx="54864" cy="713232"/>
          </a:xfrm>
          <a:prstGeom prst="rect">
            <a:avLst/>
          </a:prstGeom>
          <a:solidFill>
            <a:srgbClr val="C9A96E"/>
          </a:solidFill>
          <a:ln w="12700">
            <a:solidFill>
              <a:srgbClr val="C9A96E"/>
            </a:solidFill>
            <a:prstDash val="solid"/>
          </a:ln>
        </p:spPr>
      </p:sp>
      <p:sp>
        <p:nvSpPr>
          <p:cNvPr id="23" name="Text 20"/>
          <p:cNvSpPr/>
          <p:nvPr/>
        </p:nvSpPr>
        <p:spPr>
          <a:xfrm>
            <a:off x="5074920" y="3246120"/>
            <a:ext cx="3291840" cy="457200"/>
          </a:xfrm>
          <a:prstGeom prst="rect">
            <a:avLst/>
          </a:prstGeom>
          <a:noFill/>
          <a:ln/>
        </p:spPr>
        <p:txBody>
          <a:bodyPr wrap="square" lIns="0" tIns="0" rIns="0" bIns="0" rtlCol="0" anchor="ctr"/>
          <a:lstStyle/>
          <a:p>
            <a:pPr indent="0" marL="0">
              <a:buNone/>
            </a:pPr>
            <a:r>
              <a:rPr lang="en-US" sz="920" dirty="0">
                <a:solidFill>
                  <a:srgbClr val="2D3748"/>
                </a:solidFill>
              </a:rPr>
              <a:t>Private capital continues to favor cash-flowing or infrastructure-positioned assets. Ethena and Robinhood/WonderFi were the clearest signals this week.</a:t>
            </a:r>
            <a:endParaRPr lang="en-US" sz="920" dirty="0"/>
          </a:p>
        </p:txBody>
      </p:sp>
      <p:sp>
        <p:nvSpPr>
          <p:cNvPr id="24" name="Shape 21"/>
          <p:cNvSpPr/>
          <p:nvPr/>
        </p:nvSpPr>
        <p:spPr>
          <a:xfrm>
            <a:off x="0" y="4800600"/>
            <a:ext cx="9144000" cy="342900"/>
          </a:xfrm>
          <a:prstGeom prst="rect">
            <a:avLst/>
          </a:prstGeom>
          <a:solidFill>
            <a:srgbClr val="1A2744"/>
          </a:solidFill>
          <a:ln w="12700">
            <a:solidFill>
              <a:srgbClr val="1A2744"/>
            </a:solidFill>
            <a:prstDash val="solid"/>
          </a:ln>
        </p:spPr>
      </p:sp>
      <p:sp>
        <p:nvSpPr>
          <p:cNvPr id="25" name="Text 22"/>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2026.06.01–06.07</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Security &amp; Sector Highlights</a:t>
            </a:r>
            <a:endParaRPr lang="en-US" sz="2000" dirty="0"/>
          </a:p>
        </p:txBody>
      </p:sp>
      <p:sp>
        <p:nvSpPr>
          <p:cNvPr id="4" name="Shape 2"/>
          <p:cNvSpPr/>
          <p:nvPr/>
        </p:nvSpPr>
        <p:spPr>
          <a:xfrm>
            <a:off x="365760" y="822960"/>
            <a:ext cx="4114800" cy="210312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365760" y="822960"/>
            <a:ext cx="4114800" cy="320040"/>
          </a:xfrm>
          <a:prstGeom prst="rect">
            <a:avLst/>
          </a:prstGeom>
          <a:solidFill>
            <a:srgbClr val="C53030"/>
          </a:solidFill>
          <a:ln w="12700">
            <a:solidFill>
              <a:srgbClr val="C53030"/>
            </a:solidFill>
            <a:prstDash val="solid"/>
          </a:ln>
        </p:spPr>
      </p:sp>
      <p:sp>
        <p:nvSpPr>
          <p:cNvPr id="6" name="Text 4"/>
          <p:cNvSpPr/>
          <p:nvPr/>
        </p:nvSpPr>
        <p:spPr>
          <a:xfrm>
            <a:off x="548640" y="822960"/>
            <a:ext cx="3749040" cy="320040"/>
          </a:xfrm>
          <a:prstGeom prst="rect">
            <a:avLst/>
          </a:prstGeom>
          <a:noFill/>
          <a:ln/>
        </p:spPr>
        <p:txBody>
          <a:bodyPr wrap="square" lIns="0" tIns="0" rIns="0" bIns="0" rtlCol="0" anchor="ctr"/>
          <a:lstStyle/>
          <a:p>
            <a:pPr indent="0" marL="0">
              <a:buNone/>
            </a:pPr>
            <a:r>
              <a:rPr lang="en-US" sz="1100" b="1" dirty="0">
                <a:solidFill>
                  <a:srgbClr val="FFFFFF"/>
                </a:solidFill>
              </a:rPr>
              <a:t>Security Incidents | Weekly Loss ~$10M+ disclosed</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3840480" cy="914400"/>
        </p:xfrm>
        <a:graphic>
          <a:graphicData uri="http://schemas.openxmlformats.org/drawingml/2006/table">
            <a:tbl>
              <a:tblPr/>
              <a:tblGrid>
                <a:gridCol w="1234440"/>
                <a:gridCol w="1005840"/>
                <a:gridCol w="1600200"/>
              </a:tblGrid>
              <a:tr h="256032">
                <a:tc>
                  <a:txBody>
                    <a:bodyPr/>
                    <a:lstStyle/>
                    <a:p>
                      <a:pPr indent="0" marL="0">
                        <a:buNone/>
                      </a:pPr>
                      <a:r>
                        <a:rPr lang="en-US" sz="900" b="1" dirty="0">
                          <a:solidFill>
                            <a:srgbClr val="2D3748"/>
                          </a:solidFill>
                        </a:rPr>
                        <a:t>Incident</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c>
                  <a:txBody>
                    <a:bodyPr/>
                    <a:lstStyle/>
                    <a:p>
                      <a:pPr algn="r" indent="0" marL="0">
                        <a:buNone/>
                      </a:pPr>
                      <a:r>
                        <a:rPr lang="en-US" sz="900" b="1" dirty="0">
                          <a:solidFill>
                            <a:srgbClr val="2D3748"/>
                          </a:solidFill>
                        </a:rPr>
                        <a:t>Loss</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c>
                  <a:txBody>
                    <a:bodyPr/>
                    <a:lstStyle/>
                    <a:p>
                      <a:pPr indent="0" marL="0">
                        <a:buNone/>
                      </a:pPr>
                      <a:r>
                        <a:rPr lang="en-US" sz="900" b="1" dirty="0">
                          <a:solidFill>
                            <a:srgbClr val="2D3748"/>
                          </a:solidFill>
                        </a:rPr>
                        <a:t>Vector</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r>
              <a:tr h="256032">
                <a:tc>
                  <a:txBody>
                    <a:bodyPr/>
                    <a:lstStyle/>
                    <a:p>
                      <a:pPr indent="0" marL="0">
                        <a:buNone/>
                      </a:pPr>
                      <a:r>
                        <a:rPr lang="en-US" sz="870" dirty="0">
                          <a:solidFill>
                            <a:srgbClr val="000000"/>
                          </a:solidFill>
                        </a:rPr>
                        <a:t>Gnosis Pay</a:t>
                      </a:r>
                      <a:endParaRPr lang="en-US" sz="87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870" dirty="0">
                          <a:solidFill>
                            <a:srgbClr val="C53030"/>
                          </a:solidFill>
                        </a:rPr>
                        <a:t>Undisclosed</a:t>
                      </a:r>
                      <a:endParaRPr lang="en-US" sz="87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20" dirty="0">
                          <a:solidFill>
                            <a:srgbClr val="8C95A6"/>
                          </a:solidFill>
                        </a:rPr>
                        <a:t>Zodiac delay module vulnerability</a:t>
                      </a:r>
                      <a:endParaRPr lang="en-US" sz="8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870" dirty="0">
                          <a:solidFill>
                            <a:srgbClr val="000000"/>
                          </a:solidFill>
                        </a:rPr>
                        <a:t>Stake DAO</a:t>
                      </a:r>
                      <a:endParaRPr lang="en-US" sz="87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870" dirty="0">
                          <a:solidFill>
                            <a:srgbClr val="C53030"/>
                          </a:solidFill>
                        </a:rPr>
                        <a:t>TBD</a:t>
                      </a:r>
                      <a:endParaRPr lang="en-US" sz="87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20" dirty="0">
                          <a:solidFill>
                            <a:srgbClr val="8C95A6"/>
                          </a:solidFill>
                        </a:rPr>
                        <a:t>Arbitrum deployer key compromise</a:t>
                      </a:r>
                      <a:endParaRPr lang="en-US" sz="8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870" dirty="0">
                          <a:solidFill>
                            <a:srgbClr val="000000"/>
                          </a:solidFill>
                        </a:rPr>
                        <a:t>Zcash</a:t>
                      </a:r>
                      <a:endParaRPr lang="en-US" sz="87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870" dirty="0">
                          <a:solidFill>
                            <a:srgbClr val="C53030"/>
                          </a:solidFill>
                        </a:rPr>
                        <a:t>$0</a:t>
                      </a:r>
                      <a:endParaRPr lang="en-US" sz="87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20" dirty="0">
                          <a:solidFill>
                            <a:srgbClr val="8C95A6"/>
                          </a:solidFill>
                        </a:rPr>
                        <a:t>Counterfeit bug disclosed; price flash crash</a:t>
                      </a:r>
                      <a:endParaRPr lang="en-US" sz="8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870" dirty="0">
                          <a:solidFill>
                            <a:srgbClr val="000000"/>
                          </a:solidFill>
                        </a:rPr>
                        <a:t>edgeX</a:t>
                      </a:r>
                      <a:endParaRPr lang="en-US" sz="87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870" dirty="0">
                          <a:solidFill>
                            <a:srgbClr val="C53030"/>
                          </a:solidFill>
                        </a:rPr>
                        <a:t>Undisclosed</a:t>
                      </a:r>
                      <a:endParaRPr lang="en-US" sz="87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20" dirty="0">
                          <a:solidFill>
                            <a:srgbClr val="8C95A6"/>
                          </a:solidFill>
                        </a:rPr>
                        <a:t>Low-float insider dump / manipulation</a:t>
                      </a:r>
                      <a:endParaRPr lang="en-US" sz="8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8" name="Shape 5"/>
          <p:cNvSpPr/>
          <p:nvPr/>
        </p:nvSpPr>
        <p:spPr>
          <a:xfrm>
            <a:off x="365760" y="3154680"/>
            <a:ext cx="4114800" cy="141732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9" name="Shape 6"/>
          <p:cNvSpPr/>
          <p:nvPr/>
        </p:nvSpPr>
        <p:spPr>
          <a:xfrm>
            <a:off x="365760" y="3154680"/>
            <a:ext cx="4114800" cy="320040"/>
          </a:xfrm>
          <a:prstGeom prst="rect">
            <a:avLst/>
          </a:prstGeom>
          <a:solidFill>
            <a:srgbClr val="1A2744"/>
          </a:solidFill>
          <a:ln w="12700">
            <a:solidFill>
              <a:srgbClr val="1A2744"/>
            </a:solidFill>
            <a:prstDash val="solid"/>
          </a:ln>
        </p:spPr>
      </p:sp>
      <p:sp>
        <p:nvSpPr>
          <p:cNvPr id="10" name="Text 7"/>
          <p:cNvSpPr/>
          <p:nvPr/>
        </p:nvSpPr>
        <p:spPr>
          <a:xfrm>
            <a:off x="548640" y="3154680"/>
            <a:ext cx="3657600" cy="320040"/>
          </a:xfrm>
          <a:prstGeom prst="rect">
            <a:avLst/>
          </a:prstGeom>
          <a:noFill/>
          <a:ln/>
        </p:spPr>
        <p:txBody>
          <a:bodyPr wrap="square" lIns="0" tIns="0" rIns="0" bIns="0" rtlCol="0" anchor="ctr"/>
          <a:lstStyle/>
          <a:p>
            <a:pPr indent="0" marL="0">
              <a:buNone/>
            </a:pPr>
            <a:r>
              <a:rPr lang="en-US" sz="1100" b="1" dirty="0">
                <a:solidFill>
                  <a:srgbClr val="FFFFFF"/>
                </a:solidFill>
              </a:rPr>
              <a:t>Stablecoins</a:t>
            </a:r>
            <a:endParaRPr lang="en-US" sz="1100" dirty="0"/>
          </a:p>
        </p:txBody>
      </p:sp>
      <p:sp>
        <p:nvSpPr>
          <p:cNvPr id="11" name="Text 8"/>
          <p:cNvSpPr/>
          <p:nvPr/>
        </p:nvSpPr>
        <p:spPr>
          <a:xfrm>
            <a:off x="548640" y="3538728"/>
            <a:ext cx="3703320" cy="91440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2D3748"/>
                </a:solidFill>
              </a:rPr>
              <a:t>MoneyGram launched MGUSD on Stellar with self-custody inside the consumer app</a:t>
            </a:r>
            <a:endParaRPr lang="en-US" sz="900" dirty="0"/>
          </a:p>
          <a:p>
            <a:pPr marL="342900" indent="-342900">
              <a:spcAft>
                <a:spcPts val="400"/>
              </a:spcAft>
              <a:buSzPct val="100000"/>
              <a:buChar char="•"/>
            </a:pPr>
            <a:r>
              <a:rPr lang="en-US" sz="900" dirty="0">
                <a:solidFill>
                  <a:srgbClr val="2D3748"/>
                </a:solidFill>
              </a:rPr>
              <a:t>RLUSD market cap reached $340M, expanding XRPL stablecoin relevance</a:t>
            </a:r>
            <a:endParaRPr lang="en-US" sz="900" dirty="0"/>
          </a:p>
          <a:p>
            <a:pPr marL="342900" indent="-342900">
              <a:spcAft>
                <a:spcPts val="400"/>
              </a:spcAft>
              <a:buSzPct val="100000"/>
              <a:buChar char="•"/>
            </a:pPr>
            <a:r>
              <a:rPr lang="en-US" sz="900" dirty="0">
                <a:solidFill>
                  <a:srgbClr val="2D3748"/>
                </a:solidFill>
              </a:rPr>
              <a:t>GENIUS Act comment window closes June 9; implementation detail may follow in July</a:t>
            </a:r>
            <a:endParaRPr lang="en-US" sz="900" dirty="0"/>
          </a:p>
        </p:txBody>
      </p:sp>
      <p:sp>
        <p:nvSpPr>
          <p:cNvPr id="12" name="Shape 9"/>
          <p:cNvSpPr/>
          <p:nvPr/>
        </p:nvSpPr>
        <p:spPr>
          <a:xfrm>
            <a:off x="4663440" y="822960"/>
            <a:ext cx="4114800" cy="169164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13" name="Shape 10"/>
          <p:cNvSpPr/>
          <p:nvPr/>
        </p:nvSpPr>
        <p:spPr>
          <a:xfrm>
            <a:off x="4663440" y="822960"/>
            <a:ext cx="4114800" cy="320040"/>
          </a:xfrm>
          <a:prstGeom prst="rect">
            <a:avLst/>
          </a:prstGeom>
          <a:solidFill>
            <a:srgbClr val="1A2744"/>
          </a:solidFill>
          <a:ln w="12700">
            <a:solidFill>
              <a:srgbClr val="1A2744"/>
            </a:solidFill>
            <a:prstDash val="solid"/>
          </a:ln>
        </p:spPr>
      </p:sp>
      <p:sp>
        <p:nvSpPr>
          <p:cNvPr id="14" name="Text 11"/>
          <p:cNvSpPr/>
          <p:nvPr/>
        </p:nvSpPr>
        <p:spPr>
          <a:xfrm>
            <a:off x="4846320" y="822960"/>
            <a:ext cx="3657600" cy="320040"/>
          </a:xfrm>
          <a:prstGeom prst="rect">
            <a:avLst/>
          </a:prstGeom>
          <a:noFill/>
          <a:ln/>
        </p:spPr>
        <p:txBody>
          <a:bodyPr wrap="square" lIns="0" tIns="0" rIns="0" bIns="0" rtlCol="0" anchor="ctr"/>
          <a:lstStyle/>
          <a:p>
            <a:pPr indent="0" marL="0">
              <a:buNone/>
            </a:pPr>
            <a:r>
              <a:rPr lang="en-US" sz="1100" b="1" dirty="0">
                <a:solidFill>
                  <a:srgbClr val="FFFFFF"/>
                </a:solidFill>
              </a:rPr>
              <a:t>AI x Crypto</a:t>
            </a:r>
            <a:endParaRPr lang="en-US" sz="1100" dirty="0"/>
          </a:p>
        </p:txBody>
      </p:sp>
      <p:sp>
        <p:nvSpPr>
          <p:cNvPr id="15" name="Text 12"/>
          <p:cNvSpPr/>
          <p:nvPr/>
        </p:nvSpPr>
        <p:spPr>
          <a:xfrm>
            <a:off x="4846320" y="1207008"/>
            <a:ext cx="3703320" cy="11887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2D3748"/>
                </a:solidFill>
              </a:rPr>
              <a:t>Travala launched an agentic travel protocol on Base with gasless USDC payments</a:t>
            </a:r>
            <a:endParaRPr lang="en-US" sz="900" dirty="0"/>
          </a:p>
          <a:p>
            <a:pPr marL="342900" indent="-342900">
              <a:spcAft>
                <a:spcPts val="400"/>
              </a:spcAft>
              <a:buSzPct val="100000"/>
              <a:buChar char="•"/>
            </a:pPr>
            <a:r>
              <a:rPr lang="en-US" sz="900" dirty="0">
                <a:solidFill>
                  <a:srgbClr val="2D3748"/>
                </a:solidFill>
              </a:rPr>
              <a:t>Messari's Agentic GDP frames AI agent value in measurable on-chain output</a:t>
            </a:r>
            <a:endParaRPr lang="en-US" sz="900" dirty="0"/>
          </a:p>
          <a:p>
            <a:pPr marL="342900" indent="-342900">
              <a:spcAft>
                <a:spcPts val="400"/>
              </a:spcAft>
              <a:buSzPct val="100000"/>
              <a:buChar char="•"/>
            </a:pPr>
            <a:r>
              <a:rPr lang="en-US" sz="900" dirty="0">
                <a:solidFill>
                  <a:srgbClr val="2D3748"/>
                </a:solidFill>
              </a:rPr>
              <a:t>IREN's $3.65B financing shows miner-to-compute conversion is a core theme</a:t>
            </a:r>
            <a:endParaRPr lang="en-US" sz="900" dirty="0"/>
          </a:p>
        </p:txBody>
      </p:sp>
      <p:sp>
        <p:nvSpPr>
          <p:cNvPr id="16" name="Shape 13"/>
          <p:cNvSpPr/>
          <p:nvPr/>
        </p:nvSpPr>
        <p:spPr>
          <a:xfrm>
            <a:off x="4663440" y="2697480"/>
            <a:ext cx="4114800" cy="169164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17" name="Shape 14"/>
          <p:cNvSpPr/>
          <p:nvPr/>
        </p:nvSpPr>
        <p:spPr>
          <a:xfrm>
            <a:off x="4663440" y="2697480"/>
            <a:ext cx="4114800" cy="320040"/>
          </a:xfrm>
          <a:prstGeom prst="rect">
            <a:avLst/>
          </a:prstGeom>
          <a:solidFill>
            <a:srgbClr val="1A2744"/>
          </a:solidFill>
          <a:ln w="12700">
            <a:solidFill>
              <a:srgbClr val="1A2744"/>
            </a:solidFill>
            <a:prstDash val="solid"/>
          </a:ln>
        </p:spPr>
      </p:sp>
      <p:sp>
        <p:nvSpPr>
          <p:cNvPr id="18" name="Text 15"/>
          <p:cNvSpPr/>
          <p:nvPr/>
        </p:nvSpPr>
        <p:spPr>
          <a:xfrm>
            <a:off x="4846320" y="2697480"/>
            <a:ext cx="3657600" cy="320040"/>
          </a:xfrm>
          <a:prstGeom prst="rect">
            <a:avLst/>
          </a:prstGeom>
          <a:noFill/>
          <a:ln/>
        </p:spPr>
        <p:txBody>
          <a:bodyPr wrap="square" lIns="0" tIns="0" rIns="0" bIns="0" rtlCol="0" anchor="ctr"/>
          <a:lstStyle/>
          <a:p>
            <a:pPr indent="0" marL="0">
              <a:buNone/>
            </a:pPr>
            <a:r>
              <a:rPr lang="en-US" sz="1100" b="1" dirty="0">
                <a:solidFill>
                  <a:srgbClr val="FFFFFF"/>
                </a:solidFill>
              </a:rPr>
              <a:t>Prediction Markets</a:t>
            </a:r>
            <a:endParaRPr lang="en-US" sz="1100" dirty="0"/>
          </a:p>
        </p:txBody>
      </p:sp>
      <p:sp>
        <p:nvSpPr>
          <p:cNvPr id="19" name="Text 16"/>
          <p:cNvSpPr/>
          <p:nvPr/>
        </p:nvSpPr>
        <p:spPr>
          <a:xfrm>
            <a:off x="4846320" y="3081528"/>
            <a:ext cx="3703320" cy="11887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2D3748"/>
                </a:solidFill>
              </a:rPr>
              <a:t>Polymarket's MicroStrategy resolution dispute exposed oracle-governance fragility</a:t>
            </a:r>
            <a:endParaRPr lang="en-US" sz="900" dirty="0"/>
          </a:p>
          <a:p>
            <a:pPr marL="342900" indent="-342900">
              <a:spcAft>
                <a:spcPts val="400"/>
              </a:spcAft>
              <a:buSzPct val="100000"/>
              <a:buChar char="•"/>
            </a:pPr>
            <a:r>
              <a:rPr lang="en-US" sz="900" dirty="0">
                <a:solidFill>
                  <a:srgbClr val="2D3748"/>
                </a:solidFill>
              </a:rPr>
              <a:t>World Cup 2026 markets crossed $529M volume, the biggest sports market on record</a:t>
            </a:r>
            <a:endParaRPr lang="en-US" sz="900" dirty="0"/>
          </a:p>
          <a:p>
            <a:pPr marL="342900" indent="-342900">
              <a:spcAft>
                <a:spcPts val="400"/>
              </a:spcAft>
              <a:buSzPct val="100000"/>
              <a:buChar char="•"/>
            </a:pPr>
            <a:r>
              <a:rPr lang="en-US" sz="900" dirty="0">
                <a:solidFill>
                  <a:srgbClr val="2D3748"/>
                </a:solidFill>
              </a:rPr>
              <a:t>Hyperliquid overtook Polymarket in daily fees as trading and prediction converge</a:t>
            </a:r>
            <a:endParaRPr lang="en-US" sz="900" dirty="0"/>
          </a:p>
        </p:txBody>
      </p:sp>
      <p:sp>
        <p:nvSpPr>
          <p:cNvPr id="20" name="Shape 17"/>
          <p:cNvSpPr/>
          <p:nvPr/>
        </p:nvSpPr>
        <p:spPr>
          <a:xfrm>
            <a:off x="0" y="4800600"/>
            <a:ext cx="9144000" cy="342900"/>
          </a:xfrm>
          <a:prstGeom prst="rect">
            <a:avLst/>
          </a:prstGeom>
          <a:solidFill>
            <a:srgbClr val="1A2744"/>
          </a:solidFill>
          <a:ln w="12700">
            <a:solidFill>
              <a:srgbClr val="1A2744"/>
            </a:solidFill>
            <a:prstDash val="solid"/>
          </a:ln>
        </p:spPr>
      </p:sp>
      <p:sp>
        <p:nvSpPr>
          <p:cNvPr id="21" name="Text 18"/>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2026.06.01–06.07</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Catalysts &amp; Outlook</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822960"/>
          <a:ext cx="8229600" cy="914400"/>
        </p:xfrm>
        <a:graphic>
          <a:graphicData uri="http://schemas.openxmlformats.org/drawingml/2006/table">
            <a:tbl>
              <a:tblPr/>
              <a:tblGrid>
                <a:gridCol w="822960"/>
                <a:gridCol w="2834640"/>
                <a:gridCol w="1005840"/>
                <a:gridCol w="3566160"/>
              </a:tblGrid>
              <a:tr h="292608">
                <a:tc>
                  <a:txBody>
                    <a:bodyPr/>
                    <a:lstStyle/>
                    <a:p>
                      <a:pPr algn="ctr" indent="0" marL="0">
                        <a:buNone/>
                      </a:pPr>
                      <a:r>
                        <a:rPr lang="en-US" sz="950" b="1" dirty="0">
                          <a:solidFill>
                            <a:srgbClr val="FFFFFF"/>
                          </a:solidFill>
                        </a:rPr>
                        <a:t>Date</a:t>
                      </a:r>
                      <a:endParaRPr lang="en-US" sz="9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950" b="1" dirty="0">
                          <a:solidFill>
                            <a:srgbClr val="FFFFFF"/>
                          </a:solidFill>
                        </a:rPr>
                        <a:t>Event</a:t>
                      </a:r>
                      <a:endParaRPr lang="en-US" sz="9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950" b="1" dirty="0">
                          <a:solidFill>
                            <a:srgbClr val="FFFFFF"/>
                          </a:solidFill>
                        </a:rPr>
                        <a:t>Asset</a:t>
                      </a:r>
                      <a:endParaRPr lang="en-US" sz="9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950" b="1" dirty="0">
                          <a:solidFill>
                            <a:srgbClr val="FFFFFF"/>
                          </a:solidFill>
                        </a:rPr>
                        <a:t>Expected Impact</a:t>
                      </a:r>
                      <a:endParaRPr lang="en-US" sz="9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74320">
                <a:tc>
                  <a:txBody>
                    <a:bodyPr/>
                    <a:lstStyle/>
                    <a:p>
                      <a:pPr algn="ctr" indent="0" marL="0">
                        <a:buNone/>
                      </a:pPr>
                      <a:r>
                        <a:rPr lang="en-US" sz="900" dirty="0">
                          <a:solidFill>
                            <a:srgbClr val="2D3748"/>
                          </a:solidFill>
                        </a:rPr>
                        <a:t>6/8</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2D3748"/>
                          </a:solidFill>
                        </a:rPr>
                        <a:t>Boson mainnet + Coinbase index perpetuals</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900" b="1" dirty="0">
                          <a:solidFill>
                            <a:srgbClr val="1A2744"/>
                          </a:solidFill>
                        </a:rPr>
                        <a:t>BOSON / Market</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30" dirty="0">
                          <a:solidFill>
                            <a:srgbClr val="8C95A6"/>
                          </a:solidFill>
                        </a:rPr>
                        <a:t>Potential new narrative and institutional flow</a:t>
                      </a:r>
                      <a:endParaRPr lang="en-US" sz="83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algn="ctr" indent="0" marL="0">
                        <a:buNone/>
                      </a:pPr>
                      <a:r>
                        <a:rPr lang="en-US" sz="900" dirty="0">
                          <a:solidFill>
                            <a:srgbClr val="2D3748"/>
                          </a:solidFill>
                        </a:rPr>
                        <a:t>6/9</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c>
                  <a:txBody>
                    <a:bodyPr/>
                    <a:lstStyle/>
                    <a:p>
                      <a:pPr indent="0" marL="0">
                        <a:buNone/>
                      </a:pPr>
                      <a:r>
                        <a:rPr lang="en-US" sz="900" b="1" dirty="0">
                          <a:solidFill>
                            <a:srgbClr val="2D3748"/>
                          </a:solidFill>
                        </a:rPr>
                        <a:t>GENIUS Act comment deadline</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c>
                  <a:txBody>
                    <a:bodyPr/>
                    <a:lstStyle/>
                    <a:p>
                      <a:pPr algn="ctr" indent="0" marL="0">
                        <a:buNone/>
                      </a:pPr>
                      <a:r>
                        <a:rPr lang="en-US" sz="900" b="1" dirty="0">
                          <a:solidFill>
                            <a:srgbClr val="1A2744"/>
                          </a:solidFill>
                        </a:rPr>
                        <a:t>Stablecoins</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c>
                  <a:txBody>
                    <a:bodyPr/>
                    <a:lstStyle/>
                    <a:p>
                      <a:pPr indent="0" marL="0">
                        <a:buNone/>
                      </a:pPr>
                      <a:r>
                        <a:rPr lang="en-US" sz="830" dirty="0">
                          <a:solidFill>
                            <a:srgbClr val="8C95A6"/>
                          </a:solidFill>
                        </a:rPr>
                        <a:t>Sets direction for July implementation debate</a:t>
                      </a:r>
                      <a:endParaRPr lang="en-US" sz="83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r>
              <a:tr h="274320">
                <a:tc>
                  <a:txBody>
                    <a:bodyPr/>
                    <a:lstStyle/>
                    <a:p>
                      <a:pPr algn="ctr" indent="0" marL="0">
                        <a:buNone/>
                      </a:pPr>
                      <a:r>
                        <a:rPr lang="en-US" sz="900" dirty="0">
                          <a:solidFill>
                            <a:srgbClr val="2D3748"/>
                          </a:solidFill>
                        </a:rPr>
                        <a:t>6/10</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2D3748"/>
                          </a:solidFill>
                        </a:rPr>
                        <a:t>$RAIN / $HOME unlocks &gt; $700M</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900" b="1" dirty="0">
                          <a:solidFill>
                            <a:srgbClr val="1A2744"/>
                          </a:solidFill>
                        </a:rPr>
                        <a:t>RAIN / HOME</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30" dirty="0">
                          <a:solidFill>
                            <a:srgbClr val="8C95A6"/>
                          </a:solidFill>
                        </a:rPr>
                        <a:t>Meaningful short-term supply pressure</a:t>
                      </a:r>
                      <a:endParaRPr lang="en-US" sz="83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algn="ctr" indent="0" marL="0">
                        <a:buNone/>
                      </a:pPr>
                      <a:r>
                        <a:rPr lang="en-US" sz="900" dirty="0">
                          <a:solidFill>
                            <a:srgbClr val="2D3748"/>
                          </a:solidFill>
                        </a:rPr>
                        <a:t>6/12</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2D3748"/>
                          </a:solidFill>
                        </a:rPr>
                        <a:t>Aptos monthly investor unlock</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900" b="1" dirty="0">
                          <a:solidFill>
                            <a:srgbClr val="1A2744"/>
                          </a:solidFill>
                        </a:rPr>
                        <a:t>APT</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30" dirty="0">
                          <a:solidFill>
                            <a:srgbClr val="8C95A6"/>
                          </a:solidFill>
                        </a:rPr>
                        <a:t>Watch supply absorption and valuation pressure</a:t>
                      </a:r>
                      <a:endParaRPr lang="en-US" sz="83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algn="ctr" indent="0" marL="0">
                        <a:buNone/>
                      </a:pPr>
                      <a:r>
                        <a:rPr lang="en-US" sz="900" dirty="0">
                          <a:solidFill>
                            <a:srgbClr val="2D3748"/>
                          </a:solidFill>
                        </a:rPr>
                        <a:t>6/22</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2D3748"/>
                          </a:solidFill>
                        </a:rPr>
                        <a:t>Starknet v0.14.3 upgrade</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900" b="1" dirty="0">
                          <a:solidFill>
                            <a:srgbClr val="1A2744"/>
                          </a:solidFill>
                        </a:rPr>
                        <a:t>STRK</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30" dirty="0">
                          <a:solidFill>
                            <a:srgbClr val="8C95A6"/>
                          </a:solidFill>
                        </a:rPr>
                        <a:t>Just outside 2 weeks, but still a major L2 catalyst</a:t>
                      </a:r>
                      <a:endParaRPr lang="en-US" sz="83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algn="ctr" indent="0" marL="0">
                        <a:buNone/>
                      </a:pPr>
                      <a:r>
                        <a:rPr lang="en-US" sz="900" dirty="0">
                          <a:solidFill>
                            <a:srgbClr val="2D3748"/>
                          </a:solidFill>
                        </a:rPr>
                        <a:t>June</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c>
                  <a:txBody>
                    <a:bodyPr/>
                    <a:lstStyle/>
                    <a:p>
                      <a:pPr indent="0" marL="0">
                        <a:buNone/>
                      </a:pPr>
                      <a:r>
                        <a:rPr lang="en-US" sz="900" b="1" dirty="0">
                          <a:solidFill>
                            <a:srgbClr val="2D3748"/>
                          </a:solidFill>
                        </a:rPr>
                        <a:t>dYdX final emission cycle ends</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c>
                  <a:txBody>
                    <a:bodyPr/>
                    <a:lstStyle/>
                    <a:p>
                      <a:pPr algn="ctr" indent="0" marL="0">
                        <a:buNone/>
                      </a:pPr>
                      <a:r>
                        <a:rPr lang="en-US" sz="900" b="1" dirty="0">
                          <a:solidFill>
                            <a:srgbClr val="1A2744"/>
                          </a:solidFill>
                        </a:rPr>
                        <a:t>DYDX</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c>
                  <a:txBody>
                    <a:bodyPr/>
                    <a:lstStyle/>
                    <a:p>
                      <a:pPr indent="0" marL="0">
                        <a:buNone/>
                      </a:pPr>
                      <a:r>
                        <a:rPr lang="en-US" sz="830" dirty="0">
                          <a:solidFill>
                            <a:srgbClr val="8C95A6"/>
                          </a:solidFill>
                        </a:rPr>
                        <a:t>Structural inflation headwind nears completion</a:t>
                      </a:r>
                      <a:endParaRPr lang="en-US" sz="83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r>
            </a:tbl>
          </a:graphicData>
        </a:graphic>
      </p:graphicFrame>
      <p:sp>
        <p:nvSpPr>
          <p:cNvPr id="5" name="Shape 2"/>
          <p:cNvSpPr/>
          <p:nvPr/>
        </p:nvSpPr>
        <p:spPr>
          <a:xfrm>
            <a:off x="457200" y="3246120"/>
            <a:ext cx="8229600" cy="123444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6" name="Shape 3"/>
          <p:cNvSpPr/>
          <p:nvPr/>
        </p:nvSpPr>
        <p:spPr>
          <a:xfrm>
            <a:off x="457200" y="3246120"/>
            <a:ext cx="54864" cy="1234440"/>
          </a:xfrm>
          <a:prstGeom prst="rect">
            <a:avLst/>
          </a:prstGeom>
          <a:solidFill>
            <a:srgbClr val="C9A96E"/>
          </a:solidFill>
          <a:ln w="12700">
            <a:solidFill>
              <a:srgbClr val="C9A96E"/>
            </a:solidFill>
            <a:prstDash val="solid"/>
          </a:ln>
        </p:spPr>
      </p:sp>
      <p:sp>
        <p:nvSpPr>
          <p:cNvPr id="7" name="Text 4"/>
          <p:cNvSpPr/>
          <p:nvPr/>
        </p:nvSpPr>
        <p:spPr>
          <a:xfrm>
            <a:off x="731520" y="3364992"/>
            <a:ext cx="7498080" cy="228600"/>
          </a:xfrm>
          <a:prstGeom prst="rect">
            <a:avLst/>
          </a:prstGeom>
          <a:noFill/>
          <a:ln/>
        </p:spPr>
        <p:txBody>
          <a:bodyPr wrap="square" lIns="0" tIns="0" rIns="0" bIns="0" rtlCol="0" anchor="ctr"/>
          <a:lstStyle/>
          <a:p>
            <a:pPr indent="0" marL="0">
              <a:buNone/>
            </a:pPr>
            <a:r>
              <a:rPr lang="en-US" sz="1300" b="1" dirty="0">
                <a:solidFill>
                  <a:srgbClr val="1A2744"/>
                </a:solidFill>
              </a:rPr>
              <a:t>Weekly Summary</a:t>
            </a:r>
            <a:endParaRPr lang="en-US" sz="1300" dirty="0"/>
          </a:p>
        </p:txBody>
      </p:sp>
      <p:sp>
        <p:nvSpPr>
          <p:cNvPr id="8" name="Text 5"/>
          <p:cNvSpPr/>
          <p:nvPr/>
        </p:nvSpPr>
        <p:spPr>
          <a:xfrm>
            <a:off x="731520" y="3657600"/>
            <a:ext cx="7589520" cy="640080"/>
          </a:xfrm>
          <a:prstGeom prst="rect">
            <a:avLst/>
          </a:prstGeom>
          <a:noFill/>
          <a:ln/>
        </p:spPr>
        <p:txBody>
          <a:bodyPr wrap="square" lIns="0" tIns="0" rIns="0" bIns="0" rtlCol="0" anchor="ctr"/>
          <a:lstStyle/>
          <a:p>
            <a:pPr indent="0" marL="0">
              <a:buNone/>
            </a:pPr>
            <a:r>
              <a:rPr lang="en-US" sz="960" dirty="0">
                <a:solidFill>
                  <a:srgbClr val="2D3748"/>
                </a:solidFill>
              </a:rPr>
              <a:t>This week was not about one isolated negative event. It was the combination of capital outflows, leveraged liquidation, and policy reconstruction not yet translating into demand. Structurally, stablecoins, agent-payment rails, and on-chain derivatives infrastructure remain the strongest product and capital themes. Tactically, the next checkpoint is whether ETF outflows stabilize and whether friendlier US regulation can actually improve risk appetite.</a:t>
            </a:r>
            <a:endParaRPr lang="en-US" sz="960" dirty="0"/>
          </a:p>
        </p:txBody>
      </p:sp>
      <p:sp>
        <p:nvSpPr>
          <p:cNvPr id="9" name="Shape 6"/>
          <p:cNvSpPr/>
          <p:nvPr/>
        </p:nvSpPr>
        <p:spPr>
          <a:xfrm>
            <a:off x="0" y="4800600"/>
            <a:ext cx="9144000" cy="342900"/>
          </a:xfrm>
          <a:prstGeom prst="rect">
            <a:avLst/>
          </a:prstGeom>
          <a:solidFill>
            <a:srgbClr val="1A2744"/>
          </a:solidFill>
          <a:ln w="12700">
            <a:solidFill>
              <a:srgbClr val="1A2744"/>
            </a:solidFill>
            <a:prstDash val="solid"/>
          </a:ln>
        </p:spPr>
      </p:sp>
      <p:sp>
        <p:nvSpPr>
          <p:cNvPr id="10" name="Text 7"/>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2026.06.01–06.07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42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 Market Weekly Report</dc:title>
  <dc:subject>Crypto Weekly Digest</dc:subject>
  <dc:creator>42</dc:creator>
  <cp:lastModifiedBy>42</cp:lastModifiedBy>
  <cp:revision>1</cp:revision>
  <dcterms:created xsi:type="dcterms:W3CDTF">2026-06-07T17:19:22Z</dcterms:created>
  <dcterms:modified xsi:type="dcterms:W3CDTF">2026-06-07T17:19:22Z</dcterms:modified>
</cp:coreProperties>
</file>