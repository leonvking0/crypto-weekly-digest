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第一页重点不是介绍格式，而是先给听众一个总框架。第一，本周市场的主线是风险偏好快速收缩，价格下跌只是结果，背后更关键的是 13 天现货 BTC ETF 持续净流出，说明边际买盘在撤退。第二，监管与基础设施层面并不弱，SEC 的 Project Crypto、MoneyGram 的 MGUSD、以及 Coinbase 获准推进美国永续框架，说明基本面和政策面并未同步恶化，市场更像是先在价格上做了去杠杆。第三，接下来要关注的是这种“价格弱但制度建设继续推进”的背离能否带来中期配置机会，尤其是稳定币、链上衍生品和 AI Agent 支付 rails 这些高确定性方向。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第二页最重要的是解释为什么市场会在一周内集体下杀。第一，ETF 连续流出和 $1.8B 清算构成了典型的流动性负反馈，BTC 虽然仍有 56% 的主导率，但这并不表示强势，而是资金先回流到相对安全的龙头。第二，ETH 和 SOL 的跌幅显著大于 BTC，反映市场对高 beta 叙事和公链估值的容忍度下降，尤其 ETH 还叠加了 L2 分流的老问题。第三，ENA 和 PENDLE 相对抗跌很重要，这说明市场并没有无差别抛售一切，而是在继续保留对收益型稳定币和利率交易资产的偏好，后续若情绪修复，这类资产通常会比纯 beta 先修复。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第三页要把“新闻”转化成“结构变化”。第一，Project Crypto 和美国永续框架落地，是本周最有长期意义的制度变量，意味着美国正在从单纯执法走向规则重写，这会改变交易所、DeFi 前端和资产发行方的估值折价。第二，Movement、Base、Solana、Hyperliquid 这些案例共同说明资金正在奖励能直接承载真实交易和支付流量的链与应用，而不是单纯追逐新公链故事。第三，DeFi 部分要强调收益基础设施在继续机构化，Ether.fi 配置 RWA、Veda 接口化收益、Hyperliquid 扩大专业交易份额，说明“链上金融中台”比传统治理代币更接近本轮真正的产业升级方向。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第四页需要把政策与融资放在一起讲，因为两者本质上都在定义资本往哪里去。第一，SEC 与 CFTC 的动作说明美国正尝试为 token 分类、稳定币、永续衍生品分别建立更清晰的边界，短期可能不会马上抬价格，但会直接影响合规交易量和机构准入。第二，欧盟 MiCA 与香港全链路监管形成对比，一个是在清理旧登记体系留下的合规缺口，一个是在主动扩大牌照覆盖面，本质上都是全球监管竞争的延续。第三，融资案例里最值得强调的是 Ethena 与 Robinhood/WonderFi：前者代表合成美元和收益产品仍有机构需求，后者代表传统券商平台还在积极吃下合规市场入口，这两个方向都比单纯 meme 或 beta 项目更有持续性。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第五页不能只把安全事件当作事故清单。第一，Gnosis Pay、Stake DAO、edgeX 这几起事件分别对应权限模块、密钥管理、低流通操纵三个老问题，说明行业的主要风险仍集中在运营和治理层，而不只是代码 bug。第二，Zcash 虽然没有实际资金损失，但漏洞披露后价格闪崩，提醒我们“信任损失”本身就是资产损失，尤其在老牌隐私币和小众资产上更明显。第三，稳定币、AI 和预测市场放在同一页，是为了说明尽管价格很差，但真实产品创新没停：MoneyGram 在做稳定币分发入口，Travala 在做 agent 支付闭环，Polymarket 和 Hyperliquid 在争夺“信息定价 + 交易执行”这一层，这些方向更像未来两年的基础设施争夺战。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第六页要把短期催化和中期判断分开。第一，最近两周最直接的市场变量是 6 月 9 日 GENIUS Act 意见窗口截止，如果细则继续朝许可型稳定币框架推进，会增强支付和链上美元赛道的可见度。第二，$RAIN、$HOME、APT 和 dYdX 的供给事件意味着即使行业叙事改善，部分资产也可能继续受解锁压制，所以短线交易和中线配置要分开看。第三，整体判断上，本周更像一次去杠杆和风险再定价，而不是行业基本面拐头向下。后续若 ETF 资金止血、监管友好信号继续累积，最先受益的很可能不是高 beta 公链，而是稳定币、链上衍生品和 AI 支付基础设施这些已出现真实需求验证的板块。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17320"/>
            <a:ext cx="1005840" cy="36576"/>
          </a:xfrm>
          <a:prstGeom prst="rect">
            <a:avLst/>
          </a:prstGeom>
          <a:solidFill>
            <a:srgbClr val="C9A96E"/>
          </a:solidFill>
          <a:ln w="12700">
            <a:solidFill>
              <a:srgbClr val="C9A96E"/>
            </a:solidFill>
            <a:prstDash val="solid"/>
          </a:ln>
        </p:spPr>
      </p:sp>
      <p:sp>
        <p:nvSpPr>
          <p:cNvPr id="3" name="Text 1"/>
          <p:cNvSpPr/>
          <p:nvPr/>
        </p:nvSpPr>
        <p:spPr>
          <a:xfrm>
            <a:off x="731520" y="1645920"/>
            <a:ext cx="749808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加密市场周报</a:t>
            </a:r>
            <a:endParaRPr lang="en-US" sz="3400" dirty="0"/>
          </a:p>
        </p:txBody>
      </p:sp>
      <p:sp>
        <p:nvSpPr>
          <p:cNvPr id="4" name="Text 2"/>
          <p:cNvSpPr/>
          <p:nvPr/>
        </p:nvSpPr>
        <p:spPr>
          <a:xfrm>
            <a:off x="731520" y="2331720"/>
            <a:ext cx="7498080" cy="36576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2026年6月1日 — 6月7日</a:t>
            </a:r>
            <a:endParaRPr lang="en-US" sz="2000" dirty="0"/>
          </a:p>
        </p:txBody>
      </p:sp>
      <p:sp>
        <p:nvSpPr>
          <p:cNvPr id="5" name="Text 3"/>
          <p:cNvSpPr/>
          <p:nvPr/>
        </p:nvSpPr>
        <p:spPr>
          <a:xfrm>
            <a:off x="731520" y="2926080"/>
            <a:ext cx="7772400" cy="32004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数据来源：Messari · The Block · CoinGecko · CoinDesk · Crypto.news</a:t>
            </a:r>
            <a:endParaRPr lang="en-US" sz="1100" dirty="0"/>
          </a:p>
        </p:txBody>
      </p:sp>
      <p:sp>
        <p:nvSpPr>
          <p:cNvPr id="6" name="Shape 4"/>
          <p:cNvSpPr/>
          <p:nvPr/>
        </p:nvSpPr>
        <p:spPr>
          <a:xfrm>
            <a:off x="0" y="4800600"/>
            <a:ext cx="9144000" cy="342900"/>
          </a:xfrm>
          <a:prstGeom prst="rect">
            <a:avLst/>
          </a:prstGeom>
          <a:solidFill>
            <a:srgbClr val="C9A96E"/>
          </a:solidFill>
          <a:ln w="12700">
            <a:solidFill>
              <a:srgbClr val="C9A96E"/>
            </a:solidFill>
            <a:prstDash val="solid"/>
          </a:ln>
        </p:spPr>
      </p:sp>
      <p:sp>
        <p:nvSpPr>
          <p:cNvPr id="7" name="Text 5"/>
          <p:cNvSpPr/>
          <p:nvPr/>
        </p:nvSpPr>
        <p:spPr>
          <a:xfrm>
            <a:off x="0" y="4800600"/>
            <a:ext cx="9144000" cy="342900"/>
          </a:xfrm>
          <a:prstGeom prst="rect">
            <a:avLst/>
          </a:prstGeom>
          <a:noFill/>
          <a:ln/>
        </p:spPr>
        <p:txBody>
          <a:bodyPr wrap="square"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市场概览</a:t>
            </a:r>
            <a:endParaRPr lang="en-US" sz="2000" dirty="0"/>
          </a:p>
        </p:txBody>
      </p:sp>
      <p:sp>
        <p:nvSpPr>
          <p:cNvPr id="4" name="Shape 2"/>
          <p:cNvSpPr/>
          <p:nvPr/>
        </p:nvSpPr>
        <p:spPr>
          <a:xfrm>
            <a:off x="548640" y="868680"/>
            <a:ext cx="2560320" cy="960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548640" y="868680"/>
            <a:ext cx="54864" cy="960120"/>
          </a:xfrm>
          <a:prstGeom prst="rect">
            <a:avLst/>
          </a:prstGeom>
          <a:solidFill>
            <a:srgbClr val="C9A96E"/>
          </a:solidFill>
          <a:ln w="12700">
            <a:solidFill>
              <a:srgbClr val="C9A96E"/>
            </a:solidFill>
            <a:prstDash val="solid"/>
          </a:ln>
        </p:spPr>
      </p:sp>
      <p:sp>
        <p:nvSpPr>
          <p:cNvPr id="6" name="Text 4"/>
          <p:cNvSpPr/>
          <p:nvPr/>
        </p:nvSpPr>
        <p:spPr>
          <a:xfrm>
            <a:off x="768096" y="960120"/>
            <a:ext cx="2011680" cy="18288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BTC</a:t>
            </a:r>
            <a:endParaRPr lang="en-US" sz="1200" dirty="0"/>
          </a:p>
        </p:txBody>
      </p:sp>
      <p:sp>
        <p:nvSpPr>
          <p:cNvPr id="7" name="Text 5"/>
          <p:cNvSpPr/>
          <p:nvPr/>
        </p:nvSpPr>
        <p:spPr>
          <a:xfrm>
            <a:off x="768096" y="1207008"/>
            <a:ext cx="2011680" cy="256032"/>
          </a:xfrm>
          <a:prstGeom prst="rect">
            <a:avLst/>
          </a:prstGeom>
          <a:noFill/>
          <a:ln/>
        </p:spPr>
        <p:txBody>
          <a:bodyPr wrap="square" lIns="0" tIns="0" rIns="0" bIns="0" rtlCol="0" anchor="ctr"/>
          <a:lstStyle/>
          <a:p>
            <a:pPr indent="0" marL="0">
              <a:buNone/>
            </a:pPr>
            <a:r>
              <a:rPr lang="en-US" sz="2500" b="1" dirty="0">
                <a:solidFill>
                  <a:srgbClr val="2D3748"/>
                </a:solidFill>
                <a:latin typeface="Arial" pitchFamily="34" charset="0"/>
                <a:ea typeface="Arial" pitchFamily="34" charset="-122"/>
                <a:cs typeface="Arial" pitchFamily="34" charset="-120"/>
              </a:rPr>
              <a:t>$62,037</a:t>
            </a:r>
            <a:endParaRPr lang="en-US" sz="2500" dirty="0"/>
          </a:p>
        </p:txBody>
      </p:sp>
      <p:sp>
        <p:nvSpPr>
          <p:cNvPr id="8" name="Text 6"/>
          <p:cNvSpPr/>
          <p:nvPr/>
        </p:nvSpPr>
        <p:spPr>
          <a:xfrm>
            <a:off x="768096" y="1527048"/>
            <a:ext cx="2011680" cy="182880"/>
          </a:xfrm>
          <a:prstGeom prst="rect">
            <a:avLst/>
          </a:prstGeom>
          <a:noFill/>
          <a:ln/>
        </p:spPr>
        <p:txBody>
          <a:bodyPr wrap="square" lIns="0" tIns="0" rIns="0" bIns="0" rtlCol="0" anchor="ctr"/>
          <a:lstStyle/>
          <a:p>
            <a:pPr indent="0" marL="0">
              <a:buNone/>
            </a:pPr>
            <a:r>
              <a:rPr lang="en-US" sz="1300" b="1" dirty="0">
                <a:solidFill>
                  <a:srgbClr val="C53030"/>
                </a:solidFill>
                <a:latin typeface="Arial" pitchFamily="34" charset="0"/>
                <a:ea typeface="Arial" pitchFamily="34" charset="-122"/>
                <a:cs typeface="Arial" pitchFamily="34" charset="-120"/>
              </a:rPr>
              <a:t>-15.6%</a:t>
            </a:r>
            <a:endParaRPr lang="en-US" sz="1300" dirty="0"/>
          </a:p>
        </p:txBody>
      </p:sp>
      <p:sp>
        <p:nvSpPr>
          <p:cNvPr id="9" name="Shape 7"/>
          <p:cNvSpPr/>
          <p:nvPr/>
        </p:nvSpPr>
        <p:spPr>
          <a:xfrm>
            <a:off x="3383280" y="868680"/>
            <a:ext cx="2560320" cy="960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0" name="Shape 8"/>
          <p:cNvSpPr/>
          <p:nvPr/>
        </p:nvSpPr>
        <p:spPr>
          <a:xfrm>
            <a:off x="3383280" y="868680"/>
            <a:ext cx="54864" cy="960120"/>
          </a:xfrm>
          <a:prstGeom prst="rect">
            <a:avLst/>
          </a:prstGeom>
          <a:solidFill>
            <a:srgbClr val="C9A96E"/>
          </a:solidFill>
          <a:ln w="12700">
            <a:solidFill>
              <a:srgbClr val="C9A96E"/>
            </a:solidFill>
            <a:prstDash val="solid"/>
          </a:ln>
        </p:spPr>
      </p:sp>
      <p:sp>
        <p:nvSpPr>
          <p:cNvPr id="11" name="Text 9"/>
          <p:cNvSpPr/>
          <p:nvPr/>
        </p:nvSpPr>
        <p:spPr>
          <a:xfrm>
            <a:off x="3602736" y="960120"/>
            <a:ext cx="2011680" cy="18288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ETH</a:t>
            </a:r>
            <a:endParaRPr lang="en-US" sz="1200" dirty="0"/>
          </a:p>
        </p:txBody>
      </p:sp>
      <p:sp>
        <p:nvSpPr>
          <p:cNvPr id="12" name="Text 10"/>
          <p:cNvSpPr/>
          <p:nvPr/>
        </p:nvSpPr>
        <p:spPr>
          <a:xfrm>
            <a:off x="3602736" y="1207008"/>
            <a:ext cx="2011680" cy="256032"/>
          </a:xfrm>
          <a:prstGeom prst="rect">
            <a:avLst/>
          </a:prstGeom>
          <a:noFill/>
          <a:ln/>
        </p:spPr>
        <p:txBody>
          <a:bodyPr wrap="square" lIns="0" tIns="0" rIns="0" bIns="0" rtlCol="0" anchor="ctr"/>
          <a:lstStyle/>
          <a:p>
            <a:pPr indent="0" marL="0">
              <a:buNone/>
            </a:pPr>
            <a:r>
              <a:rPr lang="en-US" sz="2500" b="1" dirty="0">
                <a:solidFill>
                  <a:srgbClr val="2D3748"/>
                </a:solidFill>
                <a:latin typeface="Arial" pitchFamily="34" charset="0"/>
                <a:ea typeface="Arial" pitchFamily="34" charset="-122"/>
                <a:cs typeface="Arial" pitchFamily="34" charset="-120"/>
              </a:rPr>
              <a:t>$1,627</a:t>
            </a:r>
            <a:endParaRPr lang="en-US" sz="2500" dirty="0"/>
          </a:p>
        </p:txBody>
      </p:sp>
      <p:sp>
        <p:nvSpPr>
          <p:cNvPr id="13" name="Text 11"/>
          <p:cNvSpPr/>
          <p:nvPr/>
        </p:nvSpPr>
        <p:spPr>
          <a:xfrm>
            <a:off x="3602736" y="1527048"/>
            <a:ext cx="2011680" cy="182880"/>
          </a:xfrm>
          <a:prstGeom prst="rect">
            <a:avLst/>
          </a:prstGeom>
          <a:noFill/>
          <a:ln/>
        </p:spPr>
        <p:txBody>
          <a:bodyPr wrap="square" lIns="0" tIns="0" rIns="0" bIns="0" rtlCol="0" anchor="ctr"/>
          <a:lstStyle/>
          <a:p>
            <a:pPr indent="0" marL="0">
              <a:buNone/>
            </a:pPr>
            <a:r>
              <a:rPr lang="en-US" sz="1300" b="1" dirty="0">
                <a:solidFill>
                  <a:srgbClr val="C53030"/>
                </a:solidFill>
                <a:latin typeface="Arial" pitchFamily="34" charset="0"/>
                <a:ea typeface="Arial" pitchFamily="34" charset="-122"/>
                <a:cs typeface="Arial" pitchFamily="34" charset="-120"/>
              </a:rPr>
              <a:t>-18.8%</a:t>
            </a:r>
            <a:endParaRPr lang="en-US" sz="1300" dirty="0"/>
          </a:p>
        </p:txBody>
      </p:sp>
      <p:sp>
        <p:nvSpPr>
          <p:cNvPr id="14" name="Shape 12"/>
          <p:cNvSpPr/>
          <p:nvPr/>
        </p:nvSpPr>
        <p:spPr>
          <a:xfrm>
            <a:off x="6217920" y="868680"/>
            <a:ext cx="2560320" cy="960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5" name="Shape 13"/>
          <p:cNvSpPr/>
          <p:nvPr/>
        </p:nvSpPr>
        <p:spPr>
          <a:xfrm>
            <a:off x="6217920" y="868680"/>
            <a:ext cx="54864" cy="960120"/>
          </a:xfrm>
          <a:prstGeom prst="rect">
            <a:avLst/>
          </a:prstGeom>
          <a:solidFill>
            <a:srgbClr val="C53030"/>
          </a:solidFill>
          <a:ln w="12700">
            <a:solidFill>
              <a:srgbClr val="C53030"/>
            </a:solidFill>
            <a:prstDash val="solid"/>
          </a:ln>
        </p:spPr>
      </p:sp>
      <p:sp>
        <p:nvSpPr>
          <p:cNvPr id="16" name="Text 14"/>
          <p:cNvSpPr/>
          <p:nvPr/>
        </p:nvSpPr>
        <p:spPr>
          <a:xfrm>
            <a:off x="6437376" y="960120"/>
            <a:ext cx="2011680" cy="18288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恐惧贪婪指数</a:t>
            </a:r>
            <a:endParaRPr lang="en-US" sz="1200" dirty="0"/>
          </a:p>
        </p:txBody>
      </p:sp>
      <p:sp>
        <p:nvSpPr>
          <p:cNvPr id="17" name="Text 15"/>
          <p:cNvSpPr/>
          <p:nvPr/>
        </p:nvSpPr>
        <p:spPr>
          <a:xfrm>
            <a:off x="6437376" y="1207008"/>
            <a:ext cx="2011680" cy="256032"/>
          </a:xfrm>
          <a:prstGeom prst="rect">
            <a:avLst/>
          </a:prstGeom>
          <a:noFill/>
          <a:ln/>
        </p:spPr>
        <p:txBody>
          <a:bodyPr wrap="square" lIns="0" tIns="0" rIns="0" bIns="0" rtlCol="0" anchor="ctr"/>
          <a:lstStyle/>
          <a:p>
            <a:pPr indent="0" marL="0">
              <a:buNone/>
            </a:pPr>
            <a:r>
              <a:rPr lang="en-US" sz="2500" b="1" dirty="0">
                <a:solidFill>
                  <a:srgbClr val="2D3748"/>
                </a:solidFill>
                <a:latin typeface="Arial" pitchFamily="34" charset="0"/>
                <a:ea typeface="Arial" pitchFamily="34" charset="-122"/>
                <a:cs typeface="Arial" pitchFamily="34" charset="-120"/>
              </a:rPr>
              <a:t>12</a:t>
            </a:r>
            <a:endParaRPr lang="en-US" sz="2500" dirty="0"/>
          </a:p>
        </p:txBody>
      </p:sp>
      <p:sp>
        <p:nvSpPr>
          <p:cNvPr id="18" name="Text 16"/>
          <p:cNvSpPr/>
          <p:nvPr/>
        </p:nvSpPr>
        <p:spPr>
          <a:xfrm>
            <a:off x="6437376" y="1527048"/>
            <a:ext cx="2011680" cy="182880"/>
          </a:xfrm>
          <a:prstGeom prst="rect">
            <a:avLst/>
          </a:prstGeom>
          <a:noFill/>
          <a:ln/>
        </p:spPr>
        <p:txBody>
          <a:bodyPr wrap="square" lIns="0" tIns="0" rIns="0" bIns="0" rtlCol="0" anchor="ctr"/>
          <a:lstStyle/>
          <a:p>
            <a:pPr indent="0" marL="0">
              <a:buNone/>
            </a:pPr>
            <a:r>
              <a:rPr lang="en-US" sz="1300" b="1" dirty="0">
                <a:solidFill>
                  <a:srgbClr val="2F855A"/>
                </a:solidFill>
                <a:latin typeface="Arial" pitchFamily="34" charset="0"/>
                <a:ea typeface="Arial" pitchFamily="34" charset="-122"/>
                <a:cs typeface="Arial" pitchFamily="34" charset="-120"/>
              </a:rPr>
              <a:t>Extreme 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8046720" cy="914400"/>
        </p:xfrm>
        <a:graphic>
          <a:graphicData uri="http://schemas.openxmlformats.org/drawingml/2006/table">
            <a:tbl>
              <a:tblPr/>
              <a:tblGrid>
                <a:gridCol w="1097280"/>
                <a:gridCol w="1645920"/>
                <a:gridCol w="1280160"/>
                <a:gridCol w="4023360"/>
              </a:tblGrid>
              <a:tr h="320040">
                <a:tc>
                  <a:txBody>
                    <a:bodyPr/>
                    <a:lstStyle/>
                    <a:p>
                      <a:pPr algn="ctr" indent="0" marL="0">
                        <a:buNone/>
                      </a:pPr>
                      <a:r>
                        <a:rPr lang="en-US" sz="1100" b="1" dirty="0">
                          <a:solidFill>
                            <a:srgbClr val="FFFFFF"/>
                          </a:solidFill>
                        </a:rPr>
                        <a:t>资产</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价格</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周涨跌幅</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备注</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83464">
                <a:tc>
                  <a:txBody>
                    <a:bodyPr/>
                    <a:lstStyle/>
                    <a:p>
                      <a:pPr algn="ctr" indent="0" marL="0">
                        <a:buNone/>
                      </a:pPr>
                      <a:r>
                        <a:rPr lang="en-US" sz="1000" b="1" dirty="0">
                          <a:solidFill>
                            <a:srgbClr val="2D3748"/>
                          </a:solidFill>
                        </a:rPr>
                        <a:t>BTC</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$62,037</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-15.6%</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13 天 ETF 净流出，守住 $61K–62K 支撑</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ETH</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$1,627</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-18.8%</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L2 分流叙事加剧，$1,600 心理位承压</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SOL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$65.11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-20.5%</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6/7 解锁叠加去杠杆，逼近年内低点</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HYPE</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$58.44</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-14.1%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基本面仍强，但高 beta 回撤明显</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ENA</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$0.09</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2F855A"/>
                          </a:solidFill>
                        </a:rPr>
                        <a:t>+3.9%</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Coinbase 合作与融资推动相对抗跌</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PENDLE</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$1.25</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-7.1%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收益资产回撤小于主流山寨</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83464">
                <a:tc>
                  <a:txBody>
                    <a:bodyPr/>
                    <a:lstStyle/>
                    <a:p>
                      <a:pPr algn="ctr" indent="0" marL="0">
                        <a:buNone/>
                      </a:pPr>
                      <a:r>
                        <a:rPr lang="en-US" sz="1000" b="1" dirty="0">
                          <a:solidFill>
                            <a:srgbClr val="2D3748"/>
                          </a:solidFill>
                        </a:rPr>
                        <a:t>DYDX</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rPr>
                        <a:t>$0.14</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C53030"/>
                          </a:solidFill>
                        </a:rPr>
                        <a:t>-24.2%</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周跌幅居前，估值继续被边缘化</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60520"/>
            <a:ext cx="8046720" cy="41148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总市值 $2.23T，BTC 主导率 56.0%，24h 成交额 $78.4B。13 天现货 BTC ETF 净流出与 $1.8B 杠杆清算共同把市场情绪打回“极度恐惧”。</a:t>
            </a:r>
            <a:endParaRPr lang="en-US" sz="1000" dirty="0"/>
          </a:p>
        </p:txBody>
      </p:sp>
      <p:sp>
        <p:nvSpPr>
          <p:cNvPr id="21" name="Shape 18"/>
          <p:cNvSpPr/>
          <p:nvPr/>
        </p:nvSpPr>
        <p:spPr>
          <a:xfrm>
            <a:off x="0" y="4800600"/>
            <a:ext cx="9144000" cy="342900"/>
          </a:xfrm>
          <a:prstGeom prst="rect">
            <a:avLst/>
          </a:prstGeom>
          <a:solidFill>
            <a:srgbClr val="1A2744"/>
          </a:solidFill>
          <a:ln w="12700">
            <a:solidFill>
              <a:srgbClr val="1A2744"/>
            </a:solidFill>
            <a:prstDash val="solid"/>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2026.06.01–06.07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本周要闻 &amp; 行业动态</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Text 3"/>
          <p:cNvSpPr/>
          <p:nvPr/>
        </p:nvSpPr>
        <p:spPr>
          <a:xfrm>
            <a:off x="548640" y="868680"/>
            <a:ext cx="365760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本周要闻 TOP 5</a:t>
            </a:r>
            <a:endParaRPr lang="en-US" sz="1300" dirty="0"/>
          </a:p>
        </p:txBody>
      </p:sp>
      <p:sp>
        <p:nvSpPr>
          <p:cNvPr id="6" name="Shape 4"/>
          <p:cNvSpPr/>
          <p:nvPr/>
        </p:nvSpPr>
        <p:spPr>
          <a:xfrm>
            <a:off x="594360" y="1243584"/>
            <a:ext cx="274320" cy="274320"/>
          </a:xfrm>
          <a:prstGeom prst="ellipse">
            <a:avLst/>
          </a:prstGeom>
          <a:solidFill>
            <a:srgbClr val="C9A96E"/>
          </a:solidFill>
          <a:ln w="12700">
            <a:solidFill>
              <a:srgbClr val="C9A96E"/>
            </a:solidFill>
            <a:prstDash val="solid"/>
          </a:ln>
        </p:spPr>
      </p:sp>
      <p:sp>
        <p:nvSpPr>
          <p:cNvPr id="7" name="Text 5"/>
          <p:cNvSpPr/>
          <p:nvPr/>
        </p:nvSpPr>
        <p:spPr>
          <a:xfrm>
            <a:off x="594360" y="12435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1005840" y="1225296"/>
            <a:ext cx="3200400" cy="210312"/>
          </a:xfrm>
          <a:prstGeom prst="rect">
            <a:avLst/>
          </a:prstGeom>
          <a:noFill/>
          <a:ln/>
        </p:spPr>
        <p:txBody>
          <a:bodyPr wrap="square" lIns="0" tIns="0" rIns="0" bIns="0" rtlCol="0" anchor="ctr"/>
          <a:lstStyle/>
          <a:p>
            <a:pPr indent="0" marL="0">
              <a:buNone/>
            </a:pPr>
            <a:r>
              <a:rPr lang="en-US" sz="1050" b="1" dirty="0">
                <a:solidFill>
                  <a:srgbClr val="2D3748"/>
                </a:solidFill>
                <a:latin typeface="Arial" pitchFamily="34" charset="0"/>
                <a:ea typeface="Arial" pitchFamily="34" charset="-122"/>
                <a:cs typeface="Arial" pitchFamily="34" charset="-120"/>
              </a:rPr>
              <a:t>市场大跌，恐惧贪婪指数降至 12</a:t>
            </a:r>
            <a:endParaRPr lang="en-US" sz="1050" dirty="0"/>
          </a:p>
        </p:txBody>
      </p:sp>
      <p:sp>
        <p:nvSpPr>
          <p:cNvPr id="9" name="Text 7"/>
          <p:cNvSpPr/>
          <p:nvPr/>
        </p:nvSpPr>
        <p:spPr>
          <a:xfrm>
            <a:off x="1005840" y="1444752"/>
            <a:ext cx="3200400" cy="210312"/>
          </a:xfrm>
          <a:prstGeom prst="rect">
            <a:avLst/>
          </a:prstGeom>
          <a:noFill/>
          <a:ln/>
        </p:spPr>
        <p:txBody>
          <a:bodyPr wrap="square" lIns="0" tIns="0" rIns="0" bIns="0" rtlCol="0" anchor="ctr"/>
          <a:lstStyle/>
          <a:p>
            <a:pPr indent="0" marL="0">
              <a:buNone/>
            </a:pPr>
            <a:r>
              <a:rPr lang="en-US" sz="880" dirty="0">
                <a:solidFill>
                  <a:srgbClr val="8C95A6"/>
                </a:solidFill>
                <a:latin typeface="Arial" pitchFamily="34" charset="0"/>
                <a:ea typeface="Arial" pitchFamily="34" charset="-122"/>
                <a:cs typeface="Arial" pitchFamily="34" charset="-120"/>
              </a:rPr>
              <a:t>ETF 持续流出与 $1.8B 清算主导全周交易情绪</a:t>
            </a:r>
            <a:endParaRPr lang="en-US" sz="880" dirty="0"/>
          </a:p>
        </p:txBody>
      </p:sp>
      <p:sp>
        <p:nvSpPr>
          <p:cNvPr id="10" name="Shape 8"/>
          <p:cNvSpPr/>
          <p:nvPr/>
        </p:nvSpPr>
        <p:spPr>
          <a:xfrm>
            <a:off x="594360" y="1901952"/>
            <a:ext cx="274320" cy="274320"/>
          </a:xfrm>
          <a:prstGeom prst="ellipse">
            <a:avLst/>
          </a:prstGeom>
          <a:solidFill>
            <a:srgbClr val="C9A96E"/>
          </a:solidFill>
          <a:ln w="12700">
            <a:solidFill>
              <a:srgbClr val="C9A96E"/>
            </a:solidFill>
            <a:prstDash val="solid"/>
          </a:ln>
        </p:spPr>
      </p:sp>
      <p:sp>
        <p:nvSpPr>
          <p:cNvPr id="11" name="Text 9"/>
          <p:cNvSpPr/>
          <p:nvPr/>
        </p:nvSpPr>
        <p:spPr>
          <a:xfrm>
            <a:off x="594360" y="19019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2" name="Text 10"/>
          <p:cNvSpPr/>
          <p:nvPr/>
        </p:nvSpPr>
        <p:spPr>
          <a:xfrm>
            <a:off x="1005840" y="1883664"/>
            <a:ext cx="3200400" cy="210312"/>
          </a:xfrm>
          <a:prstGeom prst="rect">
            <a:avLst/>
          </a:prstGeom>
          <a:noFill/>
          <a:ln/>
        </p:spPr>
        <p:txBody>
          <a:bodyPr wrap="square" lIns="0" tIns="0" rIns="0" bIns="0" rtlCol="0" anchor="ctr"/>
          <a:lstStyle/>
          <a:p>
            <a:pPr indent="0" marL="0">
              <a:buNone/>
            </a:pPr>
            <a:r>
              <a:rPr lang="en-US" sz="1050" b="1" dirty="0">
                <a:solidFill>
                  <a:srgbClr val="2D3748"/>
                </a:solidFill>
                <a:latin typeface="Arial" pitchFamily="34" charset="0"/>
                <a:ea typeface="Arial" pitchFamily="34" charset="-122"/>
                <a:cs typeface="Arial" pitchFamily="34" charset="-120"/>
              </a:rPr>
              <a:t>SEC 启动 Project Crypto</a:t>
            </a:r>
            <a:endParaRPr lang="en-US" sz="1050" dirty="0"/>
          </a:p>
        </p:txBody>
      </p:sp>
      <p:sp>
        <p:nvSpPr>
          <p:cNvPr id="13" name="Text 11"/>
          <p:cNvSpPr/>
          <p:nvPr/>
        </p:nvSpPr>
        <p:spPr>
          <a:xfrm>
            <a:off x="1005840" y="2103120"/>
            <a:ext cx="3200400" cy="210312"/>
          </a:xfrm>
          <a:prstGeom prst="rect">
            <a:avLst/>
          </a:prstGeom>
          <a:noFill/>
          <a:ln/>
        </p:spPr>
        <p:txBody>
          <a:bodyPr wrap="square" lIns="0" tIns="0" rIns="0" bIns="0" rtlCol="0" anchor="ctr"/>
          <a:lstStyle/>
          <a:p>
            <a:pPr indent="0" marL="0">
              <a:buNone/>
            </a:pPr>
            <a:r>
              <a:rPr lang="en-US" sz="880" dirty="0">
                <a:solidFill>
                  <a:srgbClr val="8C95A6"/>
                </a:solidFill>
                <a:latin typeface="Arial" pitchFamily="34" charset="0"/>
                <a:ea typeface="Arial" pitchFamily="34" charset="-122"/>
                <a:cs typeface="Arial" pitchFamily="34" charset="-120"/>
              </a:rPr>
              <a:t>Paul Atkins 推进 token taxonomy 与数字资产规则重写</a:t>
            </a:r>
            <a:endParaRPr lang="en-US" sz="880" dirty="0"/>
          </a:p>
        </p:txBody>
      </p:sp>
      <p:sp>
        <p:nvSpPr>
          <p:cNvPr id="14" name="Shape 12"/>
          <p:cNvSpPr/>
          <p:nvPr/>
        </p:nvSpPr>
        <p:spPr>
          <a:xfrm>
            <a:off x="594360" y="2560320"/>
            <a:ext cx="274320" cy="274320"/>
          </a:xfrm>
          <a:prstGeom prst="ellipse">
            <a:avLst/>
          </a:prstGeom>
          <a:solidFill>
            <a:srgbClr val="C9A96E"/>
          </a:solidFill>
          <a:ln w="12700">
            <a:solidFill>
              <a:srgbClr val="C9A96E"/>
            </a:solidFill>
            <a:prstDash val="solid"/>
          </a:ln>
        </p:spPr>
      </p:sp>
      <p:sp>
        <p:nvSpPr>
          <p:cNvPr id="15" name="Text 13"/>
          <p:cNvSpPr/>
          <p:nvPr/>
        </p:nvSpPr>
        <p:spPr>
          <a:xfrm>
            <a:off x="594360" y="2560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6" name="Text 14"/>
          <p:cNvSpPr/>
          <p:nvPr/>
        </p:nvSpPr>
        <p:spPr>
          <a:xfrm>
            <a:off x="1005840" y="2542032"/>
            <a:ext cx="3200400" cy="210312"/>
          </a:xfrm>
          <a:prstGeom prst="rect">
            <a:avLst/>
          </a:prstGeom>
          <a:noFill/>
          <a:ln/>
        </p:spPr>
        <p:txBody>
          <a:bodyPr wrap="square" lIns="0" tIns="0" rIns="0" bIns="0" rtlCol="0" anchor="ctr"/>
          <a:lstStyle/>
          <a:p>
            <a:pPr indent="0" marL="0">
              <a:buNone/>
            </a:pPr>
            <a:r>
              <a:rPr lang="en-US" sz="1050" b="1" dirty="0">
                <a:solidFill>
                  <a:srgbClr val="2D3748"/>
                </a:solidFill>
                <a:latin typeface="Arial" pitchFamily="34" charset="0"/>
                <a:ea typeface="Arial" pitchFamily="34" charset="-122"/>
                <a:cs typeface="Arial" pitchFamily="34" charset="-120"/>
              </a:rPr>
              <a:t>CFTC 放行美国永续合约框架</a:t>
            </a:r>
            <a:endParaRPr lang="en-US" sz="1050" dirty="0"/>
          </a:p>
        </p:txBody>
      </p:sp>
      <p:sp>
        <p:nvSpPr>
          <p:cNvPr id="17" name="Text 15"/>
          <p:cNvSpPr/>
          <p:nvPr/>
        </p:nvSpPr>
        <p:spPr>
          <a:xfrm>
            <a:off x="1005840" y="2761488"/>
            <a:ext cx="3200400" cy="210312"/>
          </a:xfrm>
          <a:prstGeom prst="rect">
            <a:avLst/>
          </a:prstGeom>
          <a:noFill/>
          <a:ln/>
        </p:spPr>
        <p:txBody>
          <a:bodyPr wrap="square" lIns="0" tIns="0" rIns="0" bIns="0" rtlCol="0" anchor="ctr"/>
          <a:lstStyle/>
          <a:p>
            <a:pPr indent="0" marL="0">
              <a:buNone/>
            </a:pPr>
            <a:r>
              <a:rPr lang="en-US" sz="880" dirty="0">
                <a:solidFill>
                  <a:srgbClr val="8C95A6"/>
                </a:solidFill>
                <a:latin typeface="Arial" pitchFamily="34" charset="0"/>
                <a:ea typeface="Arial" pitchFamily="34" charset="-122"/>
                <a:cs typeface="Arial" pitchFamily="34" charset="-120"/>
              </a:rPr>
              <a:t>Coinbase / Kraken 等受益，衍生品格局进入新阶段</a:t>
            </a:r>
            <a:endParaRPr lang="en-US" sz="880" dirty="0"/>
          </a:p>
        </p:txBody>
      </p:sp>
      <p:sp>
        <p:nvSpPr>
          <p:cNvPr id="18" name="Shape 16"/>
          <p:cNvSpPr/>
          <p:nvPr/>
        </p:nvSpPr>
        <p:spPr>
          <a:xfrm>
            <a:off x="594360" y="3218688"/>
            <a:ext cx="274320" cy="274320"/>
          </a:xfrm>
          <a:prstGeom prst="ellipse">
            <a:avLst/>
          </a:prstGeom>
          <a:solidFill>
            <a:srgbClr val="C9A96E"/>
          </a:solidFill>
          <a:ln w="12700">
            <a:solidFill>
              <a:srgbClr val="C9A96E"/>
            </a:solidFill>
            <a:prstDash val="solid"/>
          </a:ln>
        </p:spPr>
      </p:sp>
      <p:sp>
        <p:nvSpPr>
          <p:cNvPr id="19" name="Text 17"/>
          <p:cNvSpPr/>
          <p:nvPr/>
        </p:nvSpPr>
        <p:spPr>
          <a:xfrm>
            <a:off x="594360" y="32186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0" name="Text 18"/>
          <p:cNvSpPr/>
          <p:nvPr/>
        </p:nvSpPr>
        <p:spPr>
          <a:xfrm>
            <a:off x="1005840" y="3200400"/>
            <a:ext cx="3200400" cy="210312"/>
          </a:xfrm>
          <a:prstGeom prst="rect">
            <a:avLst/>
          </a:prstGeom>
          <a:noFill/>
          <a:ln/>
        </p:spPr>
        <p:txBody>
          <a:bodyPr wrap="square" lIns="0" tIns="0" rIns="0" bIns="0" rtlCol="0" anchor="ctr"/>
          <a:lstStyle/>
          <a:p>
            <a:pPr indent="0" marL="0">
              <a:buNone/>
            </a:pPr>
            <a:r>
              <a:rPr lang="en-US" sz="1050" b="1" dirty="0">
                <a:solidFill>
                  <a:srgbClr val="2D3748"/>
                </a:solidFill>
                <a:latin typeface="Arial" pitchFamily="34" charset="0"/>
                <a:ea typeface="Arial" pitchFamily="34" charset="-122"/>
                <a:cs typeface="Arial" pitchFamily="34" charset="-120"/>
              </a:rPr>
              <a:t>MoneyGram 推出 MGUSD</a:t>
            </a:r>
            <a:endParaRPr lang="en-US" sz="1050" dirty="0"/>
          </a:p>
        </p:txBody>
      </p:sp>
      <p:sp>
        <p:nvSpPr>
          <p:cNvPr id="21" name="Text 19"/>
          <p:cNvSpPr/>
          <p:nvPr/>
        </p:nvSpPr>
        <p:spPr>
          <a:xfrm>
            <a:off x="1005840" y="3419856"/>
            <a:ext cx="3200400" cy="210312"/>
          </a:xfrm>
          <a:prstGeom prst="rect">
            <a:avLst/>
          </a:prstGeom>
          <a:noFill/>
          <a:ln/>
        </p:spPr>
        <p:txBody>
          <a:bodyPr wrap="square" lIns="0" tIns="0" rIns="0" bIns="0" rtlCol="0" anchor="ctr"/>
          <a:lstStyle/>
          <a:p>
            <a:pPr indent="0" marL="0">
              <a:buNone/>
            </a:pPr>
            <a:r>
              <a:rPr lang="en-US" sz="880" dirty="0">
                <a:solidFill>
                  <a:srgbClr val="8C95A6"/>
                </a:solidFill>
                <a:latin typeface="Arial" pitchFamily="34" charset="0"/>
                <a:ea typeface="Arial" pitchFamily="34" charset="-122"/>
                <a:cs typeface="Arial" pitchFamily="34" charset="-120"/>
              </a:rPr>
              <a:t>稳定币通过自托管钱包切入主流跨境支付入口</a:t>
            </a:r>
            <a:endParaRPr lang="en-US" sz="880" dirty="0"/>
          </a:p>
        </p:txBody>
      </p:sp>
      <p:sp>
        <p:nvSpPr>
          <p:cNvPr id="22" name="Shape 20"/>
          <p:cNvSpPr/>
          <p:nvPr/>
        </p:nvSpPr>
        <p:spPr>
          <a:xfrm>
            <a:off x="594360" y="3877056"/>
            <a:ext cx="274320" cy="274320"/>
          </a:xfrm>
          <a:prstGeom prst="ellipse">
            <a:avLst/>
          </a:prstGeom>
          <a:solidFill>
            <a:srgbClr val="C9A96E"/>
          </a:solidFill>
          <a:ln w="12700">
            <a:solidFill>
              <a:srgbClr val="C9A96E"/>
            </a:solidFill>
            <a:prstDash val="solid"/>
          </a:ln>
        </p:spPr>
      </p:sp>
      <p:sp>
        <p:nvSpPr>
          <p:cNvPr id="23" name="Text 21"/>
          <p:cNvSpPr/>
          <p:nvPr/>
        </p:nvSpPr>
        <p:spPr>
          <a:xfrm>
            <a:off x="594360" y="38770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4" name="Text 22"/>
          <p:cNvSpPr/>
          <p:nvPr/>
        </p:nvSpPr>
        <p:spPr>
          <a:xfrm>
            <a:off x="1005840" y="3858768"/>
            <a:ext cx="3200400" cy="210312"/>
          </a:xfrm>
          <a:prstGeom prst="rect">
            <a:avLst/>
          </a:prstGeom>
          <a:noFill/>
          <a:ln/>
        </p:spPr>
        <p:txBody>
          <a:bodyPr wrap="square" lIns="0" tIns="0" rIns="0" bIns="0" rtlCol="0" anchor="ctr"/>
          <a:lstStyle/>
          <a:p>
            <a:pPr indent="0" marL="0">
              <a:buNone/>
            </a:pPr>
            <a:r>
              <a:rPr lang="en-US" sz="1050" b="1" dirty="0">
                <a:solidFill>
                  <a:srgbClr val="2D3748"/>
                </a:solidFill>
                <a:latin typeface="Arial" pitchFamily="34" charset="0"/>
                <a:ea typeface="Arial" pitchFamily="34" charset="-122"/>
                <a:cs typeface="Arial" pitchFamily="34" charset="-120"/>
              </a:rPr>
              <a:t>IREN 获 $36.5 亿融资转向 AI 算力</a:t>
            </a:r>
            <a:endParaRPr lang="en-US" sz="1050" dirty="0"/>
          </a:p>
        </p:txBody>
      </p:sp>
      <p:sp>
        <p:nvSpPr>
          <p:cNvPr id="25" name="Text 23"/>
          <p:cNvSpPr/>
          <p:nvPr/>
        </p:nvSpPr>
        <p:spPr>
          <a:xfrm>
            <a:off x="1005840" y="4078224"/>
            <a:ext cx="3200400" cy="210312"/>
          </a:xfrm>
          <a:prstGeom prst="rect">
            <a:avLst/>
          </a:prstGeom>
          <a:noFill/>
          <a:ln/>
        </p:spPr>
        <p:txBody>
          <a:bodyPr wrap="square" lIns="0" tIns="0" rIns="0" bIns="0" rtlCol="0" anchor="ctr"/>
          <a:lstStyle/>
          <a:p>
            <a:pPr indent="0" marL="0">
              <a:buNone/>
            </a:pPr>
            <a:r>
              <a:rPr lang="en-US" sz="880" dirty="0">
                <a:solidFill>
                  <a:srgbClr val="8C95A6"/>
                </a:solidFill>
                <a:latin typeface="Arial" pitchFamily="34" charset="0"/>
                <a:ea typeface="Arial" pitchFamily="34" charset="-122"/>
                <a:cs typeface="Arial" pitchFamily="34" charset="-120"/>
              </a:rPr>
              <a:t>矿企转型 AI 基础设施，AI × Crypto 再获机构背书</a:t>
            </a:r>
            <a:endParaRPr lang="en-US" sz="880" dirty="0"/>
          </a:p>
        </p:txBody>
      </p:sp>
      <p:sp>
        <p:nvSpPr>
          <p:cNvPr id="26" name="Shape 24"/>
          <p:cNvSpPr/>
          <p:nvPr/>
        </p:nvSpPr>
        <p:spPr>
          <a:xfrm>
            <a:off x="4663440" y="822960"/>
            <a:ext cx="4114800" cy="17830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27" name="Shape 25"/>
          <p:cNvSpPr/>
          <p:nvPr/>
        </p:nvSpPr>
        <p:spPr>
          <a:xfrm>
            <a:off x="4663440" y="822960"/>
            <a:ext cx="4114800" cy="320040"/>
          </a:xfrm>
          <a:prstGeom prst="rect">
            <a:avLst/>
          </a:prstGeom>
          <a:solidFill>
            <a:srgbClr val="1A2744"/>
          </a:solidFill>
          <a:ln w="12700">
            <a:solidFill>
              <a:srgbClr val="1A2744"/>
            </a:solidFill>
            <a:prstDash val="solid"/>
          </a:ln>
        </p:spPr>
      </p:sp>
      <p:sp>
        <p:nvSpPr>
          <p:cNvPr id="28" name="Text 26"/>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Layer 1 &amp; Layer 2</a:t>
            </a:r>
            <a:endParaRPr lang="en-US" sz="1100" dirty="0"/>
          </a:p>
        </p:txBody>
      </p:sp>
      <p:sp>
        <p:nvSpPr>
          <p:cNvPr id="29" name="Text 27"/>
          <p:cNvSpPr/>
          <p:nvPr/>
        </p:nvSpPr>
        <p:spPr>
          <a:xfrm>
            <a:off x="4846320" y="1207008"/>
            <a:ext cx="3703320" cy="128016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2D3748"/>
                </a:solidFill>
              </a:rPr>
              <a:t>Movement 从以太坊 L2 重启为独立 L1，并与 Circle 合作稳定币结算</a:t>
            </a:r>
            <a:endParaRPr lang="en-US" sz="950" dirty="0"/>
          </a:p>
          <a:p>
            <a:pPr marL="342900" indent="-342900">
              <a:spcAft>
                <a:spcPts val="400"/>
              </a:spcAft>
              <a:buSzPct val="100000"/>
              <a:buChar char="•"/>
            </a:pPr>
            <a:r>
              <a:rPr lang="en-US" sz="950" dirty="0">
                <a:solidFill>
                  <a:srgbClr val="2D3748"/>
                </a:solidFill>
              </a:rPr>
              <a:t>Base 完成 Azul 升级，L2 交易量份额升至约 60%</a:t>
            </a:r>
            <a:endParaRPr lang="en-US" sz="950" dirty="0"/>
          </a:p>
          <a:p>
            <a:pPr marL="342900" indent="-342900">
              <a:spcAft>
                <a:spcPts val="400"/>
              </a:spcAft>
              <a:buSzPct val="100000"/>
              <a:buChar char="•"/>
            </a:pPr>
            <a:r>
              <a:rPr lang="en-US" sz="950" dirty="0">
                <a:solidFill>
                  <a:srgbClr val="2D3748"/>
                </a:solidFill>
              </a:rPr>
              <a:t>Solana 上线原生订阅与授权扣费功能，推动链上支付场景</a:t>
            </a:r>
            <a:endParaRPr lang="en-US" sz="950" dirty="0"/>
          </a:p>
          <a:p>
            <a:pPr marL="342900" indent="-342900">
              <a:spcAft>
                <a:spcPts val="400"/>
              </a:spcAft>
              <a:buSzPct val="100000"/>
              <a:buChar char="•"/>
            </a:pPr>
            <a:r>
              <a:rPr lang="en-US" sz="950" dirty="0">
                <a:solidFill>
                  <a:srgbClr val="2D3748"/>
                </a:solidFill>
              </a:rPr>
              <a:t>Sui 升级后两度宕机，暴露高性能链在稳定性上的短板</a:t>
            </a:r>
            <a:endParaRPr lang="en-US" sz="950" dirty="0"/>
          </a:p>
        </p:txBody>
      </p:sp>
      <p:sp>
        <p:nvSpPr>
          <p:cNvPr id="30" name="Shape 28"/>
          <p:cNvSpPr/>
          <p:nvPr/>
        </p:nvSpPr>
        <p:spPr>
          <a:xfrm>
            <a:off x="4663440" y="2788920"/>
            <a:ext cx="4114800" cy="17830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31" name="Shape 29"/>
          <p:cNvSpPr/>
          <p:nvPr/>
        </p:nvSpPr>
        <p:spPr>
          <a:xfrm>
            <a:off x="4663440" y="2788920"/>
            <a:ext cx="4114800" cy="320040"/>
          </a:xfrm>
          <a:prstGeom prst="rect">
            <a:avLst/>
          </a:prstGeom>
          <a:solidFill>
            <a:srgbClr val="1A2744"/>
          </a:solidFill>
          <a:ln w="12700">
            <a:solidFill>
              <a:srgbClr val="1A2744"/>
            </a:solidFill>
            <a:prstDash val="solid"/>
          </a:ln>
        </p:spPr>
      </p:sp>
      <p:sp>
        <p:nvSpPr>
          <p:cNvPr id="32" name="Text 30"/>
          <p:cNvSpPr/>
          <p:nvPr/>
        </p:nvSpPr>
        <p:spPr>
          <a:xfrm>
            <a:off x="4846320" y="278892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DeFi &amp; 永续合约</a:t>
            </a:r>
            <a:endParaRPr lang="en-US" sz="1100" dirty="0"/>
          </a:p>
        </p:txBody>
      </p:sp>
      <p:sp>
        <p:nvSpPr>
          <p:cNvPr id="33" name="Text 31"/>
          <p:cNvSpPr/>
          <p:nvPr/>
        </p:nvSpPr>
        <p:spPr>
          <a:xfrm>
            <a:off x="4846320" y="3172968"/>
            <a:ext cx="3703320" cy="128016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2D3748"/>
                </a:solidFill>
              </a:rPr>
              <a:t>Ether.fi 向 Plume RWA 金库配置 $100M，收益资产继续机构化</a:t>
            </a:r>
            <a:endParaRPr lang="en-US" sz="950" dirty="0"/>
          </a:p>
          <a:p>
            <a:pPr marL="342900" indent="-342900">
              <a:spcAft>
                <a:spcPts val="400"/>
              </a:spcAft>
              <a:buSzPct val="100000"/>
              <a:buChar char="•"/>
            </a:pPr>
            <a:r>
              <a:rPr lang="en-US" sz="950" dirty="0">
                <a:solidFill>
                  <a:srgbClr val="2D3748"/>
                </a:solidFill>
              </a:rPr>
              <a:t>Hyperion 因 USDH 退场回撤 $29M 策略仓位，反映高收益结构脆弱性</a:t>
            </a:r>
            <a:endParaRPr lang="en-US" sz="950" dirty="0"/>
          </a:p>
          <a:p>
            <a:pPr marL="342900" indent="-342900">
              <a:spcAft>
                <a:spcPts val="400"/>
              </a:spcAft>
              <a:buSzPct val="100000"/>
              <a:buChar char="•"/>
            </a:pPr>
            <a:r>
              <a:rPr lang="en-US" sz="950" dirty="0">
                <a:solidFill>
                  <a:srgbClr val="2D3748"/>
                </a:solidFill>
              </a:rPr>
              <a:t>Veda × Privy 把收益产品接口化，DeFi 基础设施进一步中台化</a:t>
            </a:r>
            <a:endParaRPr lang="en-US" sz="950" dirty="0"/>
          </a:p>
          <a:p>
            <a:pPr marL="342900" indent="-342900">
              <a:spcAft>
                <a:spcPts val="400"/>
              </a:spcAft>
              <a:buSzPct val="100000"/>
              <a:buChar char="•"/>
            </a:pPr>
            <a:r>
              <a:rPr lang="en-US" sz="950" dirty="0">
                <a:solidFill>
                  <a:srgbClr val="2D3748"/>
                </a:solidFill>
              </a:rPr>
              <a:t>Hyperliquid 全球永续份额升至 7.5%，链上专业交易迁移趋势延续</a:t>
            </a:r>
            <a:endParaRPr lang="en-US" sz="950" dirty="0"/>
          </a:p>
        </p:txBody>
      </p:sp>
      <p:sp>
        <p:nvSpPr>
          <p:cNvPr id="34" name="Shape 32"/>
          <p:cNvSpPr/>
          <p:nvPr/>
        </p:nvSpPr>
        <p:spPr>
          <a:xfrm>
            <a:off x="0" y="4800600"/>
            <a:ext cx="9144000" cy="342900"/>
          </a:xfrm>
          <a:prstGeom prst="rect">
            <a:avLst/>
          </a:prstGeom>
          <a:solidFill>
            <a:srgbClr val="1A2744"/>
          </a:solidFill>
          <a:ln w="12700">
            <a:solidFill>
              <a:srgbClr val="1A2744"/>
            </a:solidFill>
            <a:prstDash val="solid"/>
          </a:ln>
        </p:spPr>
      </p:sp>
      <p:sp>
        <p:nvSpPr>
          <p:cNvPr id="35" name="Text 33"/>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2026.06.01–06.07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监管政策 &amp; 投融资</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54864" cy="3749040"/>
          </a:xfrm>
          <a:prstGeom prst="rect">
            <a:avLst/>
          </a:prstGeom>
          <a:solidFill>
            <a:srgbClr val="C9A96E"/>
          </a:solidFill>
          <a:ln w="12700">
            <a:solidFill>
              <a:srgbClr val="C9A96E"/>
            </a:solidFill>
            <a:prstDash val="solid"/>
          </a:ln>
        </p:spPr>
      </p:sp>
      <p:sp>
        <p:nvSpPr>
          <p:cNvPr id="6" name="Text 4"/>
          <p:cNvSpPr/>
          <p:nvPr/>
        </p:nvSpPr>
        <p:spPr>
          <a:xfrm>
            <a:off x="640080" y="868680"/>
            <a:ext cx="3657600" cy="274320"/>
          </a:xfrm>
          <a:prstGeom prst="rect">
            <a:avLst/>
          </a:prstGeom>
          <a:noFill/>
          <a:ln/>
        </p:spPr>
        <p:txBody>
          <a:bodyPr wrap="square" lIns="0" tIns="0" rIns="0" bIns="0" rtlCol="0" anchor="ctr"/>
          <a:lstStyle/>
          <a:p>
            <a:pPr indent="0" marL="0">
              <a:buNone/>
            </a:pPr>
            <a:r>
              <a:rPr lang="en-US" sz="1400" b="1" dirty="0">
                <a:solidFill>
                  <a:srgbClr val="1A2744"/>
                </a:solidFill>
              </a:rPr>
              <a:t>监管与政策</a:t>
            </a:r>
            <a:endParaRPr lang="en-US" sz="1400" dirty="0"/>
          </a:p>
        </p:txBody>
      </p:sp>
      <p:sp>
        <p:nvSpPr>
          <p:cNvPr id="7" name="Text 5"/>
          <p:cNvSpPr/>
          <p:nvPr/>
        </p:nvSpPr>
        <p:spPr>
          <a:xfrm>
            <a:off x="640080" y="1307592"/>
            <a:ext cx="3657600" cy="201168"/>
          </a:xfrm>
          <a:prstGeom prst="rect">
            <a:avLst/>
          </a:prstGeom>
          <a:noFill/>
          <a:ln/>
        </p:spPr>
        <p:txBody>
          <a:bodyPr wrap="square" lIns="0" tIns="0" rIns="0" bIns="0" rtlCol="0" anchor="ctr"/>
          <a:lstStyle/>
          <a:p>
            <a:pPr indent="0" marL="0">
              <a:buNone/>
            </a:pPr>
            <a:r>
              <a:rPr lang="en-US" sz="1050" b="1" dirty="0">
                <a:solidFill>
                  <a:srgbClr val="2D3748"/>
                </a:solidFill>
              </a:rPr>
              <a:t>SEC Project Crypto</a:t>
            </a:r>
            <a:endParaRPr lang="en-US" sz="1050" dirty="0"/>
          </a:p>
        </p:txBody>
      </p:sp>
      <p:sp>
        <p:nvSpPr>
          <p:cNvPr id="8" name="Text 6"/>
          <p:cNvSpPr/>
          <p:nvPr/>
        </p:nvSpPr>
        <p:spPr>
          <a:xfrm>
            <a:off x="640080" y="1517904"/>
            <a:ext cx="3657600" cy="219456"/>
          </a:xfrm>
          <a:prstGeom prst="rect">
            <a:avLst/>
          </a:prstGeom>
          <a:noFill/>
          <a:ln/>
        </p:spPr>
        <p:txBody>
          <a:bodyPr wrap="square" lIns="0" tIns="0" rIns="0" bIns="0" rtlCol="0" anchor="ctr"/>
          <a:lstStyle/>
          <a:p>
            <a:pPr indent="0" marL="0">
              <a:buNone/>
            </a:pPr>
            <a:r>
              <a:rPr lang="en-US" sz="920" dirty="0">
                <a:solidFill>
                  <a:srgbClr val="8C95A6"/>
                </a:solidFill>
              </a:rPr>
              <a:t>6/2–6/5 启动全机构数字资产规则重写，目标是给 token 分类与 DLT 明确法理边界</a:t>
            </a:r>
            <a:endParaRPr lang="en-US" sz="920" dirty="0"/>
          </a:p>
        </p:txBody>
      </p:sp>
      <p:sp>
        <p:nvSpPr>
          <p:cNvPr id="9" name="Text 7"/>
          <p:cNvSpPr/>
          <p:nvPr/>
        </p:nvSpPr>
        <p:spPr>
          <a:xfrm>
            <a:off x="640080" y="1901952"/>
            <a:ext cx="3657600" cy="201168"/>
          </a:xfrm>
          <a:prstGeom prst="rect">
            <a:avLst/>
          </a:prstGeom>
          <a:noFill/>
          <a:ln/>
        </p:spPr>
        <p:txBody>
          <a:bodyPr wrap="square" lIns="0" tIns="0" rIns="0" bIns="0" rtlCol="0" anchor="ctr"/>
          <a:lstStyle/>
          <a:p>
            <a:pPr indent="0" marL="0">
              <a:buNone/>
            </a:pPr>
            <a:r>
              <a:rPr lang="en-US" sz="1050" b="1" dirty="0">
                <a:solidFill>
                  <a:srgbClr val="2D3748"/>
                </a:solidFill>
              </a:rPr>
              <a:t>美国永续合约监管落地</a:t>
            </a:r>
            <a:endParaRPr lang="en-US" sz="1050" dirty="0"/>
          </a:p>
        </p:txBody>
      </p:sp>
      <p:sp>
        <p:nvSpPr>
          <p:cNvPr id="10" name="Text 8"/>
          <p:cNvSpPr/>
          <p:nvPr/>
        </p:nvSpPr>
        <p:spPr>
          <a:xfrm>
            <a:off x="640080" y="2112264"/>
            <a:ext cx="3657600" cy="219456"/>
          </a:xfrm>
          <a:prstGeom prst="rect">
            <a:avLst/>
          </a:prstGeom>
          <a:noFill/>
          <a:ln/>
        </p:spPr>
        <p:txBody>
          <a:bodyPr wrap="square" lIns="0" tIns="0" rIns="0" bIns="0" rtlCol="0" anchor="ctr"/>
          <a:lstStyle/>
          <a:p>
            <a:pPr indent="0" marL="0">
              <a:buNone/>
            </a:pPr>
            <a:r>
              <a:rPr lang="en-US" sz="920" dirty="0">
                <a:solidFill>
                  <a:srgbClr val="8C95A6"/>
                </a:solidFill>
              </a:rPr>
              <a:t>CFTC 正式建立首个美国 crypto perpetual framework，Coinbase/ Kraken 加速跟进</a:t>
            </a:r>
            <a:endParaRPr lang="en-US" sz="920" dirty="0"/>
          </a:p>
        </p:txBody>
      </p:sp>
      <p:sp>
        <p:nvSpPr>
          <p:cNvPr id="11" name="Text 9"/>
          <p:cNvSpPr/>
          <p:nvPr/>
        </p:nvSpPr>
        <p:spPr>
          <a:xfrm>
            <a:off x="640080" y="2496312"/>
            <a:ext cx="3657600" cy="201168"/>
          </a:xfrm>
          <a:prstGeom prst="rect">
            <a:avLst/>
          </a:prstGeom>
          <a:noFill/>
          <a:ln/>
        </p:spPr>
        <p:txBody>
          <a:bodyPr wrap="square" lIns="0" tIns="0" rIns="0" bIns="0" rtlCol="0" anchor="ctr"/>
          <a:lstStyle/>
          <a:p>
            <a:pPr indent="0" marL="0">
              <a:buNone/>
            </a:pPr>
            <a:r>
              <a:rPr lang="en-US" sz="1050" b="1" dirty="0">
                <a:solidFill>
                  <a:srgbClr val="2D3748"/>
                </a:solidFill>
              </a:rPr>
              <a:t>Clarity Act + 开发者游说</a:t>
            </a:r>
            <a:endParaRPr lang="en-US" sz="1050" dirty="0"/>
          </a:p>
        </p:txBody>
      </p:sp>
      <p:sp>
        <p:nvSpPr>
          <p:cNvPr id="12" name="Text 10"/>
          <p:cNvSpPr/>
          <p:nvPr/>
        </p:nvSpPr>
        <p:spPr>
          <a:xfrm>
            <a:off x="640080" y="2706624"/>
            <a:ext cx="3657600" cy="219456"/>
          </a:xfrm>
          <a:prstGeom prst="rect">
            <a:avLst/>
          </a:prstGeom>
          <a:noFill/>
          <a:ln/>
        </p:spPr>
        <p:txBody>
          <a:bodyPr wrap="square" lIns="0" tIns="0" rIns="0" bIns="0" rtlCol="0" anchor="ctr"/>
          <a:lstStyle/>
          <a:p>
            <a:pPr indent="0" marL="0">
              <a:buNone/>
            </a:pPr>
            <a:r>
              <a:rPr lang="en-US" sz="920" dirty="0">
                <a:solidFill>
                  <a:srgbClr val="8C95A6"/>
                </a:solidFill>
              </a:rPr>
              <a:t>非托管开发者豁免成为本周政策游说焦点</a:t>
            </a:r>
            <a:endParaRPr lang="en-US" sz="920" dirty="0"/>
          </a:p>
        </p:txBody>
      </p:sp>
      <p:sp>
        <p:nvSpPr>
          <p:cNvPr id="13" name="Text 11"/>
          <p:cNvSpPr/>
          <p:nvPr/>
        </p:nvSpPr>
        <p:spPr>
          <a:xfrm>
            <a:off x="640080" y="3090672"/>
            <a:ext cx="3657600" cy="201168"/>
          </a:xfrm>
          <a:prstGeom prst="rect">
            <a:avLst/>
          </a:prstGeom>
          <a:noFill/>
          <a:ln/>
        </p:spPr>
        <p:txBody>
          <a:bodyPr wrap="square" lIns="0" tIns="0" rIns="0" bIns="0" rtlCol="0" anchor="ctr"/>
          <a:lstStyle/>
          <a:p>
            <a:pPr indent="0" marL="0">
              <a:buNone/>
            </a:pPr>
            <a:r>
              <a:rPr lang="en-US" sz="1050" b="1" dirty="0">
                <a:solidFill>
                  <a:srgbClr val="2D3748"/>
                </a:solidFill>
              </a:rPr>
              <a:t>MiCA 合规窗口逼近</a:t>
            </a:r>
            <a:endParaRPr lang="en-US" sz="1050" dirty="0"/>
          </a:p>
        </p:txBody>
      </p:sp>
      <p:sp>
        <p:nvSpPr>
          <p:cNvPr id="14" name="Text 12"/>
          <p:cNvSpPr/>
          <p:nvPr/>
        </p:nvSpPr>
        <p:spPr>
          <a:xfrm>
            <a:off x="640080" y="3300984"/>
            <a:ext cx="3657600" cy="219456"/>
          </a:xfrm>
          <a:prstGeom prst="rect">
            <a:avLst/>
          </a:prstGeom>
          <a:noFill/>
          <a:ln/>
        </p:spPr>
        <p:txBody>
          <a:bodyPr wrap="square" lIns="0" tIns="0" rIns="0" bIns="0" rtlCol="0" anchor="ctr"/>
          <a:lstStyle/>
          <a:p>
            <a:pPr indent="0" marL="0">
              <a:buNone/>
            </a:pPr>
            <a:r>
              <a:rPr lang="en-US" sz="920" dirty="0">
                <a:solidFill>
                  <a:srgbClr val="8C95A6"/>
                </a:solidFill>
              </a:rPr>
              <a:t>仅约 18% VASP 完成转换，USDT 等稳定币在欧盟面临准入压力</a:t>
            </a:r>
            <a:endParaRPr lang="en-US" sz="920" dirty="0"/>
          </a:p>
        </p:txBody>
      </p:sp>
      <p:sp>
        <p:nvSpPr>
          <p:cNvPr id="15" name="Text 13"/>
          <p:cNvSpPr/>
          <p:nvPr/>
        </p:nvSpPr>
        <p:spPr>
          <a:xfrm>
            <a:off x="640080" y="3685032"/>
            <a:ext cx="3657600" cy="201168"/>
          </a:xfrm>
          <a:prstGeom prst="rect">
            <a:avLst/>
          </a:prstGeom>
          <a:noFill/>
          <a:ln/>
        </p:spPr>
        <p:txBody>
          <a:bodyPr wrap="square" lIns="0" tIns="0" rIns="0" bIns="0" rtlCol="0" anchor="ctr"/>
          <a:lstStyle/>
          <a:p>
            <a:pPr indent="0" marL="0">
              <a:buNone/>
            </a:pPr>
            <a:r>
              <a:rPr lang="en-US" sz="1050" b="1" dirty="0">
                <a:solidFill>
                  <a:srgbClr val="2D3748"/>
                </a:solidFill>
              </a:rPr>
              <a:t>香港扩至全链路监管</a:t>
            </a:r>
            <a:endParaRPr lang="en-US" sz="1050" dirty="0"/>
          </a:p>
        </p:txBody>
      </p:sp>
      <p:sp>
        <p:nvSpPr>
          <p:cNvPr id="16" name="Text 14"/>
          <p:cNvSpPr/>
          <p:nvPr/>
        </p:nvSpPr>
        <p:spPr>
          <a:xfrm>
            <a:off x="640080" y="3895344"/>
            <a:ext cx="3657600" cy="219456"/>
          </a:xfrm>
          <a:prstGeom prst="rect">
            <a:avLst/>
          </a:prstGeom>
          <a:noFill/>
          <a:ln/>
        </p:spPr>
        <p:txBody>
          <a:bodyPr wrap="square" lIns="0" tIns="0" rIns="0" bIns="0" rtlCol="0" anchor="ctr"/>
          <a:lstStyle/>
          <a:p>
            <a:pPr indent="0" marL="0">
              <a:buNone/>
            </a:pPr>
            <a:r>
              <a:rPr lang="en-US" sz="920" dirty="0">
                <a:solidFill>
                  <a:srgbClr val="8C95A6"/>
                </a:solidFill>
              </a:rPr>
              <a:t>牌照要求从交易所延伸至托管、顾问与资管，配套推进 tokenized bond</a:t>
            </a:r>
            <a:endParaRPr lang="en-US" sz="920" dirty="0"/>
          </a:p>
        </p:txBody>
      </p:sp>
      <p:sp>
        <p:nvSpPr>
          <p:cNvPr id="17" name="Shape 15"/>
          <p:cNvSpPr/>
          <p:nvPr/>
        </p:nvSpPr>
        <p:spPr>
          <a:xfrm>
            <a:off x="4663440" y="822960"/>
            <a:ext cx="4114800" cy="37490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8" name="Shape 16"/>
          <p:cNvSpPr/>
          <p:nvPr/>
        </p:nvSpPr>
        <p:spPr>
          <a:xfrm>
            <a:off x="4663440" y="822960"/>
            <a:ext cx="54864" cy="3749040"/>
          </a:xfrm>
          <a:prstGeom prst="rect">
            <a:avLst/>
          </a:prstGeom>
          <a:solidFill>
            <a:srgbClr val="C9A96E"/>
          </a:solidFill>
          <a:ln w="12700">
            <a:solidFill>
              <a:srgbClr val="C9A96E"/>
            </a:solidFill>
            <a:prstDash val="solid"/>
          </a:ln>
        </p:spPr>
      </p:sp>
      <p:sp>
        <p:nvSpPr>
          <p:cNvPr id="19" name="Text 17"/>
          <p:cNvSpPr/>
          <p:nvPr/>
        </p:nvSpPr>
        <p:spPr>
          <a:xfrm>
            <a:off x="4937760" y="868680"/>
            <a:ext cx="3657600" cy="274320"/>
          </a:xfrm>
          <a:prstGeom prst="rect">
            <a:avLst/>
          </a:prstGeom>
          <a:noFill/>
          <a:ln/>
        </p:spPr>
        <p:txBody>
          <a:bodyPr wrap="square" lIns="0" tIns="0" rIns="0" bIns="0" rtlCol="0" anchor="ctr"/>
          <a:lstStyle/>
          <a:p>
            <a:pPr indent="0" marL="0">
              <a:buNone/>
            </a:pPr>
            <a:r>
              <a:rPr lang="en-US" sz="1400" b="1" dirty="0">
                <a:solidFill>
                  <a:srgbClr val="1A2744"/>
                </a:solidFill>
              </a:rPr>
              <a:t>投融资与并购</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749040" cy="914400"/>
        </p:xfrm>
        <a:graphic>
          <a:graphicData uri="http://schemas.openxmlformats.org/drawingml/2006/table">
            <a:tbl>
              <a:tblPr/>
              <a:tblGrid>
                <a:gridCol w="1188720"/>
                <a:gridCol w="868680"/>
                <a:gridCol w="1691640"/>
              </a:tblGrid>
              <a:tr h="274320">
                <a:tc>
                  <a:txBody>
                    <a:bodyPr/>
                    <a:lstStyle/>
                    <a:p>
                      <a:pPr indent="0" marL="0">
                        <a:buNone/>
                      </a:pPr>
                      <a:r>
                        <a:rPr lang="en-US" sz="950" b="1" dirty="0">
                          <a:solidFill>
                            <a:srgbClr val="FFFFFF"/>
                          </a:solidFill>
                        </a:rPr>
                        <a:t>项目</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950" b="1" dirty="0">
                          <a:solidFill>
                            <a:srgbClr val="FFFFFF"/>
                          </a:solidFill>
                        </a:rPr>
                        <a:t>金额</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950" b="1" dirty="0">
                          <a:solidFill>
                            <a:srgbClr val="FFFFFF"/>
                          </a:solidFill>
                        </a:rPr>
                        <a:t>备注</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65176">
                <a:tc>
                  <a:txBody>
                    <a:bodyPr/>
                    <a:lstStyle/>
                    <a:p>
                      <a:pPr indent="0" marL="0">
                        <a:buNone/>
                      </a:pPr>
                      <a:r>
                        <a:rPr lang="en-US" sz="920" b="1" dirty="0">
                          <a:solidFill>
                            <a:srgbClr val="2D3748"/>
                          </a:solidFill>
                        </a:rPr>
                        <a:t>Robinhood/WonderFi</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20" dirty="0">
                          <a:solidFill>
                            <a:srgbClr val="2D3748"/>
                          </a:solidFill>
                        </a:rPr>
                        <a:t>$250M</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加拿大合规版图并表</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20" b="1" dirty="0">
                          <a:solidFill>
                            <a:srgbClr val="2D3748"/>
                          </a:solidFill>
                        </a:rPr>
                        <a:t>Ethena</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20" dirty="0">
                          <a:solidFill>
                            <a:srgbClr val="2D3748"/>
                          </a:solidFill>
                        </a:rPr>
                        <a:t>$182.5M</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Binance Labs、Brevan Howard 参与</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20" b="1" dirty="0">
                          <a:solidFill>
                            <a:srgbClr val="2D3748"/>
                          </a:solidFill>
                        </a:rPr>
                        <a:t>SignalPlus</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20" dirty="0">
                          <a:solidFill>
                            <a:srgbClr val="2D3748"/>
                          </a:solidFill>
                        </a:rPr>
                        <a:t>$101M</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机构衍生品基础设施</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20" b="1" dirty="0">
                          <a:solidFill>
                            <a:srgbClr val="2D3748"/>
                          </a:solidFill>
                        </a:rPr>
                        <a:t>Cosmos Labs</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20" dirty="0">
                          <a:solidFill>
                            <a:srgbClr val="2D3748"/>
                          </a:solidFill>
                        </a:rPr>
                        <a:t>并购</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收购 Mintscan 区块浏览器</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65176">
                <a:tc>
                  <a:txBody>
                    <a:bodyPr/>
                    <a:lstStyle/>
                    <a:p>
                      <a:pPr indent="0" marL="0">
                        <a:buNone/>
                      </a:pPr>
                      <a:r>
                        <a:rPr lang="en-US" sz="920" b="1" dirty="0">
                          <a:solidFill>
                            <a:srgbClr val="2D3748"/>
                          </a:solidFill>
                        </a:rPr>
                        <a:t>Squads</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20" dirty="0">
                          <a:solidFill>
                            <a:srgbClr val="2D3748"/>
                          </a:solidFill>
                        </a:rPr>
                        <a:t>$18M</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Solana treasury / stablecoin stack</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1" name="Shape 18"/>
          <p:cNvSpPr/>
          <p:nvPr/>
        </p:nvSpPr>
        <p:spPr>
          <a:xfrm>
            <a:off x="4846320" y="3154680"/>
            <a:ext cx="3749040" cy="713232"/>
          </a:xfrm>
          <a:prstGeom prst="rect">
            <a:avLst/>
          </a:prstGeom>
          <a:solidFill>
            <a:srgbClr val="FFF7E8"/>
          </a:solidFill>
          <a:ln w="12700">
            <a:solidFill>
              <a:srgbClr val="FFF7E8"/>
            </a:solidFill>
            <a:prstDash val="solid"/>
          </a:ln>
          <a:effectLst>
            <a:outerShdw sx="100000" sy="100000" kx="0" ky="0" algn="bl" rotWithShape="0" blurRad="50800" dist="25400" dir="8100000">
              <a:srgbClr val="000000">
                <a:alpha val="12000"/>
              </a:srgbClr>
            </a:outerShdw>
          </a:effectLst>
        </p:spPr>
      </p:sp>
      <p:sp>
        <p:nvSpPr>
          <p:cNvPr id="22" name="Shape 19"/>
          <p:cNvSpPr/>
          <p:nvPr/>
        </p:nvSpPr>
        <p:spPr>
          <a:xfrm>
            <a:off x="4846320" y="3154680"/>
            <a:ext cx="54864" cy="713232"/>
          </a:xfrm>
          <a:prstGeom prst="rect">
            <a:avLst/>
          </a:prstGeom>
          <a:solidFill>
            <a:srgbClr val="C9A96E"/>
          </a:solidFill>
          <a:ln w="12700">
            <a:solidFill>
              <a:srgbClr val="C9A96E"/>
            </a:solidFill>
            <a:prstDash val="solid"/>
          </a:ln>
        </p:spPr>
      </p:sp>
      <p:sp>
        <p:nvSpPr>
          <p:cNvPr id="23" name="Text 20"/>
          <p:cNvSpPr/>
          <p:nvPr/>
        </p:nvSpPr>
        <p:spPr>
          <a:xfrm>
            <a:off x="5074920" y="3246120"/>
            <a:ext cx="3291840" cy="457200"/>
          </a:xfrm>
          <a:prstGeom prst="rect">
            <a:avLst/>
          </a:prstGeom>
          <a:noFill/>
          <a:ln/>
        </p:spPr>
        <p:txBody>
          <a:bodyPr wrap="square" lIns="0" tIns="0" rIns="0" bIns="0" rtlCol="0" anchor="ctr"/>
          <a:lstStyle/>
          <a:p>
            <a:pPr indent="0" marL="0">
              <a:buNone/>
            </a:pPr>
            <a:r>
              <a:rPr lang="en-US" sz="950" dirty="0">
                <a:solidFill>
                  <a:srgbClr val="2D3748"/>
                </a:solidFill>
              </a:rPr>
              <a:t>一级市场仍更愿意给“可产生真实现金流或金融基础设施位势”的项目定价，Ethena 与 Robinhood/WonderFi 是本周最强信号。</a:t>
            </a:r>
            <a:endParaRPr lang="en-US" sz="950" dirty="0"/>
          </a:p>
        </p:txBody>
      </p:sp>
      <p:sp>
        <p:nvSpPr>
          <p:cNvPr id="24" name="Shape 21"/>
          <p:cNvSpPr/>
          <p:nvPr/>
        </p:nvSpPr>
        <p:spPr>
          <a:xfrm>
            <a:off x="0" y="4800600"/>
            <a:ext cx="9144000" cy="342900"/>
          </a:xfrm>
          <a:prstGeom prst="rect">
            <a:avLst/>
          </a:prstGeom>
          <a:solidFill>
            <a:srgbClr val="1A2744"/>
          </a:solidFill>
          <a:ln w="12700">
            <a:solidFill>
              <a:srgbClr val="1A2744"/>
            </a:solidFill>
            <a:prstDash val="solid"/>
          </a:ln>
        </p:spPr>
      </p:sp>
      <p:sp>
        <p:nvSpPr>
          <p:cNvPr id="25" name="Text 2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2026.06.01–06.07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安全事件 &amp; 赛道观察</a:t>
            </a:r>
            <a:endParaRPr lang="en-US" sz="2000" dirty="0"/>
          </a:p>
        </p:txBody>
      </p:sp>
      <p:sp>
        <p:nvSpPr>
          <p:cNvPr id="4" name="Shape 2"/>
          <p:cNvSpPr/>
          <p:nvPr/>
        </p:nvSpPr>
        <p:spPr>
          <a:xfrm>
            <a:off x="365760" y="822960"/>
            <a:ext cx="4114800" cy="21031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4114800" cy="320040"/>
          </a:xfrm>
          <a:prstGeom prst="rect">
            <a:avLst/>
          </a:prstGeom>
          <a:solidFill>
            <a:srgbClr val="C53030"/>
          </a:solidFill>
          <a:ln w="12700">
            <a:solidFill>
              <a:srgbClr val="C53030"/>
            </a:solidFill>
            <a:prstDash val="solid"/>
          </a:ln>
        </p:spPr>
      </p:sp>
      <p:sp>
        <p:nvSpPr>
          <p:cNvPr id="6" name="Text 4"/>
          <p:cNvSpPr/>
          <p:nvPr/>
        </p:nvSpPr>
        <p:spPr>
          <a:xfrm>
            <a:off x="548640" y="822960"/>
            <a:ext cx="3749040" cy="320040"/>
          </a:xfrm>
          <a:prstGeom prst="rect">
            <a:avLst/>
          </a:prstGeom>
          <a:noFill/>
          <a:ln/>
        </p:spPr>
        <p:txBody>
          <a:bodyPr wrap="square" lIns="0" tIns="0" rIns="0" bIns="0" rtlCol="0" anchor="ctr"/>
          <a:lstStyle/>
          <a:p>
            <a:pPr indent="0" marL="0">
              <a:buNone/>
            </a:pPr>
            <a:r>
              <a:rPr lang="en-US" sz="1100" b="1" dirty="0">
                <a:solidFill>
                  <a:srgbClr val="FFFFFF"/>
                </a:solidFill>
              </a:rPr>
              <a:t>安全事件 | 本周损失 ~$10M+ disclosed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840480" cy="914400"/>
        </p:xfrm>
        <a:graphic>
          <a:graphicData uri="http://schemas.openxmlformats.org/drawingml/2006/table">
            <a:tbl>
              <a:tblPr/>
              <a:tblGrid>
                <a:gridCol w="1234440"/>
                <a:gridCol w="1005840"/>
                <a:gridCol w="1600200"/>
              </a:tblGrid>
              <a:tr h="256032">
                <a:tc>
                  <a:txBody>
                    <a:bodyPr/>
                    <a:lstStyle/>
                    <a:p>
                      <a:pPr indent="0" marL="0">
                        <a:buNone/>
                      </a:pPr>
                      <a:r>
                        <a:rPr lang="en-US" sz="900" b="1" dirty="0">
                          <a:solidFill>
                            <a:srgbClr val="2D3748"/>
                          </a:solidFill>
                        </a:rPr>
                        <a:t>事件</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algn="r" indent="0" marL="0">
                        <a:buNone/>
                      </a:pPr>
                      <a:r>
                        <a:rPr lang="en-US" sz="900" b="1" dirty="0">
                          <a:solidFill>
                            <a:srgbClr val="2D3748"/>
                          </a:solidFill>
                        </a:rPr>
                        <a:t>损失</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indent="0" marL="0">
                        <a:buNone/>
                      </a:pPr>
                      <a:r>
                        <a:rPr lang="en-US" sz="900" b="1" dirty="0">
                          <a:solidFill>
                            <a:srgbClr val="2D3748"/>
                          </a:solidFill>
                        </a:rPr>
                        <a:t>攻击方式</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r>
              <a:tr h="256032">
                <a:tc>
                  <a:txBody>
                    <a:bodyPr/>
                    <a:lstStyle/>
                    <a:p>
                      <a:pPr indent="0" marL="0">
                        <a:buNone/>
                      </a:pPr>
                      <a:r>
                        <a:rPr lang="en-US" sz="880" dirty="0">
                          <a:solidFill>
                            <a:srgbClr val="000000"/>
                          </a:solidFill>
                        </a:rPr>
                        <a:t>Gnosis Pay</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80" dirty="0">
                          <a:solidFill>
                            <a:srgbClr val="C53030"/>
                          </a:solidFill>
                        </a:rPr>
                        <a:t>未披露</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40" dirty="0">
                          <a:solidFill>
                            <a:srgbClr val="8C95A6"/>
                          </a:solidFill>
                        </a:rPr>
                        <a:t>Zodiac delay module 权限漏洞</a:t>
                      </a:r>
                      <a:endParaRPr lang="en-US" sz="84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880" dirty="0">
                          <a:solidFill>
                            <a:srgbClr val="000000"/>
                          </a:solidFill>
                        </a:rPr>
                        <a:t>Stake DAO</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80" dirty="0">
                          <a:solidFill>
                            <a:srgbClr val="C53030"/>
                          </a:solidFill>
                        </a:rPr>
                        <a:t>待核实</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40" dirty="0">
                          <a:solidFill>
                            <a:srgbClr val="8C95A6"/>
                          </a:solidFill>
                        </a:rPr>
                        <a:t>Arbitrum deployer key 泄露</a:t>
                      </a:r>
                      <a:endParaRPr lang="en-US" sz="84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880" dirty="0">
                          <a:solidFill>
                            <a:srgbClr val="000000"/>
                          </a:solidFill>
                        </a:rPr>
                        <a:t>Zcash</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80" dirty="0">
                          <a:solidFill>
                            <a:srgbClr val="C53030"/>
                          </a:solidFill>
                        </a:rPr>
                        <a:t>$0</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40" dirty="0">
                          <a:solidFill>
                            <a:srgbClr val="8C95A6"/>
                          </a:solidFill>
                        </a:rPr>
                        <a:t>无限增发漏洞披露后闪崩</a:t>
                      </a:r>
                      <a:endParaRPr lang="en-US" sz="84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880" dirty="0">
                          <a:solidFill>
                            <a:srgbClr val="000000"/>
                          </a:solidFill>
                        </a:rPr>
                        <a:t>edgeX</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880" dirty="0">
                          <a:solidFill>
                            <a:srgbClr val="C53030"/>
                          </a:solidFill>
                        </a:rPr>
                        <a:t>未披露</a:t>
                      </a:r>
                      <a:endParaRPr lang="en-US" sz="88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40" dirty="0">
                          <a:solidFill>
                            <a:srgbClr val="8C95A6"/>
                          </a:solidFill>
                        </a:rPr>
                        <a:t>低流通量 + 内部人砸盘</a:t>
                      </a:r>
                      <a:endParaRPr lang="en-US" sz="84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8" name="Shape 5"/>
          <p:cNvSpPr/>
          <p:nvPr/>
        </p:nvSpPr>
        <p:spPr>
          <a:xfrm>
            <a:off x="365760" y="3154680"/>
            <a:ext cx="4114800" cy="141732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9" name="Shape 6"/>
          <p:cNvSpPr/>
          <p:nvPr/>
        </p:nvSpPr>
        <p:spPr>
          <a:xfrm>
            <a:off x="365760" y="3154680"/>
            <a:ext cx="4114800" cy="320040"/>
          </a:xfrm>
          <a:prstGeom prst="rect">
            <a:avLst/>
          </a:prstGeom>
          <a:solidFill>
            <a:srgbClr val="1A2744"/>
          </a:solidFill>
          <a:ln w="12700">
            <a:solidFill>
              <a:srgbClr val="1A2744"/>
            </a:solidFill>
            <a:prstDash val="solid"/>
          </a:ln>
        </p:spPr>
      </p:sp>
      <p:sp>
        <p:nvSpPr>
          <p:cNvPr id="10" name="Text 7"/>
          <p:cNvSpPr/>
          <p:nvPr/>
        </p:nvSpPr>
        <p:spPr>
          <a:xfrm>
            <a:off x="548640" y="315468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稳定币</a:t>
            </a:r>
            <a:endParaRPr lang="en-US" sz="1100" dirty="0"/>
          </a:p>
        </p:txBody>
      </p:sp>
      <p:sp>
        <p:nvSpPr>
          <p:cNvPr id="11" name="Text 8"/>
          <p:cNvSpPr/>
          <p:nvPr/>
        </p:nvSpPr>
        <p:spPr>
          <a:xfrm>
            <a:off x="548640" y="3538728"/>
            <a:ext cx="3703320" cy="914400"/>
          </a:xfrm>
          <a:prstGeom prst="rect">
            <a:avLst/>
          </a:prstGeom>
          <a:noFill/>
          <a:ln/>
        </p:spPr>
        <p:txBody>
          <a:bodyPr wrap="square" lIns="0" tIns="0" rIns="0" bIns="0" rtlCol="0" anchor="ctr"/>
          <a:lstStyle/>
          <a:p>
            <a:pPr marL="342900" indent="-342900">
              <a:spcAft>
                <a:spcPts val="400"/>
              </a:spcAft>
              <a:buSzPct val="100000"/>
              <a:buChar char="•"/>
            </a:pPr>
            <a:r>
              <a:rPr lang="en-US" sz="940" dirty="0">
                <a:solidFill>
                  <a:srgbClr val="2D3748"/>
                </a:solidFill>
              </a:rPr>
              <a:t>MoneyGram 于 6/2 在 Stellar 上推出 MGUSD，钱包自托管能力直达终端用户</a:t>
            </a:r>
            <a:endParaRPr lang="en-US" sz="940" dirty="0"/>
          </a:p>
          <a:p>
            <a:pPr marL="342900" indent="-342900">
              <a:spcAft>
                <a:spcPts val="400"/>
              </a:spcAft>
              <a:buSzPct val="100000"/>
              <a:buChar char="•"/>
            </a:pPr>
            <a:r>
              <a:rPr lang="en-US" sz="940" dirty="0">
                <a:solidFill>
                  <a:srgbClr val="2D3748"/>
                </a:solidFill>
              </a:rPr>
              <a:t>RLUSD 市值升至 $340M，XRP Ledger 稳定币生态扩张</a:t>
            </a:r>
            <a:endParaRPr lang="en-US" sz="940" dirty="0"/>
          </a:p>
          <a:p>
            <a:pPr marL="342900" indent="-342900">
              <a:spcAft>
                <a:spcPts val="400"/>
              </a:spcAft>
              <a:buSzPct val="100000"/>
              <a:buChar char="•"/>
            </a:pPr>
            <a:r>
              <a:rPr lang="en-US" sz="940" dirty="0">
                <a:solidFill>
                  <a:srgbClr val="2D3748"/>
                </a:solidFill>
              </a:rPr>
              <a:t>GENIUS Act 6/9 截止征求意见，7 月或见执行细则</a:t>
            </a:r>
            <a:endParaRPr lang="en-US" sz="940" dirty="0"/>
          </a:p>
        </p:txBody>
      </p:sp>
      <p:sp>
        <p:nvSpPr>
          <p:cNvPr id="12" name="Shape 9"/>
          <p:cNvSpPr/>
          <p:nvPr/>
        </p:nvSpPr>
        <p:spPr>
          <a:xfrm>
            <a:off x="4663440" y="822960"/>
            <a:ext cx="4114800" cy="16916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3" name="Shape 10"/>
          <p:cNvSpPr/>
          <p:nvPr/>
        </p:nvSpPr>
        <p:spPr>
          <a:xfrm>
            <a:off x="4663440" y="822960"/>
            <a:ext cx="4114800" cy="320040"/>
          </a:xfrm>
          <a:prstGeom prst="rect">
            <a:avLst/>
          </a:prstGeom>
          <a:solidFill>
            <a:srgbClr val="1A2744"/>
          </a:solidFill>
          <a:ln w="12700">
            <a:solidFill>
              <a:srgbClr val="1A2744"/>
            </a:solidFill>
            <a:prstDash val="solid"/>
          </a:ln>
        </p:spPr>
      </p:sp>
      <p:sp>
        <p:nvSpPr>
          <p:cNvPr id="14" name="Text 11"/>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AI × Crypto</a:t>
            </a:r>
            <a:endParaRPr lang="en-US" sz="1100" dirty="0"/>
          </a:p>
        </p:txBody>
      </p:sp>
      <p:sp>
        <p:nvSpPr>
          <p:cNvPr id="15" name="Text 12"/>
          <p:cNvSpPr/>
          <p:nvPr/>
        </p:nvSpPr>
        <p:spPr>
          <a:xfrm>
            <a:off x="4846320" y="1207008"/>
            <a:ext cx="3703320" cy="1188720"/>
          </a:xfrm>
          <a:prstGeom prst="rect">
            <a:avLst/>
          </a:prstGeom>
          <a:noFill/>
          <a:ln/>
        </p:spPr>
        <p:txBody>
          <a:bodyPr wrap="square" lIns="0" tIns="0" rIns="0" bIns="0" rtlCol="0" anchor="ctr"/>
          <a:lstStyle/>
          <a:p>
            <a:pPr marL="342900" indent="-342900">
              <a:spcAft>
                <a:spcPts val="400"/>
              </a:spcAft>
              <a:buSzPct val="100000"/>
              <a:buChar char="•"/>
            </a:pPr>
            <a:r>
              <a:rPr lang="en-US" sz="940" dirty="0">
                <a:solidFill>
                  <a:srgbClr val="2D3748"/>
                </a:solidFill>
              </a:rPr>
              <a:t>Travala 在 Base 推出 agentic travel protocol，AI Agent 可直接完成订票与支付</a:t>
            </a:r>
            <a:endParaRPr lang="en-US" sz="940" dirty="0"/>
          </a:p>
          <a:p>
            <a:pPr marL="342900" indent="-342900">
              <a:spcAft>
                <a:spcPts val="400"/>
              </a:spcAft>
              <a:buSzPct val="100000"/>
              <a:buChar char="•"/>
            </a:pPr>
            <a:r>
              <a:rPr lang="en-US" sz="940" dirty="0">
                <a:solidFill>
                  <a:srgbClr val="2D3748"/>
                </a:solidFill>
              </a:rPr>
              <a:t>Messari 提出 Agentic GDP，AI Agent token 从叙事转向可测量工作负载</a:t>
            </a:r>
            <a:endParaRPr lang="en-US" sz="940" dirty="0"/>
          </a:p>
          <a:p>
            <a:pPr marL="342900" indent="-342900">
              <a:spcAft>
                <a:spcPts val="400"/>
              </a:spcAft>
              <a:buSzPct val="100000"/>
              <a:buChar char="•"/>
            </a:pPr>
            <a:r>
              <a:rPr lang="en-US" sz="940" dirty="0">
                <a:solidFill>
                  <a:srgbClr val="2D3748"/>
                </a:solidFill>
              </a:rPr>
              <a:t>IREN 获 $36.5 亿融资，矿企转算力基础设施成为主线之一</a:t>
            </a:r>
            <a:endParaRPr lang="en-US" sz="940" dirty="0"/>
          </a:p>
        </p:txBody>
      </p:sp>
      <p:sp>
        <p:nvSpPr>
          <p:cNvPr id="16" name="Shape 13"/>
          <p:cNvSpPr/>
          <p:nvPr/>
        </p:nvSpPr>
        <p:spPr>
          <a:xfrm>
            <a:off x="4663440" y="2697480"/>
            <a:ext cx="4114800" cy="16916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17" name="Shape 14"/>
          <p:cNvSpPr/>
          <p:nvPr/>
        </p:nvSpPr>
        <p:spPr>
          <a:xfrm>
            <a:off x="4663440" y="2697480"/>
            <a:ext cx="4114800" cy="320040"/>
          </a:xfrm>
          <a:prstGeom prst="rect">
            <a:avLst/>
          </a:prstGeom>
          <a:solidFill>
            <a:srgbClr val="1A2744"/>
          </a:solidFill>
          <a:ln w="12700">
            <a:solidFill>
              <a:srgbClr val="1A2744"/>
            </a:solidFill>
            <a:prstDash val="solid"/>
          </a:ln>
        </p:spPr>
      </p:sp>
      <p:sp>
        <p:nvSpPr>
          <p:cNvPr id="18" name="Text 15"/>
          <p:cNvSpPr/>
          <p:nvPr/>
        </p:nvSpPr>
        <p:spPr>
          <a:xfrm>
            <a:off x="4846320" y="2697480"/>
            <a:ext cx="3657600" cy="320040"/>
          </a:xfrm>
          <a:prstGeom prst="rect">
            <a:avLst/>
          </a:prstGeom>
          <a:noFill/>
          <a:ln/>
        </p:spPr>
        <p:txBody>
          <a:bodyPr wrap="square" lIns="0" tIns="0" rIns="0" bIns="0" rtlCol="0" anchor="ctr"/>
          <a:lstStyle/>
          <a:p>
            <a:pPr indent="0" marL="0">
              <a:buNone/>
            </a:pPr>
            <a:r>
              <a:rPr lang="en-US" sz="1100" b="1" dirty="0">
                <a:solidFill>
                  <a:srgbClr val="FFFFFF"/>
                </a:solidFill>
              </a:rPr>
              <a:t>预测市场</a:t>
            </a:r>
            <a:endParaRPr lang="en-US" sz="1100" dirty="0"/>
          </a:p>
        </p:txBody>
      </p:sp>
      <p:sp>
        <p:nvSpPr>
          <p:cNvPr id="19" name="Text 16"/>
          <p:cNvSpPr/>
          <p:nvPr/>
        </p:nvSpPr>
        <p:spPr>
          <a:xfrm>
            <a:off x="4846320" y="3081528"/>
            <a:ext cx="3703320" cy="1188720"/>
          </a:xfrm>
          <a:prstGeom prst="rect">
            <a:avLst/>
          </a:prstGeom>
          <a:noFill/>
          <a:ln/>
        </p:spPr>
        <p:txBody>
          <a:bodyPr wrap="square" lIns="0" tIns="0" rIns="0" bIns="0" rtlCol="0" anchor="ctr"/>
          <a:lstStyle/>
          <a:p>
            <a:pPr marL="342900" indent="-342900">
              <a:spcAft>
                <a:spcPts val="400"/>
              </a:spcAft>
              <a:buSzPct val="100000"/>
              <a:buChar char="•"/>
            </a:pPr>
            <a:r>
              <a:rPr lang="en-US" sz="940" dirty="0">
                <a:solidFill>
                  <a:srgbClr val="2D3748"/>
                </a:solidFill>
              </a:rPr>
              <a:t>Polymarket 因 MicroStrategy 争议结算再度暴露 oracle 治理问题</a:t>
            </a:r>
            <a:endParaRPr lang="en-US" sz="940" dirty="0"/>
          </a:p>
          <a:p>
            <a:pPr marL="342900" indent="-342900">
              <a:spcAft>
                <a:spcPts val="400"/>
              </a:spcAft>
              <a:buSzPct val="100000"/>
              <a:buChar char="•"/>
            </a:pPr>
            <a:r>
              <a:rPr lang="en-US" sz="940" dirty="0">
                <a:solidFill>
                  <a:srgbClr val="2D3748"/>
                </a:solidFill>
              </a:rPr>
              <a:t>世界杯 2026 市场成交额已超 $529M，体育预测需求创历史新高</a:t>
            </a:r>
            <a:endParaRPr lang="en-US" sz="940" dirty="0"/>
          </a:p>
          <a:p>
            <a:pPr marL="342900" indent="-342900">
              <a:spcAft>
                <a:spcPts val="400"/>
              </a:spcAft>
              <a:buSzPct val="100000"/>
              <a:buChar char="•"/>
            </a:pPr>
            <a:r>
              <a:rPr lang="en-US" sz="940" dirty="0">
                <a:solidFill>
                  <a:srgbClr val="2D3748"/>
                </a:solidFill>
              </a:rPr>
              <a:t>Hyperliquid 日费收入反超 Polymarket，交易与预测融合加速</a:t>
            </a:r>
            <a:endParaRPr lang="en-US" sz="940" dirty="0"/>
          </a:p>
        </p:txBody>
      </p:sp>
      <p:sp>
        <p:nvSpPr>
          <p:cNvPr id="20" name="Shape 17"/>
          <p:cNvSpPr/>
          <p:nvPr/>
        </p:nvSpPr>
        <p:spPr>
          <a:xfrm>
            <a:off x="0" y="4800600"/>
            <a:ext cx="9144000" cy="342900"/>
          </a:xfrm>
          <a:prstGeom prst="rect">
            <a:avLst/>
          </a:prstGeom>
          <a:solidFill>
            <a:srgbClr val="1A2744"/>
          </a:solidFill>
          <a:ln w="12700">
            <a:solidFill>
              <a:srgbClr val="1A2744"/>
            </a:solidFill>
            <a:prstDash val="solid"/>
          </a:ln>
        </p:spPr>
      </p:sp>
      <p:sp>
        <p:nvSpPr>
          <p:cNvPr id="21" name="Text 18"/>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2026.06.01–06.07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未来催化剂 &amp; 结论</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822960"/>
                <a:gridCol w="2834640"/>
                <a:gridCol w="1005840"/>
                <a:gridCol w="3566160"/>
              </a:tblGrid>
              <a:tr h="292608">
                <a:tc>
                  <a:txBody>
                    <a:bodyPr/>
                    <a:lstStyle/>
                    <a:p>
                      <a:pPr algn="ctr" indent="0" marL="0">
                        <a:buNone/>
                      </a:pPr>
                      <a:r>
                        <a:rPr lang="en-US" sz="950" b="1" dirty="0">
                          <a:solidFill>
                            <a:srgbClr val="FFFFFF"/>
                          </a:solidFill>
                        </a:rPr>
                        <a:t>日期</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950" b="1" dirty="0">
                          <a:solidFill>
                            <a:srgbClr val="FFFFFF"/>
                          </a:solidFill>
                        </a:rPr>
                        <a:t>事件</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950" b="1" dirty="0">
                          <a:solidFill>
                            <a:srgbClr val="FFFFFF"/>
                          </a:solidFill>
                        </a:rPr>
                        <a:t>影响资产</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950" b="1" dirty="0">
                          <a:solidFill>
                            <a:srgbClr val="FFFFFF"/>
                          </a:solidFill>
                        </a:rPr>
                        <a:t>预期影响</a:t>
                      </a:r>
                      <a:endParaRPr lang="en-US" sz="9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algn="ctr" indent="0" marL="0">
                        <a:buNone/>
                      </a:pPr>
                      <a:r>
                        <a:rPr lang="en-US" sz="920" dirty="0">
                          <a:solidFill>
                            <a:srgbClr val="2D3748"/>
                          </a:solidFill>
                        </a:rPr>
                        <a:t>6/8</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20" dirty="0">
                          <a:solidFill>
                            <a:srgbClr val="2D3748"/>
                          </a:solidFill>
                        </a:rPr>
                        <a:t>Boson 主网上线 + Coinbase 指数永续</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20" b="1" dirty="0">
                          <a:solidFill>
                            <a:srgbClr val="1A2744"/>
                          </a:solidFill>
                        </a:rPr>
                        <a:t>BOSON / 广义市场</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关注新叙事与机构衍生品增量</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20" dirty="0">
                          <a:solidFill>
                            <a:srgbClr val="2D3748"/>
                          </a:solidFill>
                        </a:rPr>
                        <a:t>6/9</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920" b="1" dirty="0">
                          <a:solidFill>
                            <a:srgbClr val="2D3748"/>
                          </a:solidFill>
                        </a:rPr>
                        <a:t>GENIUS Act 征求意见截止</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algn="ctr" indent="0" marL="0">
                        <a:buNone/>
                      </a:pPr>
                      <a:r>
                        <a:rPr lang="en-US" sz="920" b="1" dirty="0">
                          <a:solidFill>
                            <a:srgbClr val="1A2744"/>
                          </a:solidFill>
                        </a:rPr>
                        <a:t>稳定币</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850" dirty="0">
                          <a:solidFill>
                            <a:srgbClr val="8C95A6"/>
                          </a:solidFill>
                        </a:rPr>
                        <a:t>决定 7 月执行细则讨论方向</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r>
              <a:tr h="274320">
                <a:tc>
                  <a:txBody>
                    <a:bodyPr/>
                    <a:lstStyle/>
                    <a:p>
                      <a:pPr algn="ctr" indent="0" marL="0">
                        <a:buNone/>
                      </a:pPr>
                      <a:r>
                        <a:rPr lang="en-US" sz="920" dirty="0">
                          <a:solidFill>
                            <a:srgbClr val="2D3748"/>
                          </a:solidFill>
                        </a:rPr>
                        <a:t>6/10</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20" dirty="0">
                          <a:solidFill>
                            <a:srgbClr val="2D3748"/>
                          </a:solidFill>
                        </a:rPr>
                        <a:t>$RAIN / $HOME 解锁超 $700M</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20" b="1" dirty="0">
                          <a:solidFill>
                            <a:srgbClr val="1A2744"/>
                          </a:solidFill>
                        </a:rPr>
                        <a:t>RAIN / HOME</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短线供给压力显著</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20" dirty="0">
                          <a:solidFill>
                            <a:srgbClr val="2D3748"/>
                          </a:solidFill>
                        </a:rPr>
                        <a:t>6/12</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20" dirty="0">
                          <a:solidFill>
                            <a:srgbClr val="2D3748"/>
                          </a:solidFill>
                        </a:rPr>
                        <a:t>Aptos 月度投资者解锁</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20" b="1" dirty="0">
                          <a:solidFill>
                            <a:srgbClr val="1A2744"/>
                          </a:solidFill>
                        </a:rPr>
                        <a:t>APT</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估值承压，观察供给吸收</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20" dirty="0">
                          <a:solidFill>
                            <a:srgbClr val="2D3748"/>
                          </a:solidFill>
                        </a:rPr>
                        <a:t>6/22</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20" dirty="0">
                          <a:solidFill>
                            <a:srgbClr val="2D3748"/>
                          </a:solidFill>
                        </a:rPr>
                        <a:t>Starknet v0.14.3 升级</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920" b="1" dirty="0">
                          <a:solidFill>
                            <a:srgbClr val="1A2744"/>
                          </a:solidFill>
                        </a:rPr>
                        <a:t>STRK</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850" dirty="0">
                          <a:solidFill>
                            <a:srgbClr val="8C95A6"/>
                          </a:solidFill>
                        </a:rPr>
                        <a:t>窗口略超 2 周，但为重要 L2 催化</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algn="ctr" indent="0" marL="0">
                        <a:buNone/>
                      </a:pPr>
                      <a:r>
                        <a:rPr lang="en-US" sz="920" dirty="0">
                          <a:solidFill>
                            <a:srgbClr val="2D3748"/>
                          </a:solidFill>
                        </a:rPr>
                        <a:t>6月内</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920" b="1" dirty="0">
                          <a:solidFill>
                            <a:srgbClr val="2D3748"/>
                          </a:solidFill>
                        </a:rPr>
                        <a:t>dYdX 最终 emissions 周期结束</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algn="ctr" indent="0" marL="0">
                        <a:buNone/>
                      </a:pPr>
                      <a:r>
                        <a:rPr lang="en-US" sz="920" b="1" dirty="0">
                          <a:solidFill>
                            <a:srgbClr val="1A2744"/>
                          </a:solidFill>
                        </a:rPr>
                        <a:t>DYDX</a:t>
                      </a:r>
                      <a:endParaRPr lang="en-US" sz="92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c>
                  <a:txBody>
                    <a:bodyPr/>
                    <a:lstStyle/>
                    <a:p>
                      <a:pPr indent="0" marL="0">
                        <a:buNone/>
                      </a:pPr>
                      <a:r>
                        <a:rPr lang="en-US" sz="850" dirty="0">
                          <a:solidFill>
                            <a:srgbClr val="8C95A6"/>
                          </a:solidFill>
                        </a:rPr>
                        <a:t>长期通胀压力接近出清</a:t>
                      </a:r>
                      <a:endParaRPr lang="en-US" sz="85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7E8"/>
                    </a:solidFill>
                  </a:tcPr>
                </a:tc>
              </a:tr>
            </a:tbl>
          </a:graphicData>
        </a:graphic>
      </p:graphicFrame>
      <p:sp>
        <p:nvSpPr>
          <p:cNvPr id="5" name="Shape 2"/>
          <p:cNvSpPr/>
          <p:nvPr/>
        </p:nvSpPr>
        <p:spPr>
          <a:xfrm>
            <a:off x="457200" y="3246120"/>
            <a:ext cx="8229600" cy="123444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2000"/>
              </a:srgbClr>
            </a:outerShdw>
          </a:effectLst>
        </p:spPr>
      </p:sp>
      <p:sp>
        <p:nvSpPr>
          <p:cNvPr id="6" name="Shape 3"/>
          <p:cNvSpPr/>
          <p:nvPr/>
        </p:nvSpPr>
        <p:spPr>
          <a:xfrm>
            <a:off x="457200" y="3246120"/>
            <a:ext cx="54864" cy="1234440"/>
          </a:xfrm>
          <a:prstGeom prst="rect">
            <a:avLst/>
          </a:prstGeom>
          <a:solidFill>
            <a:srgbClr val="C9A96E"/>
          </a:solidFill>
          <a:ln w="12700">
            <a:solidFill>
              <a:srgbClr val="C9A96E"/>
            </a:solidFill>
            <a:prstDash val="solid"/>
          </a:ln>
        </p:spPr>
      </p:sp>
      <p:sp>
        <p:nvSpPr>
          <p:cNvPr id="7" name="Text 4"/>
          <p:cNvSpPr/>
          <p:nvPr/>
        </p:nvSpPr>
        <p:spPr>
          <a:xfrm>
            <a:off x="731520" y="3364992"/>
            <a:ext cx="7498080" cy="228600"/>
          </a:xfrm>
          <a:prstGeom prst="rect">
            <a:avLst/>
          </a:prstGeom>
          <a:noFill/>
          <a:ln/>
        </p:spPr>
        <p:txBody>
          <a:bodyPr wrap="square" lIns="0" tIns="0" rIns="0" bIns="0" rtlCol="0" anchor="ctr"/>
          <a:lstStyle/>
          <a:p>
            <a:pPr indent="0" marL="0">
              <a:buNone/>
            </a:pPr>
            <a:r>
              <a:rPr lang="en-US" sz="1300" b="1" dirty="0">
                <a:solidFill>
                  <a:srgbClr val="1A2744"/>
                </a:solidFill>
              </a:rPr>
              <a:t>本周总结</a:t>
            </a:r>
            <a:endParaRPr lang="en-US" sz="1300" dirty="0"/>
          </a:p>
        </p:txBody>
      </p:sp>
      <p:sp>
        <p:nvSpPr>
          <p:cNvPr id="8" name="Text 5"/>
          <p:cNvSpPr/>
          <p:nvPr/>
        </p:nvSpPr>
        <p:spPr>
          <a:xfrm>
            <a:off x="731520" y="3657600"/>
            <a:ext cx="7589520" cy="640080"/>
          </a:xfrm>
          <a:prstGeom prst="rect">
            <a:avLst/>
          </a:prstGeom>
          <a:noFill/>
          <a:ln/>
        </p:spPr>
        <p:txBody>
          <a:bodyPr wrap="square" lIns="0" tIns="0" rIns="0" bIns="0" rtlCol="0" anchor="ctr"/>
          <a:lstStyle/>
          <a:p>
            <a:pPr indent="0" marL="0">
              <a:buNone/>
            </a:pPr>
            <a:r>
              <a:rPr lang="en-US" sz="980" dirty="0">
                <a:solidFill>
                  <a:srgbClr val="2D3748"/>
                </a:solidFill>
              </a:rPr>
              <a:t>本周的核心并不是单一利空，而是“资金撤离 + 杠杆踩踏 + 政策重构尚未兑现”为价格造成的三重压制。结构上，稳定币、AI Agent rails 与链上衍生品基础设施仍在获得最强资本与产品验证；价格层面则要先观察 ETF 流出是否止血、以及美国监管友好信号能否真正改善风险偏好。</a:t>
            </a:r>
            <a:endParaRPr lang="en-US" sz="980" dirty="0"/>
          </a:p>
        </p:txBody>
      </p:sp>
      <p:sp>
        <p:nvSpPr>
          <p:cNvPr id="9" name="Shape 6"/>
          <p:cNvSpPr/>
          <p:nvPr/>
        </p:nvSpPr>
        <p:spPr>
          <a:xfrm>
            <a:off x="0" y="4800600"/>
            <a:ext cx="9144000" cy="342900"/>
          </a:xfrm>
          <a:prstGeom prst="rect">
            <a:avLst/>
          </a:prstGeom>
          <a:solidFill>
            <a:srgbClr val="1A2744"/>
          </a:solidFill>
          <a:ln w="12700">
            <a:solidFill>
              <a:srgbClr val="1A2744"/>
            </a:solidFill>
            <a:prstDash val="solid"/>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加密市场周报 | 2026.06.01–06.07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42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加密市场周报</dc:title>
  <dc:subject>Crypto Weekly Digest</dc:subject>
  <dc:creator>42</dc:creator>
  <cp:lastModifiedBy>42</cp:lastModifiedBy>
  <cp:revision>1</cp:revision>
  <dcterms:created xsi:type="dcterms:W3CDTF">2026-06-07T17:19:22Z</dcterms:created>
  <dcterms:modified xsi:type="dcterms:W3CDTF">2026-06-07T17:19:22Z</dcterms:modified>
</cp:coreProperties>
</file>